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28d8848b5034547" /><Relationship Type="http://schemas.openxmlformats.org/officeDocument/2006/relationships/extended-properties" Target="/docProps/app.xml" Id="R331944eaf488465a" /><Relationship Type="http://schemas.openxmlformats.org/officeDocument/2006/relationships/officeDocument" Target="/ppt/presentation.xml" Id="Rda02ba77b80c4e86" /></Relationships>
</file>

<file path=ppt/presentation.xml><?xml version="1.0" encoding="utf-8"?>
<p:presentation xmlns:p="http://schemas.openxmlformats.org/presentationml/2006/main">
  <p:sldMasterIdLst>
    <p:sldMasterId xmlns:r="http://schemas.openxmlformats.org/officeDocument/2006/relationships" id="2147483648" r:id="R0f44ca71a65541f0"/>
  </p:sldMasterIdLst>
  <p:notesMasterIdLst>
    <p:notesMasterId xmlns:r="http://schemas.openxmlformats.org/officeDocument/2006/relationships" r:id="R558d3d867fa34493"/>
  </p:notesMasterIdLst>
  <p:sldIdLst>
    <p:sldId xmlns:r="http://schemas.openxmlformats.org/officeDocument/2006/relationships" id="256" r:id="Ra8027d519f0043bd"/>
    <p:sldId xmlns:r="http://schemas.openxmlformats.org/officeDocument/2006/relationships" id="257" r:id="R2409dcd9a29b465d"/>
    <p:sldId xmlns:r="http://schemas.openxmlformats.org/officeDocument/2006/relationships" id="258" r:id="R9f931e645b1a4d38"/>
    <p:sldId xmlns:r="http://schemas.openxmlformats.org/officeDocument/2006/relationships" id="259" r:id="R323074d5f10c4513"/>
    <p:sldId xmlns:r="http://schemas.openxmlformats.org/officeDocument/2006/relationships" id="260" r:id="R5e812d4ce30c40e9"/>
    <p:sldId xmlns:r="http://schemas.openxmlformats.org/officeDocument/2006/relationships" id="261" r:id="R884acc8b172147ca"/>
    <p:sldId xmlns:r="http://schemas.openxmlformats.org/officeDocument/2006/relationships" id="262" r:id="R48cb3d47756d4347"/>
    <p:sldId xmlns:r="http://schemas.openxmlformats.org/officeDocument/2006/relationships" id="263" r:id="R5f86d0dc97bc4f69"/>
    <p:sldId xmlns:r="http://schemas.openxmlformats.org/officeDocument/2006/relationships" id="264" r:id="R75bc4b4f2ae94465"/>
    <p:sldId xmlns:r="http://schemas.openxmlformats.org/officeDocument/2006/relationships" id="265" r:id="R94b32729f57a4aaa"/>
    <p:sldId xmlns:r="http://schemas.openxmlformats.org/officeDocument/2006/relationships" id="266" r:id="R9907305fb8d24b4a"/>
    <p:sldId xmlns:r="http://schemas.openxmlformats.org/officeDocument/2006/relationships" id="267" r:id="R3f03c6a6555e4fbd"/>
    <p:sldId xmlns:r="http://schemas.openxmlformats.org/officeDocument/2006/relationships" id="268" r:id="Rab0bd6ec15c44711"/>
    <p:sldId xmlns:r="http://schemas.openxmlformats.org/officeDocument/2006/relationships" id="269" r:id="R1423312f8b0e4af1"/>
    <p:sldId xmlns:r="http://schemas.openxmlformats.org/officeDocument/2006/relationships" id="270" r:id="Rb789d269309149eb"/>
    <p:sldId xmlns:r="http://schemas.openxmlformats.org/officeDocument/2006/relationships" id="271" r:id="R69d475d266ec4403"/>
    <p:sldId xmlns:r="http://schemas.openxmlformats.org/officeDocument/2006/relationships" id="272" r:id="R0dc269a244704791"/>
    <p:sldId xmlns:r="http://schemas.openxmlformats.org/officeDocument/2006/relationships" id="273" r:id="Red18c34794ba412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916c260f6ba4990" /><Relationship Type="http://schemas.openxmlformats.org/officeDocument/2006/relationships/slideMaster" Target="/ppt/slideMasters/slideMaster1.xml" Id="R0f44ca71a65541f0" /><Relationship Type="http://schemas.openxmlformats.org/officeDocument/2006/relationships/notesMaster" Target="/ppt/notesMasters/notesMaster1.xml" Id="R558d3d867fa34493" /><Relationship Type="http://schemas.openxmlformats.org/officeDocument/2006/relationships/presProps" Target="/ppt/presProps.xml" Id="R2f0785f5323240ab" /><Relationship Type="http://schemas.openxmlformats.org/officeDocument/2006/relationships/tableStyles" Target="/ppt/tableStyles.xml" Id="R04f675c035cc4587" /><Relationship Type="http://schemas.openxmlformats.org/officeDocument/2006/relationships/slide" Target="/ppt/slides/slide1.xml" Id="Ra8027d519f0043bd" /><Relationship Type="http://schemas.openxmlformats.org/officeDocument/2006/relationships/slide" Target="/ppt/slides/slide2.xml" Id="R2409dcd9a29b465d" /><Relationship Type="http://schemas.openxmlformats.org/officeDocument/2006/relationships/slide" Target="/ppt/slides/slide3.xml" Id="R9f931e645b1a4d38" /><Relationship Type="http://schemas.openxmlformats.org/officeDocument/2006/relationships/slide" Target="/ppt/slides/slide4.xml" Id="R323074d5f10c4513" /><Relationship Type="http://schemas.openxmlformats.org/officeDocument/2006/relationships/slide" Target="/ppt/slides/slide5.xml" Id="R5e812d4ce30c40e9" /><Relationship Type="http://schemas.openxmlformats.org/officeDocument/2006/relationships/slide" Target="/ppt/slides/slide6.xml" Id="R884acc8b172147ca" /><Relationship Type="http://schemas.openxmlformats.org/officeDocument/2006/relationships/slide" Target="/ppt/slides/slide7.xml" Id="R48cb3d47756d4347" /><Relationship Type="http://schemas.openxmlformats.org/officeDocument/2006/relationships/slide" Target="/ppt/slides/slide8.xml" Id="R5f86d0dc97bc4f69" /><Relationship Type="http://schemas.openxmlformats.org/officeDocument/2006/relationships/slide" Target="/ppt/slides/slide9.xml" Id="R75bc4b4f2ae94465" /><Relationship Type="http://schemas.openxmlformats.org/officeDocument/2006/relationships/slide" Target="/ppt/slides/slide10.xml" Id="R94b32729f57a4aaa" /><Relationship Type="http://schemas.openxmlformats.org/officeDocument/2006/relationships/slide" Target="/ppt/slides/slide11.xml" Id="R9907305fb8d24b4a" /><Relationship Type="http://schemas.openxmlformats.org/officeDocument/2006/relationships/slide" Target="/ppt/slides/slide12.xml" Id="R3f03c6a6555e4fbd" /><Relationship Type="http://schemas.openxmlformats.org/officeDocument/2006/relationships/slide" Target="/ppt/slides/slide13.xml" Id="Rab0bd6ec15c44711" /><Relationship Type="http://schemas.openxmlformats.org/officeDocument/2006/relationships/slide" Target="/ppt/slides/slide14.xml" Id="R1423312f8b0e4af1" /><Relationship Type="http://schemas.openxmlformats.org/officeDocument/2006/relationships/slide" Target="/ppt/slides/slide15.xml" Id="Rb789d269309149eb" /><Relationship Type="http://schemas.openxmlformats.org/officeDocument/2006/relationships/slide" Target="/ppt/slides/slide16.xml" Id="R69d475d266ec4403" /><Relationship Type="http://schemas.openxmlformats.org/officeDocument/2006/relationships/slide" Target="/ppt/slides/slide17.xml" Id="R0dc269a244704791" /><Relationship Type="http://schemas.openxmlformats.org/officeDocument/2006/relationships/slide" Target="/ppt/slides/slide18.xml" Id="Red18c34794ba412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8e08aa6f44e42b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8ef7371bb5d47d2" /><Relationship Type="http://schemas.openxmlformats.org/officeDocument/2006/relationships/notesMaster" Target="/ppt/notesMasters/notesMaster1.xml" Id="R4da10b2d591d4d5b" /></Relationships>
</file>

<file path=ppt/notesSlides/_rels/notesSlide2.xml.rels>&#65279;<?xml version="1.0" encoding="utf-8"?><Relationships xmlns="http://schemas.openxmlformats.org/package/2006/relationships"><Relationship Type="http://schemas.openxmlformats.org/officeDocument/2006/relationships/slide" Target="/ppt/slides/slide2.xml" Id="R8f002141578f4808" /><Relationship Type="http://schemas.openxmlformats.org/officeDocument/2006/relationships/notesMaster" Target="/ppt/notesMasters/notesMaster1.xml" Id="R74861145b43c45be" /></Relationships>
</file>

<file path=ppt/notesSlides/_rels/notesSlide3.xml.rels>&#65279;<?xml version="1.0" encoding="utf-8"?><Relationships xmlns="http://schemas.openxmlformats.org/package/2006/relationships"><Relationship Type="http://schemas.openxmlformats.org/officeDocument/2006/relationships/slide" Target="/ppt/slides/slide3.xml" Id="R2acd66950b134b8f" /><Relationship Type="http://schemas.openxmlformats.org/officeDocument/2006/relationships/notesMaster" Target="/ppt/notesMasters/notesMaster1.xml" Id="R738b6b3013a24e8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82e8fcbb31146bb" /><Relationship Type="http://schemas.openxmlformats.org/officeDocument/2006/relationships/notesMaster" Target="/ppt/notesMasters/notesMaster1.xml" Id="Rac13c23bf0ff4acb" /></Relationships>
</file>

<file path=ppt/notesSlides/_rels/notesSlide5.xml.rels>&#65279;<?xml version="1.0" encoding="utf-8"?><Relationships xmlns="http://schemas.openxmlformats.org/package/2006/relationships"><Relationship Type="http://schemas.openxmlformats.org/officeDocument/2006/relationships/slide" Target="/ppt/slides/slide5.xml" Id="R3e0c60b4789c4383" /><Relationship Type="http://schemas.openxmlformats.org/officeDocument/2006/relationships/notesMaster" Target="/ppt/notesMasters/notesMaster1.xml" Id="R590ee18b58ce4807" /></Relationships>
</file>

<file path=ppt/notesSlides/_rels/notesSlide6.xml.rels>&#65279;<?xml version="1.0" encoding="utf-8"?><Relationships xmlns="http://schemas.openxmlformats.org/package/2006/relationships"><Relationship Type="http://schemas.openxmlformats.org/officeDocument/2006/relationships/slide" Target="/ppt/slides/slide6.xml" Id="R394feabd3f284107" /><Relationship Type="http://schemas.openxmlformats.org/officeDocument/2006/relationships/notesMaster" Target="/ppt/notesMasters/notesMaster1.xml" Id="Rea40cf023c1b4ae9" /></Relationships>
</file>

<file path=ppt/notesSlides/_rels/notesSlide7.xml.rels>&#65279;<?xml version="1.0" encoding="utf-8"?><Relationships xmlns="http://schemas.openxmlformats.org/package/2006/relationships"><Relationship Type="http://schemas.openxmlformats.org/officeDocument/2006/relationships/slide" Target="/ppt/slides/slide7.xml" Id="R18396d6e663b4e74" /><Relationship Type="http://schemas.openxmlformats.org/officeDocument/2006/relationships/notesMaster" Target="/ppt/notesMasters/notesMaster1.xml" Id="R5fa7fbfec35d478c" /></Relationships>
</file>

<file path=ppt/notesSlides/_rels/notesSlide8.xml.rels>&#65279;<?xml version="1.0" encoding="utf-8"?><Relationships xmlns="http://schemas.openxmlformats.org/package/2006/relationships"><Relationship Type="http://schemas.openxmlformats.org/officeDocument/2006/relationships/slide" Target="/ppt/slides/slide8.xml" Id="R0748c90e3d5f4cca" /><Relationship Type="http://schemas.openxmlformats.org/officeDocument/2006/relationships/notesMaster" Target="/ppt/notesMasters/notesMaster1.xml" Id="R3738d5e1c02c43c6" /></Relationships>
</file>

<file path=ppt/notesSlides/_rels/notesSlide9.xml.rels>&#65279;<?xml version="1.0" encoding="utf-8"?><Relationships xmlns="http://schemas.openxmlformats.org/package/2006/relationships"><Relationship Type="http://schemas.openxmlformats.org/officeDocument/2006/relationships/slide" Target="/ppt/slides/slide9.xml" Id="R6aefd50974da404d" /><Relationship Type="http://schemas.openxmlformats.org/officeDocument/2006/relationships/notesMaster" Target="/ppt/notesMasters/notesMaster1.xml" Id="R7043034e538f4dc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955ad219a8a4205" /><Relationship Type="http://schemas.openxmlformats.org/officeDocument/2006/relationships/notesMaster" Target="/ppt/notesMasters/notesMaster1.xml" Id="R1c89b8e16a794b2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c8c7e8659bf4f91" /><Relationship Type="http://schemas.openxmlformats.org/officeDocument/2006/relationships/notesMaster" Target="/ppt/notesMasters/notesMaster1.xml" Id="R49a63b855f7949d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9b0532d5ca34317" /><Relationship Type="http://schemas.openxmlformats.org/officeDocument/2006/relationships/notesMaster" Target="/ppt/notesMasters/notesMaster1.xml" Id="R14fa2df3eab749a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20dcf3e03e04718" /><Relationship Type="http://schemas.openxmlformats.org/officeDocument/2006/relationships/notesMaster" Target="/ppt/notesMasters/notesMaster1.xml" Id="Ra558324faad14fc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bcbe0c45b9a40cf" /><Relationship Type="http://schemas.openxmlformats.org/officeDocument/2006/relationships/notesMaster" Target="/ppt/notesMasters/notesMaster1.xml" Id="R081dfed7c834431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6eeab8da29d44af" /><Relationship Type="http://schemas.openxmlformats.org/officeDocument/2006/relationships/notesMaster" Target="/ppt/notesMasters/notesMaster1.xml" Id="Rb31c6c272c1b475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99341475d864c87" /><Relationship Type="http://schemas.openxmlformats.org/officeDocument/2006/relationships/notesMaster" Target="/ppt/notesMasters/notesMaster1.xml" Id="R396f2de6500247d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b0d11b3717d4d3f" /><Relationship Type="http://schemas.openxmlformats.org/officeDocument/2006/relationships/notesMaster" Target="/ppt/notesMasters/notesMaster1.xml" Id="Rab9bcf897a6146e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e4685ffc02f47d1" /><Relationship Type="http://schemas.openxmlformats.org/officeDocument/2006/relationships/notesMaster" Target="/ppt/notesMasters/notesMaster1.xml" Id="R57a8951bd17c4bc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from the supplied Case Study 2 brief and Cadence support files. Names, identifiers and contact details in the sample artifacts are described as synthetic teaching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brief sets a target of retaining no less than 80% of original structure and detection approaching 100% coverage. This deck separates those targets from verified prototype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files. PDF: 35 pages; text extraction returns no usable text layer. Visual rendering of the cover shows sample PII fields. PPTX: 9 slides and 3 native tables; its cover states 16 named role holders and synthetic sample personal data. DOCX: 402 paragraphs and 16 tables (221 rows). No data from the sources is reproduced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process in order. Retain the original only in the controlled evidence repository; do not forward it to the model path. The prototype works on in-memory uploads and has no model connector.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Extraction design is derived from the supplied sample structure and required context preservation. DOCX extraction includes body content and unique header/footer parts, since document-control fields may contain identities. OCR engine must report confidence by page; low confidence must route to quarantine. The prototype's OCR is optional and requires local Tesseract and Poppler.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Functional design diagram. The main path is left to right. The lower branch separates audit evidence from quarantine, and makes review a release gate. All shapes are native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System architecture is implemented in the companion Python prototype. The diagram wraps at the right edge: extraction feeds detectors, then span resolution, redaction/audit, and the release gate from right to left. Tesseract and Poppler are optional local OCR dependencies; without both, scanned pages are quarantined. Name-seed matching is sample-specific, and the entity engine is not general-purpose NER. The prototype exports redacted text locally and has no model connector.</a:t>
            </a:r>
          </a:p>
          <a:p xmlns:a="http://schemas.openxmlformats.org/drawingml/2006/main">
            <a:r>
              <a:t/>
            </a:r>
          </a:p>
          <a:p xmlns:a="http://schemas.openxmlformats.org/drawingml/2006/main">
            <a:r>
              <a:t>Security boundary for discussion: uploaded document content is untrusted data. A document can include prompt injection or claim its author is an employee; neither can authorize actions. This prototype has no LLM, tools, employee login, or persistent audit trail. The local reviewer checkbox is not identity verification. An organizational release needs the company identity provider, MFA, server-side RBAC, authenticated audit records, and a separately reviewed deployment. If an LLM is later added, keep permissions outside the model and never let document text grant tool access.</a:t>
            </a:r>
          </a:p>
          <a:p xmlns:a="http://schemas.openxmlformats.org/drawingml/2006/main">
            <a:r>
              <a:t/>
            </a:r>
          </a:p>
          <a:p xmlns:a="http://schemas.openxmlformats.org/drawingml/2006/main">
            <a:r>
              <a:t>Guidance: OWASP File Upload Cheat Sheet (https://cheatsheetseries.owasp.org/cheatsheets/File_Upload_Cheat_Sheet.html); OWASP LLM Prompt Injection Prevention Cheat Sheet (https://cheatsheetseries.owasp.org/cheatsheets/LLM_Prompt_Injection_Prevention_Cheat_Sheet.html); NIST SP 800-63B (https://pages.nist.gov/800-63-4/sp800-63b.html).</a:t>
            </a:r>
          </a:p>
          <a:p xmlns:a="http://schemas.openxmlformats.org/drawingml/2006/main">
            <a:r>
              <a:t/>
            </a:r>
          </a:p>
          <a:p xmlns:a="http://schemas.openxmlformats.org/drawingml/2006/main">
            <a:r>
              <a:t>Implementation clarification: the local server uses a same-origin request token and upload size/count limits. OCR creates temporary page files which are removed when each page finishes. This does not provide user authentication, MFA, RBAC, malware scanning, or an immutable audit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Detection logic is deterministic and explainable. The provided sample identity set is synthetic, but it is not a general solution for names. Detection coverage must be assessed by entity class and document type on a labeled set.</a:t>
            </a:r>
          </a:p>
          <a:p xmlns:a="http://schemas.openxmlformats.org/drawingml/2006/main">
            <a:r>
              <a:t/>
            </a:r>
          </a:p>
          <a:p xmlns:a="http://schemas.openxmlformats.org/drawingml/2006/main">
            <a:r>
              <a:t>Coverage limitation: sample-name seeds, explicit name labels and a cautious résumé header heuristic are used; this is not general multilingual NER. Phone patterns target common Indian/North American formats and labeled values, not every country format. In the PPTX sample, header context is carried into table rows so mobile values remain detectable. Independently labeled precision/recall is still required before making coverage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Organization pack aggregate counts were calculated over extracted slide and table text: 34 email occurrences, 34 phone occurrences, and 16 named role holders. Repeated occurrences count more than once. TPRM training has four distinct people in document-control/footer metadata. The PDF's cover was visually inspected, but the remaining pages require OCR, so do not present a whole-document count.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redaction pattern based on PII classes present in the supplied sample. No raw names, IDs, emails, phone numbers or addresses are displayed. Source labels remain attached to the redacted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Acceptance metrics must be measured on an approved, representative, labeled sample. Report recall and false-negative counts by PII type and file format, not only a pooled score. OCR must have a page-level confidence threshold and an explicit quarantine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instructions are in the companion README. The uploaded risk policy will be quarantined unless local OCR dependencies are installed and all pages produce reviewable extraction.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maps each expected outcome to an acceptance check and states the evidence currently available. Structure retention is defined as labeled structural units emitted with correct text and source locators divided by all labeled source units. PII recall is true positive labeled spans divided by all gold spans, reported per class and format. Near-100% is the brief's target; it is not asserted as achieved. The local-only prototype cannot test an actual model endpoint. The scanned PDF requires OCR before a complete live walkthrough.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brief gives approximately three weeks from release but does not provide an official release date or named team members. This schedule is therefore relative (T+3 weeks), with suggested workstream roles rather than assigned people. The final package includes a presentation, runnable demo and source, measured evaluation report, evidence inventory, and setup/run guide. Do not submit target metrics as results unless measured and reviewed.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release rule: no unredacted or incompletely extracted evidence reaches an AI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Interpretation: The supplied expected outcomes ask for a solution blueprint, system architecture, extraction logic, reliable outcomes and a live walkthrough. That is a data-security / privacy / AI-risk case, not a penetration-test brief. Optiv public service references (accessed 2026-10-07): Data Security https://www.optiv.com/index.php/services/data-security ; AI Security https://www.optiv.com/solutions/artificial-intelligence ; Cyber Risk Management https://www.optiv.com/services/risk-security ; Careers and values https://www.optiv.com/company/careers . These public pages establish alignment with service areas, not the private internship scoring rubric. The prototype itself has no LLM, employee login, malware scanner, CDR, or polyglot detector.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Adversarial Challenge/Evaluation_Report.json, generated 2026-10-07 from 10 synthetic fixtures with a gold manifest. File types: CSV 2, DOCX 2, PDF 2, PPTX 1, TXT 2, XLSX 1. Four expected quarantines (image-only DOCX, partial OCR PDF, spoofed PDF, malformed CSV) were all held. Precision and recall are micro totals by file type and normalized-value/span scoring by PII type. Email and phone false negatives are from PII placed only in an embedded DOCX image, which the parser deliberately does not OCR and quarantines. Person-name precision includes one PDF heuristic false positive. 12/12 locator retention measures only labeled row/page/sheet markers; it does not establish the assignment’s 80% context/structure target. No positive payment-card or US-SSN example was present, so those classes were not measured. Results are limited to these synthetic fixtures and must not be presented as production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Dashboard behavior in the local prototype: session aggregates show file count, quarantine count, awaiting-review count and total tagged spans. The file queue uses sequential evidence labels and file extensions rather than original filenames. Review actions jump to the corresponding file result. A per-file reviewer checkbox unlocks a locally generated redacted text download. The dashboard is held in browser memory only; it does not create a durable audit record, identity attribution or server-side approval. Pattern counts do not establish complete PII recall. This is a proposed/implemented local UX for the educational prototype, not a production security dashboard.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eb1c5a4b7a9474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5bb4e8dfa984b08" /><Relationship Type="http://schemas.openxmlformats.org/officeDocument/2006/relationships/slideLayout" Target="/ppt/slideLayouts/slideLayout1.xml" Id="R415cc1479e72479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15cc1479e72479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069f6716aff4b68" /><Relationship Type="http://schemas.openxmlformats.org/officeDocument/2006/relationships/notesSlide" Target="/ppt/notesSlides/notesSlide1.xml" Id="Rcc522a7879e54c4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5db222ac5c74826" /><Relationship Type="http://schemas.openxmlformats.org/officeDocument/2006/relationships/notesSlide" Target="/ppt/notesSlides/notesSlide2.xml" Id="R273bce01c0454b7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ab67217fb98423c" /><Relationship Type="http://schemas.openxmlformats.org/officeDocument/2006/relationships/notesSlide" Target="/ppt/notesSlides/notesSlide3.xml" Id="Ra0ae9c99b13e422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a153f193f7146e3" /><Relationship Type="http://schemas.openxmlformats.org/officeDocument/2006/relationships/notesSlide" Target="/ppt/notesSlides/notesSlide4.xml" Id="R6cf903527d4a4a4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639bd87c66f40ed" /><Relationship Type="http://schemas.openxmlformats.org/officeDocument/2006/relationships/notesSlide" Target="/ppt/notesSlides/notesSlide5.xml" Id="R7d84e1c5411f4c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c5558c9222b4400" /><Relationship Type="http://schemas.openxmlformats.org/officeDocument/2006/relationships/notesSlide" Target="/ppt/notesSlides/notesSlide6.xml" Id="Rc2085881ce4f4c8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3abd1d0e25948ad" /><Relationship Type="http://schemas.openxmlformats.org/officeDocument/2006/relationships/notesSlide" Target="/ppt/notesSlides/notesSlide7.xml" Id="Rf063ff200094475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3bb13d5fd8e4715" /><Relationship Type="http://schemas.openxmlformats.org/officeDocument/2006/relationships/notesSlide" Target="/ppt/notesSlides/notesSlide8.xml" Id="R06acc0949a94448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d90e0df715140a3" /><Relationship Type="http://schemas.openxmlformats.org/officeDocument/2006/relationships/notesSlide" Target="/ppt/notesSlides/notesSlide9.xml" Id="Ra86bb3f693654fe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ee890cf22ae47ae" /><Relationship Type="http://schemas.openxmlformats.org/officeDocument/2006/relationships/notesSlide" Target="/ppt/notesSlides/notesSlide10.xml" Id="Rf58dbd0f79e0447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756c9da28844bf1" /><Relationship Type="http://schemas.openxmlformats.org/officeDocument/2006/relationships/notesSlide" Target="/ppt/notesSlides/notesSlide11.xml" Id="Rc3cb0a7acc2f453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ebf94c37559400f" /><Relationship Type="http://schemas.openxmlformats.org/officeDocument/2006/relationships/notesSlide" Target="/ppt/notesSlides/notesSlide12.xml" Id="R959283e90c644e1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7b4e280324a4905" /><Relationship Type="http://schemas.openxmlformats.org/officeDocument/2006/relationships/notesSlide" Target="/ppt/notesSlides/notesSlide13.xml" Id="Rb0c593c8bbed4e7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5238bda9b46469a" /><Relationship Type="http://schemas.openxmlformats.org/officeDocument/2006/relationships/notesSlide" Target="/ppt/notesSlides/notesSlide14.xml" Id="Rca95c0f7425a490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c30eeeed88040d2" /><Relationship Type="http://schemas.openxmlformats.org/officeDocument/2006/relationships/notesSlide" Target="/ppt/notesSlides/notesSlide15.xml" Id="Rcca4d64847c54d8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7fb5c31a7584f05" /><Relationship Type="http://schemas.openxmlformats.org/officeDocument/2006/relationships/notesSlide" Target="/ppt/notesSlides/notesSlide16.xml" Id="R432bd6dd42cb4e8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07843aca4bc45e1" /><Relationship Type="http://schemas.openxmlformats.org/officeDocument/2006/relationships/notesSlide" Target="/ppt/notesSlides/notesSlide17.xml" Id="R2758caadd1ab4ec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cfa5dd677cf47cd" /><Relationship Type="http://schemas.openxmlformats.org/officeDocument/2006/relationships/notesSlide" Target="/ppt/notesSlides/notesSlide18.xml" Id="R9e41f0ac286f41cf" /></Relationships>
</file>

<file path=ppt/slides/slide1.xml><?xml version="1.0" encoding="utf-8"?>
<p:sld xmlns:p="http://schemas.openxmlformats.org/presentationml/2006/main">
  <p:cSld>
    <p:bg>
      <p:bgPr>
        <a:solidFill xmlns:a="http://schemas.openxmlformats.org/drawingml/2006/main">
          <a:srgbClr val="102C4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7E2D060-439A-46DD-A156-C3D941736A0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6AA4B"/>
          </a:solidFill>
          <a:ln xmlns:a="http://schemas.openxmlformats.org/drawingml/2006/main" w="0">
            <a:solidFill>
              <a:srgbClr val="D6AA4B"/>
            </a:solidFill>
            <a:prstDash val="solid"/>
          </a:ln>
        </p:spPr>
      </p:sp>
      <p:sp>
        <p:nvSpPr>
          <p:cNvPr id="2" name="">
            <a:extLst xmlns:a="http://schemas.openxmlformats.org/drawingml/2006/main">
              <a:ext uri="{FF2B5EF4-FFF2-40B4-BE49-F238E27FC236}">
                <a16:creationId xmlns:a16="http://schemas.microsoft.com/office/drawing/2014/main" id="{B2316115-DC2E-47F7-881B-7F6EB45AFAD9}"/>
              </a:ext>
            </a:extLst>
          </p:cNvPr>
          <p:cNvSpPr>
            <a:spLocks xmlns:a="http://schemas.openxmlformats.org/drawingml/2006/main" noGrp="1"/>
          </p:cNvSpPr>
          <p:nvPr/>
        </p:nvSpPr>
        <p:spPr>
          <a:xfrm xmlns:a="http://schemas.openxmlformats.org/drawingml/2006/main">
            <a:off x="742950" y="68580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l">
              <a:buNone/>
              <a:defRPr sz="1200" b="1">
                <a:solidFill>
                  <a:srgbClr val="8FD1CC"/>
                </a:solidFill>
                <a:latin typeface="Arial"/>
                <a:ea typeface="Arial"/>
                <a:cs typeface="Arial"/>
              </a:defRPr>
            </a:pPr>
            <a:r>
              <a:rPr sz="1200" b="1">
                <a:solidFill>
                  <a:srgbClr val="8FD1CC"/>
                </a:solidFill>
                <a:latin typeface="Arial"/>
                <a:ea typeface="Arial"/>
                <a:cs typeface="Arial"/>
              </a:rPr>
              <a:t>OPTIV  /  VIT 2026</a:t>
            </a:r>
          </a:p>
        </p:txBody>
      </p:sp>
      <p:sp>
        <p:nvSpPr>
          <p:cNvPr id="3" name="">
            <a:extLst xmlns:a="http://schemas.openxmlformats.org/drawingml/2006/main">
              <a:ext uri="{FF2B5EF4-FFF2-40B4-BE49-F238E27FC236}">
                <a16:creationId xmlns:a16="http://schemas.microsoft.com/office/drawing/2014/main" id="{5F02AD85-9208-4072-945B-FB3DE69D242D}"/>
              </a:ext>
            </a:extLst>
          </p:cNvPr>
          <p:cNvSpPr>
            <a:spLocks xmlns:a="http://schemas.openxmlformats.org/drawingml/2006/main" noGrp="1"/>
          </p:cNvSpPr>
          <p:nvPr/>
        </p:nvSpPr>
        <p:spPr>
          <a:xfrm xmlns:a="http://schemas.openxmlformats.org/drawingml/2006/main">
            <a:off x="742950" y="1504950"/>
            <a:ext cx="847725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425"/>
          </a:bodyPr>
          <a:lstStyle xmlns:a="http://schemas.openxmlformats.org/drawingml/2006/main"/>
          <a:p xmlns:a="http://schemas.openxmlformats.org/drawingml/2006/main">
            <a:pPr algn="l">
              <a:buNone/>
              <a:defRPr sz="4350" b="1">
                <a:solidFill>
                  <a:srgbClr val="FFFFFF"/>
                </a:solidFill>
                <a:latin typeface="Arial"/>
                <a:ea typeface="Arial"/>
                <a:cs typeface="Arial"/>
              </a:defRPr>
            </a:pPr>
            <a:r>
              <a:rPr sz="4350" b="1">
                <a:solidFill>
                  <a:srgbClr val="FFFFFF"/>
                </a:solidFill>
                <a:latin typeface="Arial"/>
                <a:ea typeface="Arial"/>
                <a:cs typeface="Arial"/>
              </a:rPr>
              <a:t>PII detection</a:t>
            </a:r>
          </a:p>
          <a:p xmlns:a="http://schemas.openxmlformats.org/drawingml/2006/main">
            <a:pPr algn="l">
              <a:buNone/>
              <a:defRPr sz="4350" b="1">
                <a:solidFill>
                  <a:srgbClr val="FFFFFF"/>
                </a:solidFill>
                <a:latin typeface="Arial"/>
                <a:ea typeface="Arial"/>
                <a:cs typeface="Arial"/>
              </a:defRPr>
            </a:pPr>
            <a:r>
              <a:rPr sz="4350" b="1">
                <a:solidFill>
                  <a:srgbClr val="FFFFFF"/>
                </a:solidFill>
                <a:latin typeface="Arial"/>
                <a:ea typeface="Arial"/>
                <a:cs typeface="Arial"/>
              </a:rPr>
              <a:t>and redaction</a:t>
            </a:r>
          </a:p>
        </p:txBody>
      </p:sp>
      <p:sp>
        <p:nvSpPr>
          <p:cNvPr id="4" name="">
            <a:extLst xmlns:a="http://schemas.openxmlformats.org/drawingml/2006/main">
              <a:ext uri="{FF2B5EF4-FFF2-40B4-BE49-F238E27FC236}">
                <a16:creationId xmlns:a16="http://schemas.microsoft.com/office/drawing/2014/main" id="{D96F5BCD-49C4-4AD3-A87F-E33066F3F8D9}"/>
              </a:ext>
            </a:extLst>
          </p:cNvPr>
          <p:cNvSpPr>
            <a:spLocks xmlns:a="http://schemas.openxmlformats.org/drawingml/2006/main" noGrp="1"/>
          </p:cNvSpPr>
          <p:nvPr/>
        </p:nvSpPr>
        <p:spPr>
          <a:xfrm xmlns:a="http://schemas.openxmlformats.org/drawingml/2006/main">
            <a:off x="781050" y="3200400"/>
            <a:ext cx="9810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950" b="0">
                <a:solidFill>
                  <a:srgbClr val="D8E5ED"/>
                </a:solidFill>
                <a:latin typeface="Arial"/>
                <a:ea typeface="Arial"/>
                <a:cs typeface="Arial"/>
              </a:defRPr>
            </a:pPr>
            <a:r>
              <a:rPr sz="1950" b="0">
                <a:solidFill>
                  <a:srgbClr val="D8E5ED"/>
                </a:solidFill>
                <a:latin typeface="Arial"/>
                <a:ea typeface="Arial"/>
                <a:cs typeface="Arial"/>
              </a:rPr>
              <a:t>Cadence Financial Group  ·  Evidence processing before model use</a:t>
            </a:r>
          </a:p>
        </p:txBody>
      </p:sp>
      <p:sp>
        <p:nvSpPr>
          <p:cNvPr id="5" name="">
            <a:extLst xmlns:a="http://schemas.openxmlformats.org/drawingml/2006/main">
              <a:ext uri="{FF2B5EF4-FFF2-40B4-BE49-F238E27FC236}">
                <a16:creationId xmlns:a16="http://schemas.microsoft.com/office/drawing/2014/main" id="{3C4B5155-856D-4BAF-8157-0531644674B7}"/>
              </a:ext>
            </a:extLst>
          </p:cNvPr>
          <p:cNvSpPr>
            <a:spLocks xmlns:a="http://schemas.openxmlformats.org/drawingml/2006/main" noGrp="1"/>
          </p:cNvSpPr>
          <p:nvPr/>
        </p:nvSpPr>
        <p:spPr>
          <a:xfrm xmlns:a="http://schemas.openxmlformats.org/drawingml/2006/main">
            <a:off x="781050" y="3952875"/>
            <a:ext cx="5429250" cy="0"/>
          </a:xfrm>
          <a:prstGeom xmlns:a="http://schemas.openxmlformats.org/drawingml/2006/main" prst="line">
            <a:avLst/>
          </a:prstGeom>
          <a:noFill xmlns:a="http://schemas.openxmlformats.org/drawingml/2006/main"/>
          <a:ln xmlns:a="http://schemas.openxmlformats.org/drawingml/2006/main" w="28575">
            <a:solidFill>
              <a:srgbClr val="D6AA4B"/>
            </a:solidFill>
            <a:prstDash val="solid"/>
          </a:ln>
        </p:spPr>
      </p:sp>
      <p:sp>
        <p:nvSpPr>
          <p:cNvPr id="6" name="">
            <a:extLst xmlns:a="http://schemas.openxmlformats.org/drawingml/2006/main">
              <a:ext uri="{FF2B5EF4-FFF2-40B4-BE49-F238E27FC236}">
                <a16:creationId xmlns:a16="http://schemas.microsoft.com/office/drawing/2014/main" id="{8AD9EECA-D613-4A6F-A6DB-D8BBD605EC62}"/>
              </a:ext>
            </a:extLst>
          </p:cNvPr>
          <p:cNvSpPr>
            <a:spLocks xmlns:a="http://schemas.openxmlformats.org/drawingml/2006/main" noGrp="1"/>
          </p:cNvSpPr>
          <p:nvPr/>
        </p:nvSpPr>
        <p:spPr>
          <a:xfrm xmlns:a="http://schemas.openxmlformats.org/drawingml/2006/main">
            <a:off x="781050" y="4400550"/>
            <a:ext cx="762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333"/>
          </a:bodyPr>
          <a:lstStyle xmlns:a="http://schemas.openxmlformats.org/drawingml/2006/main"/>
          <a:p xmlns:a="http://schemas.openxmlformats.org/drawingml/2006/main">
            <a:pPr algn="l">
              <a:buNone/>
              <a:defRPr sz="1500" b="0">
                <a:solidFill>
                  <a:srgbClr val="FFFFFF"/>
                </a:solidFill>
                <a:latin typeface="Arial"/>
                <a:ea typeface="Arial"/>
                <a:cs typeface="Arial"/>
              </a:defRPr>
            </a:pPr>
            <a:r>
              <a:rPr sz="1500" b="0">
                <a:solidFill>
                  <a:srgbClr val="FFFFFF"/>
                </a:solidFill>
                <a:latin typeface="Arial"/>
                <a:ea typeface="Arial"/>
                <a:cs typeface="Arial"/>
              </a:rPr>
              <a:t>Case Study 2  |  Stakeholder walkthrough</a:t>
            </a:r>
          </a:p>
        </p:txBody>
      </p:sp>
      <p:sp>
        <p:nvSpPr>
          <p:cNvPr id="7" name="">
            <a:extLst xmlns:a="http://schemas.openxmlformats.org/drawingml/2006/main">
              <a:ext uri="{FF2B5EF4-FFF2-40B4-BE49-F238E27FC236}">
                <a16:creationId xmlns:a16="http://schemas.microsoft.com/office/drawing/2014/main" id="{81EDAD9A-838F-4EC9-925C-0B7702EAC9D5}"/>
              </a:ext>
            </a:extLst>
          </p:cNvPr>
          <p:cNvSpPr>
            <a:spLocks xmlns:a="http://schemas.openxmlformats.org/drawingml/2006/main" noGrp="1"/>
          </p:cNvSpPr>
          <p:nvPr/>
        </p:nvSpPr>
        <p:spPr>
          <a:xfrm xmlns:a="http://schemas.openxmlformats.org/drawingml/2006/main">
            <a:off x="781050" y="5943600"/>
            <a:ext cx="933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417"/>
          </a:bodyPr>
          <a:lstStyle xmlns:a="http://schemas.openxmlformats.org/drawingml/2006/main"/>
          <a:p xmlns:a="http://schemas.openxmlformats.org/drawingml/2006/main">
            <a:pPr algn="l">
              <a:buNone/>
              <a:defRPr sz="1200" b="0">
                <a:solidFill>
                  <a:srgbClr val="B9CAD7"/>
                </a:solidFill>
                <a:latin typeface="Arial"/>
                <a:ea typeface="Arial"/>
                <a:cs typeface="Arial"/>
              </a:defRPr>
            </a:pPr>
            <a:r>
              <a:rPr sz="1200" b="0">
                <a:solidFill>
                  <a:srgbClr val="B9CAD7"/>
                </a:solidFill>
                <a:latin typeface="Arial"/>
                <a:ea typeface="Arial"/>
                <a:cs typeface="Arial"/>
              </a:rPr>
              <a:t>18 slides  ·  Architecture, dashboard and adversarial results</a:t>
            </a:r>
          </a:p>
        </p:txBody>
      </p:sp>
      <p:sp>
        <p:nvSpPr>
          <p:cNvPr id="8" name="">
            <a:extLst xmlns:a="http://schemas.openxmlformats.org/drawingml/2006/main">
              <a:ext uri="{FF2B5EF4-FFF2-40B4-BE49-F238E27FC236}">
                <a16:creationId xmlns:a16="http://schemas.microsoft.com/office/drawing/2014/main" id="{5640958F-297C-48D6-B517-A7FECDE17B40}"/>
              </a:ext>
            </a:extLst>
          </p:cNvPr>
          <p:cNvSpPr>
            <a:spLocks xmlns:a="http://schemas.openxmlformats.org/drawingml/2006/main" noGrp="1"/>
          </p:cNvSpPr>
          <p:nvPr/>
        </p:nvSpPr>
        <p:spPr>
          <a:xfrm xmlns:a="http://schemas.openxmlformats.org/drawingml/2006/main">
            <a:off x="9315450" y="5943600"/>
            <a:ext cx="2152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619"/>
          </a:bodyPr>
          <a:lstStyle xmlns:a="http://schemas.openxmlformats.org/drawingml/2006/main"/>
          <a:p xmlns:a="http://schemas.openxmlformats.org/drawingml/2006/main">
            <a:pPr algn="r">
              <a:buNone/>
              <a:defRPr sz="1050" b="1">
                <a:solidFill>
                  <a:srgbClr val="B9CAD7"/>
                </a:solidFill>
                <a:latin typeface="Arial"/>
                <a:ea typeface="Arial"/>
                <a:cs typeface="Arial"/>
              </a:defRPr>
            </a:pPr>
            <a:r>
              <a:rPr sz="1050" b="1">
                <a:solidFill>
                  <a:srgbClr val="B9CAD7"/>
                </a:solidFill>
                <a:latin typeface="Arial"/>
                <a:ea typeface="Arial"/>
                <a:cs typeface="Arial"/>
              </a:rPr>
              <a:t>CONFIDENTIAL EXERCISE</a:t>
            </a:r>
          </a:p>
        </p:txBody>
      </p:sp>
    </p:spTree>
    <p:extLst>
      <p:ext uri="{BB962C8B-B14F-4D97-AF65-F5344CB8AC3E}">
        <p14:creationId xmlns:p14="http://schemas.microsoft.com/office/powerpoint/2010/main" val="1518549062"/>
      </p:ext>
    </p:extLst>
  </p:cSld>
</p:sld>
</file>

<file path=ppt/slides/slide2.xml><?xml version="1.0" encoding="utf-8"?>
<p:sld xmlns:p="http://schemas.openxmlformats.org/presentationml/2006/main">
  <p:cSld>
    <p:bg>
      <p:bgPr>
        <a:solidFill xmlns:a="http://schemas.openxmlformats.org/drawingml/2006/main">
          <a:srgbClr val="F3F6F8"/>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3D587939-856C-4CB1-8072-1463CDDC4E4B}"/>
              </a:ext>
            </a:extLst>
          </p:cNvPr>
          <p:cNvSpPr>
            <a:spLocks xmlns:a="http://schemas.openxmlformats.org/drawingml/2006/main" noGrp="1"/>
          </p:cNvSpPr>
          <p:nvPr/>
        </p:nvSpPr>
        <p:spPr>
          <a:xfrm xmlns:a="http://schemas.openxmlformats.org/drawingml/2006/main">
            <a:off x="685800" y="20955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762"/>
          </a:bodyPr>
          <a:lstStyle xmlns:a="http://schemas.openxmlformats.org/drawingml/2006/main"/>
          <a:p xmlns:a="http://schemas.openxmlformats.org/drawingml/2006/main">
            <a:pPr algn="l">
              <a:buNone/>
              <a:defRPr sz="1050" b="1">
                <a:solidFill>
                  <a:srgbClr val="187A83"/>
                </a:solidFill>
                <a:latin typeface="Arial"/>
                <a:ea typeface="Arial"/>
                <a:cs typeface="Arial"/>
              </a:defRPr>
            </a:pPr>
            <a:r>
              <a:rPr sz="1050" b="1">
                <a:solidFill>
                  <a:srgbClr val="187A83"/>
                </a:solidFill>
                <a:latin typeface="Arial"/>
                <a:ea typeface="Arial"/>
                <a:cs typeface="Arial"/>
              </a:rPr>
              <a:t>CASE STUDY 2  /  CADENCE</a:t>
            </a:r>
          </a:p>
        </p:txBody>
      </p:sp>
      <p:sp>
        <p:nvSpPr>
          <p:cNvPr id="2" name="">
            <a:extLst xmlns:a="http://schemas.openxmlformats.org/drawingml/2006/main">
              <a:ext uri="{FF2B5EF4-FFF2-40B4-BE49-F238E27FC236}">
                <a16:creationId xmlns:a16="http://schemas.microsoft.com/office/drawing/2014/main" id="{C736A614-3C3D-4B3C-9D81-843F77ECC4AE}"/>
              </a:ext>
            </a:extLst>
          </p:cNvPr>
          <p:cNvSpPr>
            <a:spLocks xmlns:a="http://schemas.openxmlformats.org/drawingml/2006/main" noGrp="1"/>
          </p:cNvSpPr>
          <p:nvPr/>
        </p:nvSpPr>
        <p:spPr>
          <a:xfrm xmlns:a="http://schemas.openxmlformats.org/drawingml/2006/main">
            <a:off x="685800" y="4953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850" b="1">
                <a:solidFill>
                  <a:srgbClr val="102C49"/>
                </a:solidFill>
                <a:latin typeface="Arial"/>
                <a:ea typeface="Arial"/>
                <a:cs typeface="Arial"/>
              </a:defRPr>
            </a:pPr>
            <a:r>
              <a:rPr sz="2850" b="1">
                <a:solidFill>
                  <a:srgbClr val="102C49"/>
                </a:solidFill>
                <a:latin typeface="Arial"/>
                <a:ea typeface="Arial"/>
                <a:cs typeface="Arial"/>
              </a:rPr>
              <a:t>Mandate and success criteria</a:t>
            </a:r>
          </a:p>
        </p:txBody>
      </p:sp>
      <p:sp>
        <p:nvSpPr>
          <p:cNvPr id="3" name="">
            <a:extLst xmlns:a="http://schemas.openxmlformats.org/drawingml/2006/main">
              <a:ext uri="{FF2B5EF4-FFF2-40B4-BE49-F238E27FC236}">
                <a16:creationId xmlns:a16="http://schemas.microsoft.com/office/drawing/2014/main" id="{DE761FDD-B60F-4664-82F7-FEB061C3342A}"/>
              </a:ext>
            </a:extLst>
          </p:cNvPr>
          <p:cNvSpPr>
            <a:spLocks xmlns:a="http://schemas.openxmlformats.org/drawingml/2006/main" noGrp="1"/>
          </p:cNvSpPr>
          <p:nvPr/>
        </p:nvSpPr>
        <p:spPr>
          <a:xfrm xmlns:a="http://schemas.openxmlformats.org/drawingml/2006/main">
            <a:off x="685800" y="1162050"/>
            <a:ext cx="10820400" cy="0"/>
          </a:xfrm>
          <a:prstGeom xmlns:a="http://schemas.openxmlformats.org/drawingml/2006/main" prst="line">
            <a:avLst/>
          </a:prstGeom>
          <a:noFill xmlns:a="http://schemas.openxmlformats.org/drawingml/2006/main"/>
          <a:ln xmlns:a="http://schemas.openxmlformats.org/drawingml/2006/main" w="11430">
            <a:solidFill>
              <a:srgbClr val="D5E0E7"/>
            </a:solidFill>
            <a:prstDash val="solid"/>
          </a:ln>
        </p:spPr>
      </p:sp>
      <p:sp>
        <p:nvSpPr>
          <p:cNvPr id="4" name="">
            <a:extLst xmlns:a="http://schemas.openxmlformats.org/drawingml/2006/main">
              <a:ext uri="{FF2B5EF4-FFF2-40B4-BE49-F238E27FC236}">
                <a16:creationId xmlns:a16="http://schemas.microsoft.com/office/drawing/2014/main" id="{7381E318-E37B-44BD-AC78-CDFAD1A03165}"/>
              </a:ext>
            </a:extLst>
          </p:cNvPr>
          <p:cNvSpPr>
            <a:spLocks xmlns:a="http://schemas.openxmlformats.org/drawingml/2006/main" noGrp="1"/>
          </p:cNvSpPr>
          <p:nvPr/>
        </p:nvSpPr>
        <p:spPr>
          <a:xfrm xmlns:a="http://schemas.openxmlformats.org/drawingml/2006/main">
            <a:off x="685800" y="1409700"/>
            <a:ext cx="10382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3354"/>
          </a:bodyPr>
          <a:lstStyle xmlns:a="http://schemas.openxmlformats.org/drawingml/2006/main"/>
          <a:p xmlns:a="http://schemas.openxmlformats.org/drawingml/2006/main">
            <a:pPr algn="l">
              <a:buNone/>
              <a:defRPr sz="1725" b="0">
                <a:solidFill>
                  <a:srgbClr val="17334B"/>
                </a:solidFill>
                <a:latin typeface="Arial"/>
                <a:ea typeface="Arial"/>
                <a:cs typeface="Arial"/>
              </a:defRPr>
            </a:pPr>
            <a:r>
              <a:rPr sz="1725" b="0">
                <a:solidFill>
                  <a:srgbClr val="17334B"/>
                </a:solidFill>
                <a:latin typeface="Arial"/>
                <a:ea typeface="Arial"/>
                <a:cs typeface="Arial"/>
              </a:rPr>
              <a:t>Keep personally identifiable information out of model processing while preserving enough document context for control review.</a:t>
            </a:r>
          </a:p>
        </p:txBody>
      </p:sp>
      <p:sp>
        <p:nvSpPr>
          <p:cNvPr id="5" name="">
            <a:extLst xmlns:a="http://schemas.openxmlformats.org/drawingml/2006/main">
              <a:ext uri="{FF2B5EF4-FFF2-40B4-BE49-F238E27FC236}">
                <a16:creationId xmlns:a16="http://schemas.microsoft.com/office/drawing/2014/main" id="{C4A5FE9B-D055-44CE-8037-C196BCACEB14}"/>
              </a:ext>
            </a:extLst>
          </p:cNvPr>
          <p:cNvSpPr>
            <a:spLocks xmlns:a="http://schemas.openxmlformats.org/drawingml/2006/main" noGrp="1"/>
          </p:cNvSpPr>
          <p:nvPr/>
        </p:nvSpPr>
        <p:spPr>
          <a:xfrm xmlns:a="http://schemas.openxmlformats.org/drawingml/2006/main">
            <a:off x="685800" y="2419350"/>
            <a:ext cx="2476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11430">
            <a:solidFill>
              <a:srgbClr val="D5E0E7"/>
            </a:solidFill>
            <a:prstDash val="solid"/>
          </a:ln>
        </p:spPr>
      </p:sp>
      <p:sp>
        <p:nvSpPr>
          <p:cNvPr id="6" name="">
            <a:extLst xmlns:a="http://schemas.openxmlformats.org/drawingml/2006/main">
              <a:ext uri="{FF2B5EF4-FFF2-40B4-BE49-F238E27FC236}">
                <a16:creationId xmlns:a16="http://schemas.microsoft.com/office/drawing/2014/main" id="{9154E9F8-26EC-426B-AEB2-BA11F4A2E981}"/>
              </a:ext>
            </a:extLst>
          </p:cNvPr>
          <p:cNvSpPr>
            <a:spLocks xmlns:a="http://schemas.openxmlformats.org/drawingml/2006/main" noGrp="1"/>
          </p:cNvSpPr>
          <p:nvPr/>
        </p:nvSpPr>
        <p:spPr>
          <a:xfrm xmlns:a="http://schemas.openxmlformats.org/drawingml/2006/main">
            <a:off x="876300" y="2619375"/>
            <a:ext cx="533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725" b="1">
                <a:solidFill>
                  <a:srgbClr val="187A83"/>
                </a:solidFill>
                <a:latin typeface="Arial"/>
                <a:ea typeface="Arial"/>
                <a:cs typeface="Arial"/>
              </a:defRPr>
            </a:pPr>
            <a:r>
              <a:rPr sz="1725" b="1">
                <a:solidFill>
                  <a:srgbClr val="187A83"/>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C39E22A9-51E5-47CC-A0E2-DC802FD2812F}"/>
              </a:ext>
            </a:extLst>
          </p:cNvPr>
          <p:cNvSpPr>
            <a:spLocks xmlns:a="http://schemas.openxmlformats.org/drawingml/2006/main" noGrp="1"/>
          </p:cNvSpPr>
          <p:nvPr/>
        </p:nvSpPr>
        <p:spPr>
          <a:xfrm xmlns:a="http://schemas.openxmlformats.org/drawingml/2006/main">
            <a:off x="1485900" y="2647950"/>
            <a:ext cx="14573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246"/>
          </a:bodyPr>
          <a:lstStyle xmlns:a="http://schemas.openxmlformats.org/drawingml/2006/main"/>
          <a:p xmlns:a="http://schemas.openxmlformats.org/drawingml/2006/main">
            <a:pPr algn="l">
              <a:buNone/>
              <a:defRPr sz="1425" b="1">
                <a:solidFill>
                  <a:srgbClr val="102C49"/>
                </a:solidFill>
                <a:latin typeface="Arial"/>
                <a:ea typeface="Arial"/>
                <a:cs typeface="Arial"/>
              </a:defRPr>
            </a:pPr>
            <a:r>
              <a:rPr sz="1425" b="1">
                <a:solidFill>
                  <a:srgbClr val="102C49"/>
                </a:solidFill>
                <a:latin typeface="Arial"/>
                <a:ea typeface="Arial"/>
                <a:cs typeface="Arial"/>
              </a:rPr>
              <a:t>EXTRACT</a:t>
            </a:r>
          </a:p>
        </p:txBody>
      </p:sp>
      <p:sp>
        <p:nvSpPr>
          <p:cNvPr id="8" name="">
            <a:extLst xmlns:a="http://schemas.openxmlformats.org/drawingml/2006/main">
              <a:ext uri="{FF2B5EF4-FFF2-40B4-BE49-F238E27FC236}">
                <a16:creationId xmlns:a16="http://schemas.microsoft.com/office/drawing/2014/main" id="{EF889C37-8072-45B9-9D00-57ECD3E2A077}"/>
              </a:ext>
            </a:extLst>
          </p:cNvPr>
          <p:cNvSpPr>
            <a:spLocks xmlns:a="http://schemas.openxmlformats.org/drawingml/2006/main" noGrp="1"/>
          </p:cNvSpPr>
          <p:nvPr/>
        </p:nvSpPr>
        <p:spPr>
          <a:xfrm xmlns:a="http://schemas.openxmlformats.org/drawingml/2006/main">
            <a:off x="876300" y="3200400"/>
            <a:ext cx="2095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a:solidFill>
                  <a:srgbClr val="536D81"/>
                </a:solidFill>
                <a:latin typeface="Arial"/>
                <a:ea typeface="Arial"/>
                <a:cs typeface="Arial"/>
              </a:defRPr>
            </a:pPr>
            <a:r>
              <a:rPr sz="1350" b="0">
                <a:solidFill>
                  <a:srgbClr val="536D81"/>
                </a:solidFill>
                <a:latin typeface="Arial"/>
                <a:ea typeface="Arial"/>
                <a:cs typeface="Arial"/>
              </a:rPr>
              <a:t>Handle scanned policy PDFs, PowerPoint packs and Word process documents.</a:t>
            </a:r>
          </a:p>
        </p:txBody>
      </p:sp>
      <p:sp>
        <p:nvSpPr>
          <p:cNvPr id="9" name="">
            <a:extLst xmlns:a="http://schemas.openxmlformats.org/drawingml/2006/main">
              <a:ext uri="{FF2B5EF4-FFF2-40B4-BE49-F238E27FC236}">
                <a16:creationId xmlns:a16="http://schemas.microsoft.com/office/drawing/2014/main" id="{527A33B4-0297-4821-8368-00A3E5883DAA}"/>
              </a:ext>
            </a:extLst>
          </p:cNvPr>
          <p:cNvSpPr>
            <a:spLocks xmlns:a="http://schemas.openxmlformats.org/drawingml/2006/main" noGrp="1"/>
          </p:cNvSpPr>
          <p:nvPr/>
        </p:nvSpPr>
        <p:spPr>
          <a:xfrm xmlns:a="http://schemas.openxmlformats.org/drawingml/2006/main">
            <a:off x="3390900" y="2419350"/>
            <a:ext cx="2476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11430">
            <a:solidFill>
              <a:srgbClr val="D5E0E7"/>
            </a:solidFill>
            <a:prstDash val="solid"/>
          </a:ln>
        </p:spPr>
      </p:sp>
      <p:sp>
        <p:nvSpPr>
          <p:cNvPr id="10" name="">
            <a:extLst xmlns:a="http://schemas.openxmlformats.org/drawingml/2006/main">
              <a:ext uri="{FF2B5EF4-FFF2-40B4-BE49-F238E27FC236}">
                <a16:creationId xmlns:a16="http://schemas.microsoft.com/office/drawing/2014/main" id="{C7594465-71FE-4CC8-903C-549157FC95FA}"/>
              </a:ext>
            </a:extLst>
          </p:cNvPr>
          <p:cNvSpPr>
            <a:spLocks xmlns:a="http://schemas.openxmlformats.org/drawingml/2006/main" noGrp="1"/>
          </p:cNvSpPr>
          <p:nvPr/>
        </p:nvSpPr>
        <p:spPr>
          <a:xfrm xmlns:a="http://schemas.openxmlformats.org/drawingml/2006/main">
            <a:off x="3581400" y="2619375"/>
            <a:ext cx="533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725" b="1">
                <a:solidFill>
                  <a:srgbClr val="187A83"/>
                </a:solidFill>
                <a:latin typeface="Arial"/>
                <a:ea typeface="Arial"/>
                <a:cs typeface="Arial"/>
              </a:defRPr>
            </a:pPr>
            <a:r>
              <a:rPr sz="1725" b="1">
                <a:solidFill>
                  <a:srgbClr val="187A83"/>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75997AB1-7C17-443B-9073-173918CD91D6}"/>
              </a:ext>
            </a:extLst>
          </p:cNvPr>
          <p:cNvSpPr>
            <a:spLocks xmlns:a="http://schemas.openxmlformats.org/drawingml/2006/main" noGrp="1"/>
          </p:cNvSpPr>
          <p:nvPr/>
        </p:nvSpPr>
        <p:spPr>
          <a:xfrm xmlns:a="http://schemas.openxmlformats.org/drawingml/2006/main">
            <a:off x="4191000" y="2647950"/>
            <a:ext cx="14573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246"/>
          </a:bodyPr>
          <a:lstStyle xmlns:a="http://schemas.openxmlformats.org/drawingml/2006/main"/>
          <a:p xmlns:a="http://schemas.openxmlformats.org/drawingml/2006/main">
            <a:pPr algn="l">
              <a:buNone/>
              <a:defRPr sz="1425" b="1">
                <a:solidFill>
                  <a:srgbClr val="102C49"/>
                </a:solidFill>
                <a:latin typeface="Arial"/>
                <a:ea typeface="Arial"/>
                <a:cs typeface="Arial"/>
              </a:defRPr>
            </a:pPr>
            <a:r>
              <a:rPr sz="1425" b="1">
                <a:solidFill>
                  <a:srgbClr val="102C49"/>
                </a:solidFill>
                <a:latin typeface="Arial"/>
                <a:ea typeface="Arial"/>
                <a:cs typeface="Arial"/>
              </a:rPr>
              <a:t>DETECT</a:t>
            </a:r>
          </a:p>
        </p:txBody>
      </p:sp>
      <p:sp>
        <p:nvSpPr>
          <p:cNvPr id="12" name="">
            <a:extLst xmlns:a="http://schemas.openxmlformats.org/drawingml/2006/main">
              <a:ext uri="{FF2B5EF4-FFF2-40B4-BE49-F238E27FC236}">
                <a16:creationId xmlns:a16="http://schemas.microsoft.com/office/drawing/2014/main" id="{EEABDF53-5CB3-4EC6-A058-383CA94A75CF}"/>
              </a:ext>
            </a:extLst>
          </p:cNvPr>
          <p:cNvSpPr>
            <a:spLocks xmlns:a="http://schemas.openxmlformats.org/drawingml/2006/main" noGrp="1"/>
          </p:cNvSpPr>
          <p:nvPr/>
        </p:nvSpPr>
        <p:spPr>
          <a:xfrm xmlns:a="http://schemas.openxmlformats.org/drawingml/2006/main">
            <a:off x="3581400" y="3200400"/>
            <a:ext cx="2095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597"/>
          </a:bodyPr>
          <a:lstStyle xmlns:a="http://schemas.openxmlformats.org/drawingml/2006/main"/>
          <a:p xmlns:a="http://schemas.openxmlformats.org/drawingml/2006/main">
            <a:pPr algn="l">
              <a:buNone/>
              <a:defRPr sz="1350" b="0">
                <a:solidFill>
                  <a:srgbClr val="536D81"/>
                </a:solidFill>
                <a:latin typeface="Arial"/>
                <a:ea typeface="Arial"/>
                <a:cs typeface="Arial"/>
              </a:defRPr>
            </a:pPr>
            <a:r>
              <a:rPr sz="1350" b="0">
                <a:solidFill>
                  <a:srgbClr val="536D81"/>
                </a:solidFill>
                <a:latin typeface="Arial"/>
                <a:ea typeface="Arial"/>
                <a:cs typeface="Arial"/>
              </a:rPr>
              <a:t>Identify and classify names, employee IDs, contact details, government IDs and other PII.</a:t>
            </a:r>
          </a:p>
        </p:txBody>
      </p:sp>
      <p:sp>
        <p:nvSpPr>
          <p:cNvPr id="13" name="">
            <a:extLst xmlns:a="http://schemas.openxmlformats.org/drawingml/2006/main">
              <a:ext uri="{FF2B5EF4-FFF2-40B4-BE49-F238E27FC236}">
                <a16:creationId xmlns:a16="http://schemas.microsoft.com/office/drawing/2014/main" id="{1969907E-FFC5-4D21-9FCA-3B4CBC5E02A6}"/>
              </a:ext>
            </a:extLst>
          </p:cNvPr>
          <p:cNvSpPr>
            <a:spLocks xmlns:a="http://schemas.openxmlformats.org/drawingml/2006/main" noGrp="1"/>
          </p:cNvSpPr>
          <p:nvPr/>
        </p:nvSpPr>
        <p:spPr>
          <a:xfrm xmlns:a="http://schemas.openxmlformats.org/drawingml/2006/main">
            <a:off x="6096000" y="2419350"/>
            <a:ext cx="2476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11430">
            <a:solidFill>
              <a:srgbClr val="D5E0E7"/>
            </a:solidFill>
            <a:prstDash val="solid"/>
          </a:ln>
        </p:spPr>
      </p:sp>
      <p:sp>
        <p:nvSpPr>
          <p:cNvPr id="14" name="">
            <a:extLst xmlns:a="http://schemas.openxmlformats.org/drawingml/2006/main">
              <a:ext uri="{FF2B5EF4-FFF2-40B4-BE49-F238E27FC236}">
                <a16:creationId xmlns:a16="http://schemas.microsoft.com/office/drawing/2014/main" id="{1091FD25-D848-4FD5-95D9-A69E026280F0}"/>
              </a:ext>
            </a:extLst>
          </p:cNvPr>
          <p:cNvSpPr>
            <a:spLocks xmlns:a="http://schemas.openxmlformats.org/drawingml/2006/main" noGrp="1"/>
          </p:cNvSpPr>
          <p:nvPr/>
        </p:nvSpPr>
        <p:spPr>
          <a:xfrm xmlns:a="http://schemas.openxmlformats.org/drawingml/2006/main">
            <a:off x="6286500" y="2619375"/>
            <a:ext cx="533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725" b="1">
                <a:solidFill>
                  <a:srgbClr val="187A83"/>
                </a:solidFill>
                <a:latin typeface="Arial"/>
                <a:ea typeface="Arial"/>
                <a:cs typeface="Arial"/>
              </a:defRPr>
            </a:pPr>
            <a:r>
              <a:rPr sz="1725" b="1">
                <a:solidFill>
                  <a:srgbClr val="187A83"/>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8DF18EA5-1A4E-4127-BE79-91027FAE83A1}"/>
              </a:ext>
            </a:extLst>
          </p:cNvPr>
          <p:cNvSpPr>
            <a:spLocks xmlns:a="http://schemas.openxmlformats.org/drawingml/2006/main" noGrp="1"/>
          </p:cNvSpPr>
          <p:nvPr/>
        </p:nvSpPr>
        <p:spPr>
          <a:xfrm xmlns:a="http://schemas.openxmlformats.org/drawingml/2006/main">
            <a:off x="6896100" y="2647950"/>
            <a:ext cx="14573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246"/>
          </a:bodyPr>
          <a:lstStyle xmlns:a="http://schemas.openxmlformats.org/drawingml/2006/main"/>
          <a:p xmlns:a="http://schemas.openxmlformats.org/drawingml/2006/main">
            <a:pPr algn="l">
              <a:buNone/>
              <a:defRPr sz="1425" b="1">
                <a:solidFill>
                  <a:srgbClr val="102C49"/>
                </a:solidFill>
                <a:latin typeface="Arial"/>
                <a:ea typeface="Arial"/>
                <a:cs typeface="Arial"/>
              </a:defRPr>
            </a:pPr>
            <a:r>
              <a:rPr sz="1425" b="1">
                <a:solidFill>
                  <a:srgbClr val="102C49"/>
                </a:solidFill>
                <a:latin typeface="Arial"/>
                <a:ea typeface="Arial"/>
                <a:cs typeface="Arial"/>
              </a:rPr>
              <a:t>REDACT</a:t>
            </a:r>
          </a:p>
        </p:txBody>
      </p:sp>
      <p:sp>
        <p:nvSpPr>
          <p:cNvPr id="16" name="">
            <a:extLst xmlns:a="http://schemas.openxmlformats.org/drawingml/2006/main">
              <a:ext uri="{FF2B5EF4-FFF2-40B4-BE49-F238E27FC236}">
                <a16:creationId xmlns:a16="http://schemas.microsoft.com/office/drawing/2014/main" id="{0C9D3F46-E4E0-4C4E-BBA5-46853665FB48}"/>
              </a:ext>
            </a:extLst>
          </p:cNvPr>
          <p:cNvSpPr>
            <a:spLocks xmlns:a="http://schemas.openxmlformats.org/drawingml/2006/main" noGrp="1"/>
          </p:cNvSpPr>
          <p:nvPr/>
        </p:nvSpPr>
        <p:spPr>
          <a:xfrm xmlns:a="http://schemas.openxmlformats.org/drawingml/2006/main">
            <a:off x="6286500" y="3200400"/>
            <a:ext cx="2095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a:solidFill>
                  <a:srgbClr val="536D81"/>
                </a:solidFill>
                <a:latin typeface="Arial"/>
                <a:ea typeface="Arial"/>
                <a:cs typeface="Arial"/>
              </a:defRPr>
            </a:pPr>
            <a:r>
              <a:rPr sz="1350" b="0">
                <a:solidFill>
                  <a:srgbClr val="536D81"/>
                </a:solidFill>
                <a:latin typeface="Arial"/>
                <a:ea typeface="Arial"/>
                <a:cs typeface="Arial"/>
              </a:rPr>
              <a:t>Replace detected spans with transparent tags and retain source traceability.</a:t>
            </a:r>
          </a:p>
        </p:txBody>
      </p:sp>
      <p:sp>
        <p:nvSpPr>
          <p:cNvPr id="17" name="">
            <a:extLst xmlns:a="http://schemas.openxmlformats.org/drawingml/2006/main">
              <a:ext uri="{FF2B5EF4-FFF2-40B4-BE49-F238E27FC236}">
                <a16:creationId xmlns:a16="http://schemas.microsoft.com/office/drawing/2014/main" id="{634B0DAD-319A-4D27-BF8C-B8AEB0248A3A}"/>
              </a:ext>
            </a:extLst>
          </p:cNvPr>
          <p:cNvSpPr>
            <a:spLocks xmlns:a="http://schemas.openxmlformats.org/drawingml/2006/main" noGrp="1"/>
          </p:cNvSpPr>
          <p:nvPr/>
        </p:nvSpPr>
        <p:spPr>
          <a:xfrm xmlns:a="http://schemas.openxmlformats.org/drawingml/2006/main">
            <a:off x="8801100" y="2419350"/>
            <a:ext cx="2476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11430">
            <a:solidFill>
              <a:srgbClr val="D5E0E7"/>
            </a:solidFill>
            <a:prstDash val="solid"/>
          </a:ln>
        </p:spPr>
      </p:sp>
      <p:sp>
        <p:nvSpPr>
          <p:cNvPr id="18" name="">
            <a:extLst xmlns:a="http://schemas.openxmlformats.org/drawingml/2006/main">
              <a:ext uri="{FF2B5EF4-FFF2-40B4-BE49-F238E27FC236}">
                <a16:creationId xmlns:a16="http://schemas.microsoft.com/office/drawing/2014/main" id="{BB567F50-19D0-4A55-B60B-7F9F7F54E1B4}"/>
              </a:ext>
            </a:extLst>
          </p:cNvPr>
          <p:cNvSpPr>
            <a:spLocks xmlns:a="http://schemas.openxmlformats.org/drawingml/2006/main" noGrp="1"/>
          </p:cNvSpPr>
          <p:nvPr/>
        </p:nvSpPr>
        <p:spPr>
          <a:xfrm xmlns:a="http://schemas.openxmlformats.org/drawingml/2006/main">
            <a:off x="8991600" y="2619375"/>
            <a:ext cx="533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725" b="1">
                <a:solidFill>
                  <a:srgbClr val="A14338"/>
                </a:solidFill>
                <a:latin typeface="Arial"/>
                <a:ea typeface="Arial"/>
                <a:cs typeface="Arial"/>
              </a:defRPr>
            </a:pPr>
            <a:r>
              <a:rPr sz="1725" b="1">
                <a:solidFill>
                  <a:srgbClr val="A14338"/>
                </a:solidFill>
                <a:latin typeface="Arial"/>
                <a:ea typeface="Arial"/>
                <a:cs typeface="Arial"/>
              </a:rPr>
              <a:t>04</a:t>
            </a:r>
          </a:p>
        </p:txBody>
      </p:sp>
      <p:sp>
        <p:nvSpPr>
          <p:cNvPr id="19" name="">
            <a:extLst xmlns:a="http://schemas.openxmlformats.org/drawingml/2006/main">
              <a:ext uri="{FF2B5EF4-FFF2-40B4-BE49-F238E27FC236}">
                <a16:creationId xmlns:a16="http://schemas.microsoft.com/office/drawing/2014/main" id="{87284DBD-1F25-473C-9DE8-0D9D42A0A148}"/>
              </a:ext>
            </a:extLst>
          </p:cNvPr>
          <p:cNvSpPr>
            <a:spLocks xmlns:a="http://schemas.openxmlformats.org/drawingml/2006/main" noGrp="1"/>
          </p:cNvSpPr>
          <p:nvPr/>
        </p:nvSpPr>
        <p:spPr>
          <a:xfrm xmlns:a="http://schemas.openxmlformats.org/drawingml/2006/main">
            <a:off x="9601200" y="2647950"/>
            <a:ext cx="14573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246"/>
          </a:bodyPr>
          <a:lstStyle xmlns:a="http://schemas.openxmlformats.org/drawingml/2006/main"/>
          <a:p xmlns:a="http://schemas.openxmlformats.org/drawingml/2006/main">
            <a:pPr algn="l">
              <a:buNone/>
              <a:defRPr sz="1425" b="1">
                <a:solidFill>
                  <a:srgbClr val="102C49"/>
                </a:solidFill>
                <a:latin typeface="Arial"/>
                <a:ea typeface="Arial"/>
                <a:cs typeface="Arial"/>
              </a:defRPr>
            </a:pPr>
            <a:r>
              <a:rPr sz="1425" b="1">
                <a:solidFill>
                  <a:srgbClr val="102C49"/>
                </a:solidFill>
                <a:latin typeface="Arial"/>
                <a:ea typeface="Arial"/>
                <a:cs typeface="Arial"/>
              </a:rPr>
              <a:t>GATE</a:t>
            </a:r>
          </a:p>
        </p:txBody>
      </p:sp>
      <p:sp>
        <p:nvSpPr>
          <p:cNvPr id="20" name="">
            <a:extLst xmlns:a="http://schemas.openxmlformats.org/drawingml/2006/main">
              <a:ext uri="{FF2B5EF4-FFF2-40B4-BE49-F238E27FC236}">
                <a16:creationId xmlns:a16="http://schemas.microsoft.com/office/drawing/2014/main" id="{609F0AC7-65C6-4A86-8CFA-063FF83F7E5C}"/>
              </a:ext>
            </a:extLst>
          </p:cNvPr>
          <p:cNvSpPr>
            <a:spLocks xmlns:a="http://schemas.openxmlformats.org/drawingml/2006/main" noGrp="1"/>
          </p:cNvSpPr>
          <p:nvPr/>
        </p:nvSpPr>
        <p:spPr>
          <a:xfrm xmlns:a="http://schemas.openxmlformats.org/drawingml/2006/main">
            <a:off x="8991600" y="3200400"/>
            <a:ext cx="2095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897"/>
          </a:bodyPr>
          <a:lstStyle xmlns:a="http://schemas.openxmlformats.org/drawingml/2006/main"/>
          <a:p xmlns:a="http://schemas.openxmlformats.org/drawingml/2006/main">
            <a:pPr algn="l">
              <a:buNone/>
              <a:defRPr sz="1350" b="0">
                <a:solidFill>
                  <a:srgbClr val="536D81"/>
                </a:solidFill>
                <a:latin typeface="Arial"/>
                <a:ea typeface="Arial"/>
                <a:cs typeface="Arial"/>
              </a:defRPr>
            </a:pPr>
            <a:r>
              <a:rPr sz="1350" b="0">
                <a:solidFill>
                  <a:srgbClr val="536D81"/>
                </a:solidFill>
                <a:latin typeface="Arial"/>
                <a:ea typeface="Arial"/>
                <a:cs typeface="Arial"/>
              </a:rPr>
              <a:t>Block failed or incomplete extraction; allow only reviewed redacted text downstream.</a:t>
            </a:r>
          </a:p>
        </p:txBody>
      </p:sp>
      <p:sp>
        <p:nvSpPr>
          <p:cNvPr id="21" name="">
            <a:extLst xmlns:a="http://schemas.openxmlformats.org/drawingml/2006/main">
              <a:ext uri="{FF2B5EF4-FFF2-40B4-BE49-F238E27FC236}">
                <a16:creationId xmlns:a16="http://schemas.microsoft.com/office/drawing/2014/main" id="{8A6A4D87-B60B-4975-AF93-78C011CC8818}"/>
              </a:ext>
            </a:extLst>
          </p:cNvPr>
          <p:cNvSpPr>
            <a:spLocks xmlns:a="http://schemas.openxmlformats.org/drawingml/2006/main" noGrp="1"/>
          </p:cNvSpPr>
          <p:nvPr/>
        </p:nvSpPr>
        <p:spPr>
          <a:xfrm xmlns:a="http://schemas.openxmlformats.org/drawingml/2006/main">
            <a:off x="685800" y="50292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Targets in the brief</a:t>
            </a:r>
          </a:p>
        </p:txBody>
      </p:sp>
      <p:sp>
        <p:nvSpPr>
          <p:cNvPr id="22" name="">
            <a:extLst xmlns:a="http://schemas.openxmlformats.org/drawingml/2006/main">
              <a:ext uri="{FF2B5EF4-FFF2-40B4-BE49-F238E27FC236}">
                <a16:creationId xmlns:a16="http://schemas.microsoft.com/office/drawing/2014/main" id="{3A829777-D812-40AE-9730-7C02279B55BE}"/>
              </a:ext>
            </a:extLst>
          </p:cNvPr>
          <p:cNvSpPr>
            <a:spLocks xmlns:a="http://schemas.openxmlformats.org/drawingml/2006/main" noGrp="1"/>
          </p:cNvSpPr>
          <p:nvPr/>
        </p:nvSpPr>
        <p:spPr>
          <a:xfrm xmlns:a="http://schemas.openxmlformats.org/drawingml/2006/main">
            <a:off x="2914650" y="5029200"/>
            <a:ext cx="2381250" cy="285750"/>
          </a:xfrm>
          <a:prstGeom xmlns:a="http://schemas.openxmlformats.org/drawingml/2006/main" prst="roundRect">
            <a:avLst>
              <a:gd name="adj" fmla="val 40000"/>
            </a:avLst>
          </a:prstGeom>
          <a:solidFill xmlns:a="http://schemas.openxmlformats.org/drawingml/2006/main">
            <a:srgbClr val="F9F1DF"/>
          </a:solidFill>
          <a:ln xmlns:a="http://schemas.openxmlformats.org/drawingml/2006/main" w="11430">
            <a:solidFill>
              <a:srgbClr val="F9F1DF"/>
            </a:solidFill>
            <a:prstDash val="solid"/>
          </a:ln>
        </p:spPr>
      </p:sp>
      <p:sp>
        <p:nvSpPr>
          <p:cNvPr id="23" name="">
            <a:extLst xmlns:a="http://schemas.openxmlformats.org/drawingml/2006/main">
              <a:ext uri="{FF2B5EF4-FFF2-40B4-BE49-F238E27FC236}">
                <a16:creationId xmlns:a16="http://schemas.microsoft.com/office/drawing/2014/main" id="{E6033E34-4E8E-4908-9722-ABE08FC7E92B}"/>
              </a:ext>
            </a:extLst>
          </p:cNvPr>
          <p:cNvSpPr>
            <a:spLocks xmlns:a="http://schemas.openxmlformats.org/drawingml/2006/main" noGrp="1"/>
          </p:cNvSpPr>
          <p:nvPr/>
        </p:nvSpPr>
        <p:spPr>
          <a:xfrm xmlns:a="http://schemas.openxmlformats.org/drawingml/2006/main">
            <a:off x="2971800" y="5038725"/>
            <a:ext cx="2266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619"/>
          </a:bodyPr>
          <a:lstStyle xmlns:a="http://schemas.openxmlformats.org/drawingml/2006/main"/>
          <a:p xmlns:a="http://schemas.openxmlformats.org/drawingml/2006/main">
            <a:pPr algn="ctr">
              <a:buNone/>
              <a:defRPr sz="1050" b="1">
                <a:solidFill>
                  <a:srgbClr val="102C49"/>
                </a:solidFill>
                <a:latin typeface="Arial"/>
                <a:ea typeface="Arial"/>
                <a:cs typeface="Arial"/>
              </a:defRPr>
            </a:pPr>
            <a:r>
              <a:rPr sz="1050" b="1">
                <a:solidFill>
                  <a:srgbClr val="102C49"/>
                </a:solidFill>
                <a:latin typeface="Arial"/>
                <a:ea typeface="Arial"/>
                <a:cs typeface="Arial"/>
              </a:rPr>
              <a:t>≥80% structure retained</a:t>
            </a:r>
          </a:p>
        </p:txBody>
      </p:sp>
      <p:sp>
        <p:nvSpPr>
          <p:cNvPr id="24" name="">
            <a:extLst xmlns:a="http://schemas.openxmlformats.org/drawingml/2006/main">
              <a:ext uri="{FF2B5EF4-FFF2-40B4-BE49-F238E27FC236}">
                <a16:creationId xmlns:a16="http://schemas.microsoft.com/office/drawing/2014/main" id="{62128112-86A2-4168-9CB3-EF2667EAC9D8}"/>
              </a:ext>
            </a:extLst>
          </p:cNvPr>
          <p:cNvSpPr>
            <a:spLocks xmlns:a="http://schemas.openxmlformats.org/drawingml/2006/main" noGrp="1"/>
          </p:cNvSpPr>
          <p:nvPr/>
        </p:nvSpPr>
        <p:spPr>
          <a:xfrm xmlns:a="http://schemas.openxmlformats.org/drawingml/2006/main">
            <a:off x="5467350" y="5029200"/>
            <a:ext cx="2476500" cy="285750"/>
          </a:xfrm>
          <a:prstGeom xmlns:a="http://schemas.openxmlformats.org/drawingml/2006/main" prst="roundRect">
            <a:avLst>
              <a:gd name="adj" fmla="val 40000"/>
            </a:avLst>
          </a:prstGeom>
          <a:solidFill xmlns:a="http://schemas.openxmlformats.org/drawingml/2006/main">
            <a:srgbClr val="F9F1DF"/>
          </a:solidFill>
          <a:ln xmlns:a="http://schemas.openxmlformats.org/drawingml/2006/main" w="11430">
            <a:solidFill>
              <a:srgbClr val="F9F1DF"/>
            </a:solidFill>
            <a:prstDash val="solid"/>
          </a:ln>
        </p:spPr>
      </p:sp>
      <p:sp>
        <p:nvSpPr>
          <p:cNvPr id="25" name="">
            <a:extLst xmlns:a="http://schemas.openxmlformats.org/drawingml/2006/main">
              <a:ext uri="{FF2B5EF4-FFF2-40B4-BE49-F238E27FC236}">
                <a16:creationId xmlns:a16="http://schemas.microsoft.com/office/drawing/2014/main" id="{BA97F4E9-4C73-4F40-A682-E11BE3D649D3}"/>
              </a:ext>
            </a:extLst>
          </p:cNvPr>
          <p:cNvSpPr>
            <a:spLocks xmlns:a="http://schemas.openxmlformats.org/drawingml/2006/main" noGrp="1"/>
          </p:cNvSpPr>
          <p:nvPr/>
        </p:nvSpPr>
        <p:spPr>
          <a:xfrm xmlns:a="http://schemas.openxmlformats.org/drawingml/2006/main">
            <a:off x="5524500" y="5038725"/>
            <a:ext cx="2362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619"/>
          </a:bodyPr>
          <a:lstStyle xmlns:a="http://schemas.openxmlformats.org/drawingml/2006/main"/>
          <a:p xmlns:a="http://schemas.openxmlformats.org/drawingml/2006/main">
            <a:pPr algn="ctr">
              <a:buNone/>
              <a:defRPr sz="1050" b="1">
                <a:solidFill>
                  <a:srgbClr val="102C49"/>
                </a:solidFill>
                <a:latin typeface="Arial"/>
                <a:ea typeface="Arial"/>
                <a:cs typeface="Arial"/>
              </a:defRPr>
            </a:pPr>
            <a:r>
              <a:rPr sz="1050" b="1">
                <a:solidFill>
                  <a:srgbClr val="102C49"/>
                </a:solidFill>
                <a:latin typeface="Arial"/>
                <a:ea typeface="Arial"/>
                <a:cs typeface="Arial"/>
              </a:rPr>
              <a:t>Near-100% PII coverage</a:t>
            </a:r>
          </a:p>
        </p:txBody>
      </p:sp>
      <p:sp>
        <p:nvSpPr>
          <p:cNvPr id="26" name="">
            <a:extLst xmlns:a="http://schemas.openxmlformats.org/drawingml/2006/main">
              <a:ext uri="{FF2B5EF4-FFF2-40B4-BE49-F238E27FC236}">
                <a16:creationId xmlns:a16="http://schemas.microsoft.com/office/drawing/2014/main" id="{9CF83788-E4B9-46C6-8CBB-E2A620717D92}"/>
              </a:ext>
            </a:extLst>
          </p:cNvPr>
          <p:cNvSpPr>
            <a:spLocks xmlns:a="http://schemas.openxmlformats.org/drawingml/2006/main" noGrp="1"/>
          </p:cNvSpPr>
          <p:nvPr/>
        </p:nvSpPr>
        <p:spPr>
          <a:xfrm xmlns:a="http://schemas.openxmlformats.org/drawingml/2006/main">
            <a:off x="685800" y="5467350"/>
            <a:ext cx="1028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350" b="1">
                <a:solidFill>
                  <a:srgbClr val="A14338"/>
                </a:solidFill>
                <a:latin typeface="Arial"/>
                <a:ea typeface="Arial"/>
                <a:cs typeface="Arial"/>
              </a:defRPr>
            </a:pPr>
            <a:r>
              <a:rPr sz="1350" b="1">
                <a:solidFill>
                  <a:srgbClr val="A14338"/>
                </a:solidFill>
                <a:latin typeface="Arial"/>
                <a:ea typeface="Arial"/>
                <a:cs typeface="Arial"/>
              </a:rPr>
              <a:t>These are acceptance targets to measure; the prototype does not claim they have been achieved.</a:t>
            </a:r>
          </a:p>
        </p:txBody>
      </p:sp>
      <p:sp>
        <p:nvSpPr>
          <p:cNvPr id="27" name="">
            <a:extLst xmlns:a="http://schemas.openxmlformats.org/drawingml/2006/main">
              <a:ext uri="{FF2B5EF4-FFF2-40B4-BE49-F238E27FC236}">
                <a16:creationId xmlns:a16="http://schemas.microsoft.com/office/drawing/2014/main" id="{BA355B96-2D30-4FA7-AD3C-36C0F13AAA21}"/>
              </a:ext>
            </a:extLst>
          </p:cNvPr>
          <p:cNvSpPr>
            <a:spLocks xmlns:a="http://schemas.openxmlformats.org/drawingml/2006/main" noGrp="1"/>
          </p:cNvSpPr>
          <p:nvPr/>
        </p:nvSpPr>
        <p:spPr>
          <a:xfrm xmlns:a="http://schemas.openxmlformats.org/drawingml/2006/main">
            <a:off x="685800" y="655320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48485"/>
          </a:bodyPr>
          <a:lstStyle xmlns:a="http://schemas.openxmlformats.org/drawingml/2006/main"/>
          <a:p xmlns:a="http://schemas.openxmlformats.org/drawingml/2006/main">
            <a:pPr algn="l">
              <a:buNone/>
              <a:defRPr sz="825" b="0">
                <a:solidFill>
                  <a:srgbClr val="536D81"/>
                </a:solidFill>
                <a:latin typeface="Arial"/>
                <a:ea typeface="Arial"/>
                <a:cs typeface="Arial"/>
              </a:defRPr>
            </a:pPr>
            <a:r>
              <a:rPr sz="825" b="0">
                <a:solidFill>
                  <a:srgbClr val="536D81"/>
                </a:solidFill>
                <a:latin typeface="Arial"/>
                <a:ea typeface="Arial"/>
                <a:cs typeface="Arial"/>
              </a:rPr>
              <a:t>OPTIV  ·  VIT 2026  |  CASE STUDY 2  |  02</a:t>
            </a:r>
          </a:p>
        </p:txBody>
      </p:sp>
    </p:spTree>
    <p:extLst>
      <p:ext uri="{BB962C8B-B14F-4D97-AF65-F5344CB8AC3E}">
        <p14:creationId xmlns:p14="http://schemas.microsoft.com/office/powerpoint/2010/main" val="1777000578"/>
      </p:ext>
    </p:extLst>
  </p:cSld>
</p:sld>
</file>

<file path=ppt/slides/slide3.xml><?xml version="1.0" encoding="utf-8"?>
<p:sld xmlns:p="http://schemas.openxmlformats.org/presentationml/2006/main">
  <p:cSld>
    <p:bg>
      <p:bgPr>
        <a:solidFill xmlns:a="http://schemas.openxmlformats.org/drawingml/2006/main">
          <a:srgbClr val="F3F6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7B68767-34AC-4AE9-A6A8-8E088CCA1D58}"/>
              </a:ext>
            </a:extLst>
          </p:cNvPr>
          <p:cNvSpPr>
            <a:spLocks xmlns:a="http://schemas.openxmlformats.org/drawingml/2006/main" noGrp="1"/>
          </p:cNvSpPr>
          <p:nvPr/>
        </p:nvSpPr>
        <p:spPr>
          <a:xfrm xmlns:a="http://schemas.openxmlformats.org/drawingml/2006/main">
            <a:off x="685800" y="20955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762"/>
          </a:bodyPr>
          <a:lstStyle xmlns:a="http://schemas.openxmlformats.org/drawingml/2006/main"/>
          <a:p xmlns:a="http://schemas.openxmlformats.org/drawingml/2006/main">
            <a:pPr algn="l">
              <a:buNone/>
              <a:defRPr sz="1050" b="1">
                <a:solidFill>
                  <a:srgbClr val="187A83"/>
                </a:solidFill>
                <a:latin typeface="Arial"/>
                <a:ea typeface="Arial"/>
                <a:cs typeface="Arial"/>
              </a:defRPr>
            </a:pPr>
            <a:r>
              <a:rPr sz="1050" b="1">
                <a:solidFill>
                  <a:srgbClr val="187A83"/>
                </a:solidFill>
                <a:latin typeface="Arial"/>
                <a:ea typeface="Arial"/>
                <a:cs typeface="Arial"/>
              </a:rPr>
              <a:t>CASE STUDY 2  /  CADENCE</a:t>
            </a:r>
          </a:p>
        </p:txBody>
      </p:sp>
      <p:sp>
        <p:nvSpPr>
          <p:cNvPr id="2" name="">
            <a:extLst xmlns:a="http://schemas.openxmlformats.org/drawingml/2006/main">
              <a:ext uri="{FF2B5EF4-FFF2-40B4-BE49-F238E27FC236}">
                <a16:creationId xmlns:a16="http://schemas.microsoft.com/office/drawing/2014/main" id="{B7BF050A-DE9B-4F86-B9E8-F875B64AE9F3}"/>
              </a:ext>
            </a:extLst>
          </p:cNvPr>
          <p:cNvSpPr>
            <a:spLocks xmlns:a="http://schemas.openxmlformats.org/drawingml/2006/main" noGrp="1"/>
          </p:cNvSpPr>
          <p:nvPr/>
        </p:nvSpPr>
        <p:spPr>
          <a:xfrm xmlns:a="http://schemas.openxmlformats.org/drawingml/2006/main">
            <a:off x="685800" y="4953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850" b="1">
                <a:solidFill>
                  <a:srgbClr val="102C49"/>
                </a:solidFill>
                <a:latin typeface="Arial"/>
                <a:ea typeface="Arial"/>
                <a:cs typeface="Arial"/>
              </a:defRPr>
            </a:pPr>
            <a:r>
              <a:rPr sz="2850" b="1">
                <a:solidFill>
                  <a:srgbClr val="102C49"/>
                </a:solidFill>
                <a:latin typeface="Arial"/>
                <a:ea typeface="Arial"/>
                <a:cs typeface="Arial"/>
              </a:rPr>
              <a:t>Supplied evidence has three different extraction problems</a:t>
            </a:r>
          </a:p>
        </p:txBody>
      </p:sp>
      <p:sp>
        <p:nvSpPr>
          <p:cNvPr id="3" name="">
            <a:extLst xmlns:a="http://schemas.openxmlformats.org/drawingml/2006/main">
              <a:ext uri="{FF2B5EF4-FFF2-40B4-BE49-F238E27FC236}">
                <a16:creationId xmlns:a16="http://schemas.microsoft.com/office/drawing/2014/main" id="{6BDD2948-7DBE-4025-B8DD-418ED95912DD}"/>
              </a:ext>
            </a:extLst>
          </p:cNvPr>
          <p:cNvSpPr>
            <a:spLocks xmlns:a="http://schemas.openxmlformats.org/drawingml/2006/main" noGrp="1"/>
          </p:cNvSpPr>
          <p:nvPr/>
        </p:nvSpPr>
        <p:spPr>
          <a:xfrm xmlns:a="http://schemas.openxmlformats.org/drawingml/2006/main">
            <a:off x="685800" y="1162050"/>
            <a:ext cx="10820400" cy="0"/>
          </a:xfrm>
          <a:prstGeom xmlns:a="http://schemas.openxmlformats.org/drawingml/2006/main" prst="line">
            <a:avLst/>
          </a:prstGeom>
          <a:noFill xmlns:a="http://schemas.openxmlformats.org/drawingml/2006/main"/>
          <a:ln xmlns:a="http://schemas.openxmlformats.org/drawingml/2006/main" w="11430">
            <a:solidFill>
              <a:srgbClr val="D5E0E7"/>
            </a:solidFill>
            <a:prstDash val="solid"/>
          </a:ln>
        </p:spPr>
      </p:sp>
      <p:graphicFrame>
        <p:nvGraphicFramePr>
          <p:cNvPr id="13" name=""/>
          <p:cNvGraphicFramePr/>
          <p:nvPr/>
        </p:nvGraphicFramePr>
        <p:xfrm>
          <a:off xmlns:a="http://schemas.openxmlformats.org/drawingml/2006/main" x="685800" y="1543050"/>
          <a:ext xmlns:a="http://schemas.openxmlformats.org/drawingml/2006/main" cx="10820400" cy="3619500"/>
        </p:xfrm>
        <a:graphic xmlns:a="http://schemas.openxmlformats.org/drawingml/2006/main">
          <a:graphicData uri="http://schemas.openxmlformats.org/drawingml/2006/table">
            <a:tbl>
              <a:tblPr firstRow="1" bandRow="1"/>
              <a:tblGrid>
                <a:gridCol w="1952625"/>
                <a:gridCol w="2381250"/>
                <a:gridCol w="3714750"/>
                <a:gridCol w="2771775"/>
              </a:tblGrid>
              <a:tr h="476250">
                <a:tc>
                  <a:txBody>
                    <a:bodyPr/>
                    <a:lstStyle/>
                    <a:p>
                      <a:r>
                        <a:rPr sz="1275" b="1">
                          <a:solidFill>
                            <a:srgbClr val="FFFFFF"/>
                          </a:solidFill>
                          <a:latin typeface="Arial"/>
                          <a:ea typeface="Arial"/>
                          <a:cs typeface="Arial"/>
                        </a:rPr>
                        <a:t>Artifact</a:t>
                      </a:r>
                    </a:p>
                  </a:txBody>
                  <a:tcPr marL="85725" marR="66675" marT="76200" marB="76200">
                    <a:solidFill>
                      <a:srgbClr val="102C49"/>
                    </a:solidFill>
                  </a:tcPr>
                </a:tc>
                <a:tc>
                  <a:txBody>
                    <a:bodyPr/>
                    <a:lstStyle/>
                    <a:p>
                      <a:r>
                        <a:rPr sz="1275" b="1">
                          <a:solidFill>
                            <a:srgbClr val="FFFFFF"/>
                          </a:solidFill>
                          <a:latin typeface="Arial"/>
                          <a:ea typeface="Arial"/>
                          <a:cs typeface="Arial"/>
                        </a:rPr>
                        <a:t>Observed structure</a:t>
                      </a:r>
                    </a:p>
                  </a:txBody>
                  <a:tcPr marL="85725" marR="66675" marT="76200" marB="76200">
                    <a:solidFill>
                      <a:srgbClr val="102C49"/>
                    </a:solidFill>
                  </a:tcPr>
                </a:tc>
                <a:tc>
                  <a:txBody>
                    <a:bodyPr/>
                    <a:lstStyle/>
                    <a:p>
                      <a:r>
                        <a:rPr sz="1275" b="1">
                          <a:solidFill>
                            <a:srgbClr val="FFFFFF"/>
                          </a:solidFill>
                          <a:latin typeface="Arial"/>
                          <a:ea typeface="Arial"/>
                          <a:cs typeface="Arial"/>
                        </a:rPr>
                        <a:t>PII exposure / extraction concern</a:t>
                      </a:r>
                    </a:p>
                  </a:txBody>
                  <a:tcPr marL="85725" marR="66675" marT="76200" marB="76200">
                    <a:solidFill>
                      <a:srgbClr val="102C49"/>
                    </a:solidFill>
                  </a:tcPr>
                </a:tc>
                <a:tc>
                  <a:txBody>
                    <a:bodyPr/>
                    <a:lstStyle/>
                    <a:p>
                      <a:r>
                        <a:rPr sz="1275" b="1">
                          <a:solidFill>
                            <a:srgbClr val="FFFFFF"/>
                          </a:solidFill>
                          <a:latin typeface="Arial"/>
                          <a:ea typeface="Arial"/>
                          <a:cs typeface="Arial"/>
                        </a:rPr>
                        <a:t>Prototype response</a:t>
                      </a:r>
                    </a:p>
                  </a:txBody>
                  <a:tcPr marL="85725" marR="66675" marT="76200" marB="76200">
                    <a:solidFill>
                      <a:srgbClr val="102C49"/>
                    </a:solidFill>
                  </a:tcPr>
                </a:tc>
              </a:tr>
              <a:tr h="0">
                <a:tc>
                  <a:txBody>
                    <a:bodyPr/>
                    <a:lstStyle/>
                    <a:p>
                      <a:r>
                        <a:rPr sz="1200">
                          <a:solidFill>
                            <a:srgbClr val="17334B"/>
                          </a:solidFill>
                          <a:latin typeface="Arial"/>
                          <a:ea typeface="Arial"/>
                          <a:cs typeface="Arial"/>
                        </a:rPr>
                        <a:t>Risk Management Policy PDF</a:t>
                      </a:r>
                    </a:p>
                  </a:txBody>
                  <a:tcPr marL="85725" marR="66675" marT="76200" marB="76200"/>
                </a:tc>
                <a:tc>
                  <a:txBody>
                    <a:bodyPr/>
                    <a:lstStyle/>
                    <a:p>
                      <a:r>
                        <a:rPr sz="1200">
                          <a:solidFill>
                            <a:srgbClr val="17334B"/>
                          </a:solidFill>
                          <a:latin typeface="Arial"/>
                          <a:ea typeface="Arial"/>
                          <a:cs typeface="Arial"/>
                        </a:rPr>
                        <a:t>35 pages; scanned image pages</a:t>
                      </a:r>
                    </a:p>
                  </a:txBody>
                  <a:tcPr marL="85725" marR="66675" marT="76200" marB="76200"/>
                </a:tc>
                <a:tc>
                  <a:txBody>
                    <a:bodyPr/>
                    <a:lstStyle/>
                    <a:p>
                      <a:r>
                        <a:rPr sz="1200">
                          <a:solidFill>
                            <a:srgbClr val="17334B"/>
                          </a:solidFill>
                          <a:latin typeface="Arial"/>
                          <a:ea typeface="Arial"/>
                          <a:cs typeface="Arial"/>
                        </a:rPr>
                        <a:t>Cover shows names, employee IDs, email, phone and postal address; remaining pages need OCR</a:t>
                      </a:r>
                    </a:p>
                  </a:txBody>
                  <a:tcPr marL="85725" marR="66675" marT="76200" marB="76200"/>
                </a:tc>
                <a:tc>
                  <a:txBody>
                    <a:bodyPr/>
                    <a:lstStyle/>
                    <a:p>
                      <a:r>
                        <a:rPr sz="1200">
                          <a:solidFill>
                            <a:srgbClr val="17334B"/>
                          </a:solidFill>
                          <a:latin typeface="Arial"/>
                          <a:ea typeface="Arial"/>
                          <a:cs typeface="Arial"/>
                        </a:rPr>
                        <a:t>Per-page OCR; quarantine any page without reviewable text</a:t>
                      </a:r>
                    </a:p>
                  </a:txBody>
                  <a:tcPr marL="85725" marR="66675" marT="76200" marB="76200"/>
                </a:tc>
              </a:tr>
              <a:tr h="0">
                <a:tc>
                  <a:txBody>
                    <a:bodyPr/>
                    <a:lstStyle/>
                    <a:p>
                      <a:r>
                        <a:rPr sz="1200">
                          <a:solidFill>
                            <a:srgbClr val="17334B"/>
                          </a:solidFill>
                          <a:latin typeface="Arial"/>
                          <a:ea typeface="Arial"/>
                          <a:cs typeface="Arial"/>
                        </a:rPr>
                        <a:t>Organization Pack PPTX</a:t>
                      </a:r>
                    </a:p>
                  </a:txBody>
                  <a:tcPr marL="85725" marR="66675" marT="76200" marB="76200"/>
                </a:tc>
                <a:tc>
                  <a:txBody>
                    <a:bodyPr/>
                    <a:lstStyle/>
                    <a:p>
                      <a:r>
                        <a:rPr sz="1200">
                          <a:solidFill>
                            <a:srgbClr val="17334B"/>
                          </a:solidFill>
                          <a:latin typeface="Arial"/>
                          <a:ea typeface="Arial"/>
                          <a:cs typeface="Arial"/>
                        </a:rPr>
                        <a:t>9 slides; 3 tables; 16 named role holders</a:t>
                      </a:r>
                    </a:p>
                  </a:txBody>
                  <a:tcPr marL="85725" marR="66675" marT="76200" marB="76200"/>
                </a:tc>
                <a:tc>
                  <a:txBody>
                    <a:bodyPr/>
                    <a:lstStyle/>
                    <a:p>
                      <a:r>
                        <a:rPr sz="1200">
                          <a:solidFill>
                            <a:srgbClr val="17334B"/>
                          </a:solidFill>
                          <a:latin typeface="Arial"/>
                          <a:ea typeface="Arial"/>
                          <a:cs typeface="Arial"/>
                        </a:rPr>
                        <a:t>Directory content repeats email and phone details across slides</a:t>
                      </a:r>
                    </a:p>
                  </a:txBody>
                  <a:tcPr marL="85725" marR="66675" marT="76200" marB="76200"/>
                </a:tc>
                <a:tc>
                  <a:txBody>
                    <a:bodyPr/>
                    <a:lstStyle/>
                    <a:p>
                      <a:r>
                        <a:rPr sz="1200">
                          <a:solidFill>
                            <a:srgbClr val="17334B"/>
                          </a:solidFill>
                          <a:latin typeface="Arial"/>
                          <a:ea typeface="Arial"/>
                          <a:cs typeface="Arial"/>
                        </a:rPr>
                        <a:t>Extract shapes and table cells in slide order; keep slide/shape locators</a:t>
                      </a:r>
                    </a:p>
                  </a:txBody>
                  <a:tcPr marL="85725" marR="66675" marT="76200" marB="76200"/>
                </a:tc>
              </a:tr>
              <a:tr h="0">
                <a:tc>
                  <a:txBody>
                    <a:bodyPr/>
                    <a:lstStyle/>
                    <a:p>
                      <a:r>
                        <a:rPr sz="1200">
                          <a:solidFill>
                            <a:srgbClr val="17334B"/>
                          </a:solidFill>
                          <a:latin typeface="Arial"/>
                          <a:ea typeface="Arial"/>
                          <a:cs typeface="Arial"/>
                        </a:rPr>
                        <a:t>TPRM Training DOCX</a:t>
                      </a:r>
                    </a:p>
                  </a:txBody>
                  <a:tcPr marL="85725" marR="66675" marT="76200" marB="76200"/>
                </a:tc>
                <a:tc>
                  <a:txBody>
                    <a:bodyPr/>
                    <a:lstStyle/>
                    <a:p>
                      <a:r>
                        <a:rPr sz="1200">
                          <a:solidFill>
                            <a:srgbClr val="17334B"/>
                          </a:solidFill>
                          <a:latin typeface="Arial"/>
                          <a:ea typeface="Arial"/>
                          <a:cs typeface="Arial"/>
                        </a:rPr>
                        <a:t>402 paragraphs; 16 tables; 221 table rows</a:t>
                      </a:r>
                    </a:p>
                  </a:txBody>
                  <a:tcPr marL="85725" marR="66675" marT="76200" marB="76200"/>
                </a:tc>
                <a:tc>
                  <a:txBody>
                    <a:bodyPr/>
                    <a:lstStyle/>
                    <a:p>
                      <a:r>
                        <a:rPr sz="1200">
                          <a:solidFill>
                            <a:srgbClr val="17334B"/>
                          </a:solidFill>
                          <a:latin typeface="Arial"/>
                          <a:ea typeface="Arial"/>
                          <a:cs typeface="Arial"/>
                        </a:rPr>
                        <a:t>Named people appear in document-control metadata; long tables carry process context</a:t>
                      </a:r>
                    </a:p>
                  </a:txBody>
                  <a:tcPr marL="85725" marR="66675" marT="76200" marB="76200"/>
                </a:tc>
                <a:tc>
                  <a:txBody>
                    <a:bodyPr/>
                    <a:lstStyle/>
                    <a:p>
                      <a:r>
                        <a:rPr sz="1200">
                          <a:solidFill>
                            <a:srgbClr val="17334B"/>
                          </a:solidFill>
                          <a:latin typeface="Arial"/>
                          <a:ea typeface="Arial"/>
                          <a:cs typeface="Arial"/>
                        </a:rPr>
                        <a:t>Walk document order across paragraphs and tables; preserve table and row tags</a:t>
                      </a:r>
                    </a:p>
                  </a:txBody>
                  <a:tcPr marL="85725" marR="66675" marT="76200" marB="76200"/>
                </a:tc>
              </a:tr>
            </a:tbl>
          </a:graphicData>
        </a:graphic>
      </p:graphicFrame>
      <p:sp>
        <p:nvSpPr>
          <p:cNvPr id="5" name="">
            <a:extLst xmlns:a="http://schemas.openxmlformats.org/drawingml/2006/main">
              <a:ext uri="{FF2B5EF4-FFF2-40B4-BE49-F238E27FC236}">
                <a16:creationId xmlns:a16="http://schemas.microsoft.com/office/drawing/2014/main" id="{F046460A-A683-4767-B43A-A5BCE562B09C}"/>
              </a:ext>
            </a:extLst>
          </p:cNvPr>
          <p:cNvSpPr>
            <a:spLocks xmlns:a="http://schemas.openxmlformats.org/drawingml/2006/main" noGrp="1"/>
          </p:cNvSpPr>
          <p:nvPr/>
        </p:nvSpPr>
        <p:spPr>
          <a:xfrm xmlns:a="http://schemas.openxmlformats.org/drawingml/2006/main">
            <a:off x="685800" y="5486400"/>
            <a:ext cx="10820400" cy="552450"/>
          </a:xfrm>
          <a:prstGeom xmlns:a="http://schemas.openxmlformats.org/drawingml/2006/main" prst="roundRect">
            <a:avLst>
              <a:gd name="adj" fmla="val 20690"/>
            </a:avLst>
          </a:prstGeom>
          <a:solidFill xmlns:a="http://schemas.openxmlformats.org/drawingml/2006/main">
            <a:srgbClr val="F9F1DF"/>
          </a:solidFill>
          <a:ln xmlns:a="http://schemas.openxmlformats.org/drawingml/2006/main" w="11430">
            <a:solidFill>
              <a:srgbClr val="F9F1DF"/>
            </a:solidFill>
            <a:prstDash val="solid"/>
          </a:ln>
        </p:spPr>
      </p:sp>
      <p:sp>
        <p:nvSpPr>
          <p:cNvPr id="6" name="">
            <a:extLst xmlns:a="http://schemas.openxmlformats.org/drawingml/2006/main">
              <a:ext uri="{FF2B5EF4-FFF2-40B4-BE49-F238E27FC236}">
                <a16:creationId xmlns:a16="http://schemas.microsoft.com/office/drawing/2014/main" id="{284E4AD1-90FB-4DB9-BC57-6574B3E544A1}"/>
              </a:ext>
            </a:extLst>
          </p:cNvPr>
          <p:cNvSpPr>
            <a:spLocks xmlns:a="http://schemas.openxmlformats.org/drawingml/2006/main" noGrp="1"/>
          </p:cNvSpPr>
          <p:nvPr/>
        </p:nvSpPr>
        <p:spPr>
          <a:xfrm xmlns:a="http://schemas.openxmlformats.org/drawingml/2006/main">
            <a:off x="895350" y="5572125"/>
            <a:ext cx="1038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The PDF cover was visually inspected; full-document PII counts remain unknown until OCR runs and is reviewed.</a:t>
            </a:r>
          </a:p>
        </p:txBody>
      </p:sp>
      <p:sp>
        <p:nvSpPr>
          <p:cNvPr id="7" name="">
            <a:extLst xmlns:a="http://schemas.openxmlformats.org/drawingml/2006/main">
              <a:ext uri="{FF2B5EF4-FFF2-40B4-BE49-F238E27FC236}">
                <a16:creationId xmlns:a16="http://schemas.microsoft.com/office/drawing/2014/main" id="{3BEA773C-B146-4BB6-BED6-4B75736548E9}"/>
              </a:ext>
            </a:extLst>
          </p:cNvPr>
          <p:cNvSpPr>
            <a:spLocks xmlns:a="http://schemas.openxmlformats.org/drawingml/2006/main" noGrp="1"/>
          </p:cNvSpPr>
          <p:nvPr/>
        </p:nvSpPr>
        <p:spPr>
          <a:xfrm xmlns:a="http://schemas.openxmlformats.org/drawingml/2006/main">
            <a:off x="685800" y="655320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48485"/>
          </a:bodyPr>
          <a:lstStyle xmlns:a="http://schemas.openxmlformats.org/drawingml/2006/main"/>
          <a:p xmlns:a="http://schemas.openxmlformats.org/drawingml/2006/main">
            <a:pPr algn="l">
              <a:buNone/>
              <a:defRPr sz="825" b="0">
                <a:solidFill>
                  <a:srgbClr val="536D81"/>
                </a:solidFill>
                <a:latin typeface="Arial"/>
                <a:ea typeface="Arial"/>
                <a:cs typeface="Arial"/>
              </a:defRPr>
            </a:pPr>
            <a:r>
              <a:rPr sz="825" b="0">
                <a:solidFill>
                  <a:srgbClr val="536D81"/>
                </a:solidFill>
                <a:latin typeface="Arial"/>
                <a:ea typeface="Arial"/>
                <a:cs typeface="Arial"/>
              </a:rPr>
              <a:t>OPTIV  ·  VIT 2026  |  CASE STUDY 2  |  03</a:t>
            </a:r>
          </a:p>
        </p:txBody>
      </p:sp>
    </p:spTree>
    <p:extLst>
      <p:ext uri="{BB962C8B-B14F-4D97-AF65-F5344CB8AC3E}">
        <p14:creationId xmlns:p14="http://schemas.microsoft.com/office/powerpoint/2010/main" val="945805077"/>
      </p:ext>
    </p:extLst>
  </p:cSld>
</p:sld>
</file>

<file path=ppt/slides/slide4.xml><?xml version="1.0" encoding="utf-8"?>
<p:sld xmlns:p="http://schemas.openxmlformats.org/presentationml/2006/main">
  <p:cSld>
    <p:bg>
      <p:bgPr>
        <a:solidFill xmlns:a="http://schemas.openxmlformats.org/drawingml/2006/main">
          <a:srgbClr val="F3F6F8"/>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4703F344-0D5F-459E-9DAB-C267C0AB677F}"/>
              </a:ext>
            </a:extLst>
          </p:cNvPr>
          <p:cNvSpPr>
            <a:spLocks xmlns:a="http://schemas.openxmlformats.org/drawingml/2006/main" noGrp="1"/>
          </p:cNvSpPr>
          <p:nvPr/>
        </p:nvSpPr>
        <p:spPr>
          <a:xfrm xmlns:a="http://schemas.openxmlformats.org/drawingml/2006/main">
            <a:off x="685800" y="20955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762"/>
          </a:bodyPr>
          <a:lstStyle xmlns:a="http://schemas.openxmlformats.org/drawingml/2006/main"/>
          <a:p xmlns:a="http://schemas.openxmlformats.org/drawingml/2006/main">
            <a:pPr algn="l">
              <a:buNone/>
              <a:defRPr sz="1050" b="1">
                <a:solidFill>
                  <a:srgbClr val="187A83"/>
                </a:solidFill>
                <a:latin typeface="Arial"/>
                <a:ea typeface="Arial"/>
                <a:cs typeface="Arial"/>
              </a:defRPr>
            </a:pPr>
            <a:r>
              <a:rPr sz="1050" b="1">
                <a:solidFill>
                  <a:srgbClr val="187A83"/>
                </a:solidFill>
                <a:latin typeface="Arial"/>
                <a:ea typeface="Arial"/>
                <a:cs typeface="Arial"/>
              </a:rPr>
              <a:t>CASE STUDY 2  /  CADENCE</a:t>
            </a:r>
          </a:p>
        </p:txBody>
      </p:sp>
      <p:sp>
        <p:nvSpPr>
          <p:cNvPr id="2" name="">
            <a:extLst xmlns:a="http://schemas.openxmlformats.org/drawingml/2006/main">
              <a:ext uri="{FF2B5EF4-FFF2-40B4-BE49-F238E27FC236}">
                <a16:creationId xmlns:a16="http://schemas.microsoft.com/office/drawing/2014/main" id="{3ACE51F1-BD95-4CD7-B91E-3A1ABFBE85FF}"/>
              </a:ext>
            </a:extLst>
          </p:cNvPr>
          <p:cNvSpPr>
            <a:spLocks xmlns:a="http://schemas.openxmlformats.org/drawingml/2006/main" noGrp="1"/>
          </p:cNvSpPr>
          <p:nvPr/>
        </p:nvSpPr>
        <p:spPr>
          <a:xfrm xmlns:a="http://schemas.openxmlformats.org/drawingml/2006/main">
            <a:off x="685800" y="4953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850" b="1">
                <a:solidFill>
                  <a:srgbClr val="102C49"/>
                </a:solidFill>
                <a:latin typeface="Arial"/>
                <a:ea typeface="Arial"/>
                <a:cs typeface="Arial"/>
              </a:defRPr>
            </a:pPr>
            <a:r>
              <a:rPr sz="2850" b="1">
                <a:solidFill>
                  <a:srgbClr val="102C49"/>
                </a:solidFill>
                <a:latin typeface="Arial"/>
                <a:ea typeface="Arial"/>
                <a:cs typeface="Arial"/>
              </a:rPr>
              <a:t>Step-by-step processing path</a:t>
            </a:r>
          </a:p>
        </p:txBody>
      </p:sp>
      <p:sp>
        <p:nvSpPr>
          <p:cNvPr id="3" name="">
            <a:extLst xmlns:a="http://schemas.openxmlformats.org/drawingml/2006/main">
              <a:ext uri="{FF2B5EF4-FFF2-40B4-BE49-F238E27FC236}">
                <a16:creationId xmlns:a16="http://schemas.microsoft.com/office/drawing/2014/main" id="{67311043-3B2E-403A-8231-4771F280DABC}"/>
              </a:ext>
            </a:extLst>
          </p:cNvPr>
          <p:cNvSpPr>
            <a:spLocks xmlns:a="http://schemas.openxmlformats.org/drawingml/2006/main" noGrp="1"/>
          </p:cNvSpPr>
          <p:nvPr/>
        </p:nvSpPr>
        <p:spPr>
          <a:xfrm xmlns:a="http://schemas.openxmlformats.org/drawingml/2006/main">
            <a:off x="685800" y="1162050"/>
            <a:ext cx="10820400" cy="0"/>
          </a:xfrm>
          <a:prstGeom xmlns:a="http://schemas.openxmlformats.org/drawingml/2006/main" prst="line">
            <a:avLst/>
          </a:prstGeom>
          <a:noFill xmlns:a="http://schemas.openxmlformats.org/drawingml/2006/main"/>
          <a:ln xmlns:a="http://schemas.openxmlformats.org/drawingml/2006/main" w="11430">
            <a:solidFill>
              <a:srgbClr val="D5E0E7"/>
            </a:solidFill>
            <a:prstDash val="solid"/>
          </a:ln>
        </p:spPr>
      </p:sp>
      <p:sp>
        <p:nvSpPr>
          <p:cNvPr id="4" name="">
            <a:extLst xmlns:a="http://schemas.openxmlformats.org/drawingml/2006/main">
              <a:ext uri="{FF2B5EF4-FFF2-40B4-BE49-F238E27FC236}">
                <a16:creationId xmlns:a16="http://schemas.microsoft.com/office/drawing/2014/main" id="{191B6D95-CEE5-4424-AD4C-18780B4D1F53}"/>
              </a:ext>
            </a:extLst>
          </p:cNvPr>
          <p:cNvSpPr>
            <a:spLocks xmlns:a="http://schemas.openxmlformats.org/drawingml/2006/main" noGrp="1"/>
          </p:cNvSpPr>
          <p:nvPr/>
        </p:nvSpPr>
        <p:spPr>
          <a:xfrm xmlns:a="http://schemas.openxmlformats.org/drawingml/2006/main">
            <a:off x="685800" y="2228850"/>
            <a:ext cx="1371600" cy="180975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1430">
            <a:solidFill>
              <a:srgbClr val="D5E0E7"/>
            </a:solidFill>
            <a:prstDash val="solid"/>
          </a:ln>
        </p:spPr>
      </p:sp>
      <p:sp>
        <p:nvSpPr>
          <p:cNvPr id="5" name="">
            <a:extLst xmlns:a="http://schemas.openxmlformats.org/drawingml/2006/main">
              <a:ext uri="{FF2B5EF4-FFF2-40B4-BE49-F238E27FC236}">
                <a16:creationId xmlns:a16="http://schemas.microsoft.com/office/drawing/2014/main" id="{5F0D77F0-0713-41F3-8ADC-FDA93BF0E099}"/>
              </a:ext>
            </a:extLst>
          </p:cNvPr>
          <p:cNvSpPr>
            <a:spLocks xmlns:a="http://schemas.openxmlformats.org/drawingml/2006/main" noGrp="1"/>
          </p:cNvSpPr>
          <p:nvPr/>
        </p:nvSpPr>
        <p:spPr>
          <a:xfrm xmlns:a="http://schemas.openxmlformats.org/drawingml/2006/main">
            <a:off x="685800" y="2228850"/>
            <a:ext cx="66675" cy="1809750"/>
          </a:xfrm>
          <a:prstGeom xmlns:a="http://schemas.openxmlformats.org/drawingml/2006/main" prst="rect">
            <a:avLst/>
          </a:prstGeom>
          <a:solidFill xmlns:a="http://schemas.openxmlformats.org/drawingml/2006/main">
            <a:srgbClr val="187A83"/>
          </a:solidFill>
          <a:ln xmlns:a="http://schemas.openxmlformats.org/drawingml/2006/main" w="0">
            <a:solidFill>
              <a:srgbClr val="187A83"/>
            </a:solidFill>
            <a:prstDash val="solid"/>
          </a:ln>
        </p:spPr>
      </p:sp>
      <p:sp>
        <p:nvSpPr>
          <p:cNvPr id="6" name="">
            <a:extLst xmlns:a="http://schemas.openxmlformats.org/drawingml/2006/main">
              <a:ext uri="{FF2B5EF4-FFF2-40B4-BE49-F238E27FC236}">
                <a16:creationId xmlns:a16="http://schemas.microsoft.com/office/drawing/2014/main" id="{FF636540-63B5-4631-9729-56F7650EDC0C}"/>
              </a:ext>
            </a:extLst>
          </p:cNvPr>
          <p:cNvSpPr>
            <a:spLocks xmlns:a="http://schemas.openxmlformats.org/drawingml/2006/main" noGrp="1"/>
          </p:cNvSpPr>
          <p:nvPr/>
        </p:nvSpPr>
        <p:spPr>
          <a:xfrm xmlns:a="http://schemas.openxmlformats.org/drawingml/2006/main">
            <a:off x="857250" y="2324100"/>
            <a:ext cx="1085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01  Intake</a:t>
            </a:r>
          </a:p>
        </p:txBody>
      </p:sp>
      <p:sp>
        <p:nvSpPr>
          <p:cNvPr id="7" name="">
            <a:extLst xmlns:a="http://schemas.openxmlformats.org/drawingml/2006/main">
              <a:ext uri="{FF2B5EF4-FFF2-40B4-BE49-F238E27FC236}">
                <a16:creationId xmlns:a16="http://schemas.microsoft.com/office/drawing/2014/main" id="{069BBC19-152F-4FA0-984F-CC13255D6852}"/>
              </a:ext>
            </a:extLst>
          </p:cNvPr>
          <p:cNvSpPr>
            <a:spLocks xmlns:a="http://schemas.openxmlformats.org/drawingml/2006/main" noGrp="1"/>
          </p:cNvSpPr>
          <p:nvPr/>
        </p:nvSpPr>
        <p:spPr>
          <a:xfrm xmlns:a="http://schemas.openxmlformats.org/drawingml/2006/main">
            <a:off x="857250" y="2628900"/>
            <a:ext cx="10858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File name, type, size and integrity</a:t>
            </a:r>
          </a:p>
        </p:txBody>
      </p:sp>
      <p:sp>
        <p:nvSpPr>
          <p:cNvPr id="8" name="">
            <a:extLst xmlns:a="http://schemas.openxmlformats.org/drawingml/2006/main">
              <a:ext uri="{FF2B5EF4-FFF2-40B4-BE49-F238E27FC236}">
                <a16:creationId xmlns:a16="http://schemas.microsoft.com/office/drawing/2014/main" id="{45272387-835A-4148-BE1F-FDB56F4E1E83}"/>
              </a:ext>
            </a:extLst>
          </p:cNvPr>
          <p:cNvSpPr>
            <a:spLocks xmlns:a="http://schemas.openxmlformats.org/drawingml/2006/main" noGrp="1"/>
          </p:cNvSpPr>
          <p:nvPr/>
        </p:nvSpPr>
        <p:spPr>
          <a:xfrm xmlns:a="http://schemas.openxmlformats.org/drawingml/2006/main">
            <a:off x="2076450" y="3019425"/>
            <a:ext cx="152400" cy="171450"/>
          </a:xfrm>
          <a:prstGeom xmlns:a="http://schemas.openxmlformats.org/drawingml/2006/main" prst="rightArrow">
            <a:avLst/>
          </a:prstGeom>
          <a:solidFill xmlns:a="http://schemas.openxmlformats.org/drawingml/2006/main">
            <a:srgbClr val="D6AA4B"/>
          </a:solidFill>
          <a:ln xmlns:a="http://schemas.openxmlformats.org/drawingml/2006/main" w="0">
            <a:solidFill>
              <a:srgbClr val="D6AA4B"/>
            </a:solidFill>
            <a:prstDash val="solid"/>
          </a:ln>
        </p:spPr>
      </p:sp>
      <p:sp>
        <p:nvSpPr>
          <p:cNvPr id="9" name="">
            <a:extLst xmlns:a="http://schemas.openxmlformats.org/drawingml/2006/main">
              <a:ext uri="{FF2B5EF4-FFF2-40B4-BE49-F238E27FC236}">
                <a16:creationId xmlns:a16="http://schemas.microsoft.com/office/drawing/2014/main" id="{B726BC1F-3A96-44F9-BF0F-F813CF014699}"/>
              </a:ext>
            </a:extLst>
          </p:cNvPr>
          <p:cNvSpPr>
            <a:spLocks xmlns:a="http://schemas.openxmlformats.org/drawingml/2006/main" noGrp="1"/>
          </p:cNvSpPr>
          <p:nvPr/>
        </p:nvSpPr>
        <p:spPr>
          <a:xfrm xmlns:a="http://schemas.openxmlformats.org/drawingml/2006/main">
            <a:off x="2228850" y="2228850"/>
            <a:ext cx="1371600" cy="180975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1430">
            <a:solidFill>
              <a:srgbClr val="D5E0E7"/>
            </a:solidFill>
            <a:prstDash val="solid"/>
          </a:ln>
        </p:spPr>
      </p:sp>
      <p:sp>
        <p:nvSpPr>
          <p:cNvPr id="10" name="">
            <a:extLst xmlns:a="http://schemas.openxmlformats.org/drawingml/2006/main">
              <a:ext uri="{FF2B5EF4-FFF2-40B4-BE49-F238E27FC236}">
                <a16:creationId xmlns:a16="http://schemas.microsoft.com/office/drawing/2014/main" id="{BB14FAE1-0130-4B36-8098-A43186F3EFCA}"/>
              </a:ext>
            </a:extLst>
          </p:cNvPr>
          <p:cNvSpPr>
            <a:spLocks xmlns:a="http://schemas.openxmlformats.org/drawingml/2006/main" noGrp="1"/>
          </p:cNvSpPr>
          <p:nvPr/>
        </p:nvSpPr>
        <p:spPr>
          <a:xfrm xmlns:a="http://schemas.openxmlformats.org/drawingml/2006/main">
            <a:off x="2228850" y="2228850"/>
            <a:ext cx="66675" cy="1809750"/>
          </a:xfrm>
          <a:prstGeom xmlns:a="http://schemas.openxmlformats.org/drawingml/2006/main" prst="rect">
            <a:avLst/>
          </a:prstGeom>
          <a:solidFill xmlns:a="http://schemas.openxmlformats.org/drawingml/2006/main">
            <a:srgbClr val="187A83"/>
          </a:solidFill>
          <a:ln xmlns:a="http://schemas.openxmlformats.org/drawingml/2006/main" w="0">
            <a:solidFill>
              <a:srgbClr val="187A83"/>
            </a:solidFill>
            <a:prstDash val="solid"/>
          </a:ln>
        </p:spPr>
      </p:sp>
      <p:sp>
        <p:nvSpPr>
          <p:cNvPr id="11" name="">
            <a:extLst xmlns:a="http://schemas.openxmlformats.org/drawingml/2006/main">
              <a:ext uri="{FF2B5EF4-FFF2-40B4-BE49-F238E27FC236}">
                <a16:creationId xmlns:a16="http://schemas.microsoft.com/office/drawing/2014/main" id="{A9C22AB9-1896-406D-AA55-645D688B2B22}"/>
              </a:ext>
            </a:extLst>
          </p:cNvPr>
          <p:cNvSpPr>
            <a:spLocks xmlns:a="http://schemas.openxmlformats.org/drawingml/2006/main" noGrp="1"/>
          </p:cNvSpPr>
          <p:nvPr/>
        </p:nvSpPr>
        <p:spPr>
          <a:xfrm xmlns:a="http://schemas.openxmlformats.org/drawingml/2006/main">
            <a:off x="2400300" y="2324100"/>
            <a:ext cx="1085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02  Route</a:t>
            </a:r>
          </a:p>
        </p:txBody>
      </p:sp>
      <p:sp>
        <p:nvSpPr>
          <p:cNvPr id="12" name="">
            <a:extLst xmlns:a="http://schemas.openxmlformats.org/drawingml/2006/main">
              <a:ext uri="{FF2B5EF4-FFF2-40B4-BE49-F238E27FC236}">
                <a16:creationId xmlns:a16="http://schemas.microsoft.com/office/drawing/2014/main" id="{682C7A0E-6A8E-4E06-BAB9-2407D62CC9F7}"/>
              </a:ext>
            </a:extLst>
          </p:cNvPr>
          <p:cNvSpPr>
            <a:spLocks xmlns:a="http://schemas.openxmlformats.org/drawingml/2006/main" noGrp="1"/>
          </p:cNvSpPr>
          <p:nvPr/>
        </p:nvSpPr>
        <p:spPr>
          <a:xfrm xmlns:a="http://schemas.openxmlformats.org/drawingml/2006/main">
            <a:off x="2400300" y="2628900"/>
            <a:ext cx="10858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Choose PDF, DOCX, PPTX, XLSX or text adapter</a:t>
            </a:r>
          </a:p>
        </p:txBody>
      </p:sp>
      <p:sp>
        <p:nvSpPr>
          <p:cNvPr id="13" name="">
            <a:extLst xmlns:a="http://schemas.openxmlformats.org/drawingml/2006/main">
              <a:ext uri="{FF2B5EF4-FFF2-40B4-BE49-F238E27FC236}">
                <a16:creationId xmlns:a16="http://schemas.microsoft.com/office/drawing/2014/main" id="{4015914E-9F57-4274-AEA6-B47A24F6878B}"/>
              </a:ext>
            </a:extLst>
          </p:cNvPr>
          <p:cNvSpPr>
            <a:spLocks xmlns:a="http://schemas.openxmlformats.org/drawingml/2006/main" noGrp="1"/>
          </p:cNvSpPr>
          <p:nvPr/>
        </p:nvSpPr>
        <p:spPr>
          <a:xfrm xmlns:a="http://schemas.openxmlformats.org/drawingml/2006/main">
            <a:off x="3619500" y="3019425"/>
            <a:ext cx="152400" cy="171450"/>
          </a:xfrm>
          <a:prstGeom xmlns:a="http://schemas.openxmlformats.org/drawingml/2006/main" prst="rightArrow">
            <a:avLst/>
          </a:prstGeom>
          <a:solidFill xmlns:a="http://schemas.openxmlformats.org/drawingml/2006/main">
            <a:srgbClr val="D6AA4B"/>
          </a:solidFill>
          <a:ln xmlns:a="http://schemas.openxmlformats.org/drawingml/2006/main" w="0">
            <a:solidFill>
              <a:srgbClr val="D6AA4B"/>
            </a:solidFill>
            <a:prstDash val="solid"/>
          </a:ln>
        </p:spPr>
      </p:sp>
      <p:sp>
        <p:nvSpPr>
          <p:cNvPr id="14" name="">
            <a:extLst xmlns:a="http://schemas.openxmlformats.org/drawingml/2006/main">
              <a:ext uri="{FF2B5EF4-FFF2-40B4-BE49-F238E27FC236}">
                <a16:creationId xmlns:a16="http://schemas.microsoft.com/office/drawing/2014/main" id="{59F5951A-F045-482E-B388-CC47DFAAF753}"/>
              </a:ext>
            </a:extLst>
          </p:cNvPr>
          <p:cNvSpPr>
            <a:spLocks xmlns:a="http://schemas.openxmlformats.org/drawingml/2006/main" noGrp="1"/>
          </p:cNvSpPr>
          <p:nvPr/>
        </p:nvSpPr>
        <p:spPr>
          <a:xfrm xmlns:a="http://schemas.openxmlformats.org/drawingml/2006/main">
            <a:off x="3771900" y="2228850"/>
            <a:ext cx="1371600" cy="180975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1430">
            <a:solidFill>
              <a:srgbClr val="D5E0E7"/>
            </a:solidFill>
            <a:prstDash val="solid"/>
          </a:ln>
        </p:spPr>
      </p:sp>
      <p:sp>
        <p:nvSpPr>
          <p:cNvPr id="15" name="">
            <a:extLst xmlns:a="http://schemas.openxmlformats.org/drawingml/2006/main">
              <a:ext uri="{FF2B5EF4-FFF2-40B4-BE49-F238E27FC236}">
                <a16:creationId xmlns:a16="http://schemas.microsoft.com/office/drawing/2014/main" id="{59A2774C-ACEE-46A2-8177-E230BF065614}"/>
              </a:ext>
            </a:extLst>
          </p:cNvPr>
          <p:cNvSpPr>
            <a:spLocks xmlns:a="http://schemas.openxmlformats.org/drawingml/2006/main" noGrp="1"/>
          </p:cNvSpPr>
          <p:nvPr/>
        </p:nvSpPr>
        <p:spPr>
          <a:xfrm xmlns:a="http://schemas.openxmlformats.org/drawingml/2006/main">
            <a:off x="3771900" y="2228850"/>
            <a:ext cx="66675" cy="1809750"/>
          </a:xfrm>
          <a:prstGeom xmlns:a="http://schemas.openxmlformats.org/drawingml/2006/main" prst="rect">
            <a:avLst/>
          </a:prstGeom>
          <a:solidFill xmlns:a="http://schemas.openxmlformats.org/drawingml/2006/main">
            <a:srgbClr val="187A83"/>
          </a:solidFill>
          <a:ln xmlns:a="http://schemas.openxmlformats.org/drawingml/2006/main" w="0">
            <a:solidFill>
              <a:srgbClr val="187A83"/>
            </a:solidFill>
            <a:prstDash val="solid"/>
          </a:ln>
        </p:spPr>
      </p:sp>
      <p:sp>
        <p:nvSpPr>
          <p:cNvPr id="16" name="">
            <a:extLst xmlns:a="http://schemas.openxmlformats.org/drawingml/2006/main">
              <a:ext uri="{FF2B5EF4-FFF2-40B4-BE49-F238E27FC236}">
                <a16:creationId xmlns:a16="http://schemas.microsoft.com/office/drawing/2014/main" id="{EBFEA6FF-CB08-4273-B42B-F7AFEECC2800}"/>
              </a:ext>
            </a:extLst>
          </p:cNvPr>
          <p:cNvSpPr>
            <a:spLocks xmlns:a="http://schemas.openxmlformats.org/drawingml/2006/main" noGrp="1"/>
          </p:cNvSpPr>
          <p:nvPr/>
        </p:nvSpPr>
        <p:spPr>
          <a:xfrm xmlns:a="http://schemas.openxmlformats.org/drawingml/2006/main">
            <a:off x="3943350" y="2324100"/>
            <a:ext cx="1085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03  Extract</a:t>
            </a:r>
          </a:p>
        </p:txBody>
      </p:sp>
      <p:sp>
        <p:nvSpPr>
          <p:cNvPr id="17" name="">
            <a:extLst xmlns:a="http://schemas.openxmlformats.org/drawingml/2006/main">
              <a:ext uri="{FF2B5EF4-FFF2-40B4-BE49-F238E27FC236}">
                <a16:creationId xmlns:a16="http://schemas.microsoft.com/office/drawing/2014/main" id="{B676AEA1-C0DA-4A27-994A-B0F6C9865D97}"/>
              </a:ext>
            </a:extLst>
          </p:cNvPr>
          <p:cNvSpPr>
            <a:spLocks xmlns:a="http://schemas.openxmlformats.org/drawingml/2006/main" noGrp="1"/>
          </p:cNvSpPr>
          <p:nvPr/>
        </p:nvSpPr>
        <p:spPr>
          <a:xfrm xmlns:a="http://schemas.openxmlformats.org/drawingml/2006/main">
            <a:off x="3943350" y="2628900"/>
            <a:ext cx="10858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Read page/slide/paragraph/table content; OCR scanned pages</a:t>
            </a:r>
          </a:p>
        </p:txBody>
      </p:sp>
      <p:sp>
        <p:nvSpPr>
          <p:cNvPr id="18" name="">
            <a:extLst xmlns:a="http://schemas.openxmlformats.org/drawingml/2006/main">
              <a:ext uri="{FF2B5EF4-FFF2-40B4-BE49-F238E27FC236}">
                <a16:creationId xmlns:a16="http://schemas.microsoft.com/office/drawing/2014/main" id="{6C296F3B-E523-4C42-BB9A-2E57ED1FBA72}"/>
              </a:ext>
            </a:extLst>
          </p:cNvPr>
          <p:cNvSpPr>
            <a:spLocks xmlns:a="http://schemas.openxmlformats.org/drawingml/2006/main" noGrp="1"/>
          </p:cNvSpPr>
          <p:nvPr/>
        </p:nvSpPr>
        <p:spPr>
          <a:xfrm xmlns:a="http://schemas.openxmlformats.org/drawingml/2006/main">
            <a:off x="5162550" y="3019425"/>
            <a:ext cx="152400" cy="171450"/>
          </a:xfrm>
          <a:prstGeom xmlns:a="http://schemas.openxmlformats.org/drawingml/2006/main" prst="rightArrow">
            <a:avLst/>
          </a:prstGeom>
          <a:solidFill xmlns:a="http://schemas.openxmlformats.org/drawingml/2006/main">
            <a:srgbClr val="D6AA4B"/>
          </a:solidFill>
          <a:ln xmlns:a="http://schemas.openxmlformats.org/drawingml/2006/main" w="0">
            <a:solidFill>
              <a:srgbClr val="D6AA4B"/>
            </a:solidFill>
            <a:prstDash val="solid"/>
          </a:ln>
        </p:spPr>
      </p:sp>
      <p:sp>
        <p:nvSpPr>
          <p:cNvPr id="19" name="">
            <a:extLst xmlns:a="http://schemas.openxmlformats.org/drawingml/2006/main">
              <a:ext uri="{FF2B5EF4-FFF2-40B4-BE49-F238E27FC236}">
                <a16:creationId xmlns:a16="http://schemas.microsoft.com/office/drawing/2014/main" id="{9205F63E-5F06-4A24-94BD-B336EC7088C8}"/>
              </a:ext>
            </a:extLst>
          </p:cNvPr>
          <p:cNvSpPr>
            <a:spLocks xmlns:a="http://schemas.openxmlformats.org/drawingml/2006/main" noGrp="1"/>
          </p:cNvSpPr>
          <p:nvPr/>
        </p:nvSpPr>
        <p:spPr>
          <a:xfrm xmlns:a="http://schemas.openxmlformats.org/drawingml/2006/main">
            <a:off x="5314950" y="2228850"/>
            <a:ext cx="1371600" cy="180975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1430">
            <a:solidFill>
              <a:srgbClr val="D5E0E7"/>
            </a:solidFill>
            <a:prstDash val="solid"/>
          </a:ln>
        </p:spPr>
      </p:sp>
      <p:sp>
        <p:nvSpPr>
          <p:cNvPr id="20" name="">
            <a:extLst xmlns:a="http://schemas.openxmlformats.org/drawingml/2006/main">
              <a:ext uri="{FF2B5EF4-FFF2-40B4-BE49-F238E27FC236}">
                <a16:creationId xmlns:a16="http://schemas.microsoft.com/office/drawing/2014/main" id="{A8C7C0BE-51AE-4A11-A7E1-09538B74A43B}"/>
              </a:ext>
            </a:extLst>
          </p:cNvPr>
          <p:cNvSpPr>
            <a:spLocks xmlns:a="http://schemas.openxmlformats.org/drawingml/2006/main" noGrp="1"/>
          </p:cNvSpPr>
          <p:nvPr/>
        </p:nvSpPr>
        <p:spPr>
          <a:xfrm xmlns:a="http://schemas.openxmlformats.org/drawingml/2006/main">
            <a:off x="5314950" y="2228850"/>
            <a:ext cx="66675" cy="1809750"/>
          </a:xfrm>
          <a:prstGeom xmlns:a="http://schemas.openxmlformats.org/drawingml/2006/main" prst="rect">
            <a:avLst/>
          </a:prstGeom>
          <a:solidFill xmlns:a="http://schemas.openxmlformats.org/drawingml/2006/main">
            <a:srgbClr val="187A83"/>
          </a:solidFill>
          <a:ln xmlns:a="http://schemas.openxmlformats.org/drawingml/2006/main" w="0">
            <a:solidFill>
              <a:srgbClr val="187A83"/>
            </a:solidFill>
            <a:prstDash val="solid"/>
          </a:ln>
        </p:spPr>
      </p:sp>
      <p:sp>
        <p:nvSpPr>
          <p:cNvPr id="21" name="">
            <a:extLst xmlns:a="http://schemas.openxmlformats.org/drawingml/2006/main">
              <a:ext uri="{FF2B5EF4-FFF2-40B4-BE49-F238E27FC236}">
                <a16:creationId xmlns:a16="http://schemas.microsoft.com/office/drawing/2014/main" id="{4788F01B-D030-4FCC-A6DC-978FC6AEC57B}"/>
              </a:ext>
            </a:extLst>
          </p:cNvPr>
          <p:cNvSpPr>
            <a:spLocks xmlns:a="http://schemas.openxmlformats.org/drawingml/2006/main" noGrp="1"/>
          </p:cNvSpPr>
          <p:nvPr/>
        </p:nvSpPr>
        <p:spPr>
          <a:xfrm xmlns:a="http://schemas.openxmlformats.org/drawingml/2006/main">
            <a:off x="5486400" y="2324100"/>
            <a:ext cx="1085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04  Normalize</a:t>
            </a:r>
          </a:p>
        </p:txBody>
      </p:sp>
      <p:sp>
        <p:nvSpPr>
          <p:cNvPr id="22" name="">
            <a:extLst xmlns:a="http://schemas.openxmlformats.org/drawingml/2006/main">
              <a:ext uri="{FF2B5EF4-FFF2-40B4-BE49-F238E27FC236}">
                <a16:creationId xmlns:a16="http://schemas.microsoft.com/office/drawing/2014/main" id="{0E6B43B2-9A65-41DC-B681-DF29EC725E9C}"/>
              </a:ext>
            </a:extLst>
          </p:cNvPr>
          <p:cNvSpPr>
            <a:spLocks xmlns:a="http://schemas.openxmlformats.org/drawingml/2006/main" noGrp="1"/>
          </p:cNvSpPr>
          <p:nvPr/>
        </p:nvSpPr>
        <p:spPr>
          <a:xfrm xmlns:a="http://schemas.openxmlformats.org/drawingml/2006/main">
            <a:off x="5486400" y="2628900"/>
            <a:ext cx="10858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Create ordered text blocks with source locators</a:t>
            </a:r>
          </a:p>
        </p:txBody>
      </p:sp>
      <p:sp>
        <p:nvSpPr>
          <p:cNvPr id="23" name="">
            <a:extLst xmlns:a="http://schemas.openxmlformats.org/drawingml/2006/main">
              <a:ext uri="{FF2B5EF4-FFF2-40B4-BE49-F238E27FC236}">
                <a16:creationId xmlns:a16="http://schemas.microsoft.com/office/drawing/2014/main" id="{E622B3D8-D3EF-4488-9704-779DF569DBDA}"/>
              </a:ext>
            </a:extLst>
          </p:cNvPr>
          <p:cNvSpPr>
            <a:spLocks xmlns:a="http://schemas.openxmlformats.org/drawingml/2006/main" noGrp="1"/>
          </p:cNvSpPr>
          <p:nvPr/>
        </p:nvSpPr>
        <p:spPr>
          <a:xfrm xmlns:a="http://schemas.openxmlformats.org/drawingml/2006/main">
            <a:off x="6705600" y="3019425"/>
            <a:ext cx="152400" cy="171450"/>
          </a:xfrm>
          <a:prstGeom xmlns:a="http://schemas.openxmlformats.org/drawingml/2006/main" prst="rightArrow">
            <a:avLst/>
          </a:prstGeom>
          <a:solidFill xmlns:a="http://schemas.openxmlformats.org/drawingml/2006/main">
            <a:srgbClr val="D6AA4B"/>
          </a:solidFill>
          <a:ln xmlns:a="http://schemas.openxmlformats.org/drawingml/2006/main" w="0">
            <a:solidFill>
              <a:srgbClr val="D6AA4B"/>
            </a:solidFill>
            <a:prstDash val="solid"/>
          </a:ln>
        </p:spPr>
      </p:sp>
      <p:sp>
        <p:nvSpPr>
          <p:cNvPr id="24" name="">
            <a:extLst xmlns:a="http://schemas.openxmlformats.org/drawingml/2006/main">
              <a:ext uri="{FF2B5EF4-FFF2-40B4-BE49-F238E27FC236}">
                <a16:creationId xmlns:a16="http://schemas.microsoft.com/office/drawing/2014/main" id="{CA744184-8617-4600-B66E-18BED341903A}"/>
              </a:ext>
            </a:extLst>
          </p:cNvPr>
          <p:cNvSpPr>
            <a:spLocks xmlns:a="http://schemas.openxmlformats.org/drawingml/2006/main" noGrp="1"/>
          </p:cNvSpPr>
          <p:nvPr/>
        </p:nvSpPr>
        <p:spPr>
          <a:xfrm xmlns:a="http://schemas.openxmlformats.org/drawingml/2006/main">
            <a:off x="6858000" y="2228850"/>
            <a:ext cx="1371600" cy="180975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1430">
            <a:solidFill>
              <a:srgbClr val="D5E0E7"/>
            </a:solidFill>
            <a:prstDash val="solid"/>
          </a:ln>
        </p:spPr>
      </p:sp>
      <p:sp>
        <p:nvSpPr>
          <p:cNvPr id="25" name="">
            <a:extLst xmlns:a="http://schemas.openxmlformats.org/drawingml/2006/main">
              <a:ext uri="{FF2B5EF4-FFF2-40B4-BE49-F238E27FC236}">
                <a16:creationId xmlns:a16="http://schemas.microsoft.com/office/drawing/2014/main" id="{89CA9ED5-B05A-484B-ABAA-4E32E3EABAFD}"/>
              </a:ext>
            </a:extLst>
          </p:cNvPr>
          <p:cNvSpPr>
            <a:spLocks xmlns:a="http://schemas.openxmlformats.org/drawingml/2006/main" noGrp="1"/>
          </p:cNvSpPr>
          <p:nvPr/>
        </p:nvSpPr>
        <p:spPr>
          <a:xfrm xmlns:a="http://schemas.openxmlformats.org/drawingml/2006/main">
            <a:off x="6858000" y="2228850"/>
            <a:ext cx="66675" cy="1809750"/>
          </a:xfrm>
          <a:prstGeom xmlns:a="http://schemas.openxmlformats.org/drawingml/2006/main" prst="rect">
            <a:avLst/>
          </a:prstGeom>
          <a:solidFill xmlns:a="http://schemas.openxmlformats.org/drawingml/2006/main">
            <a:srgbClr val="187A83"/>
          </a:solidFill>
          <a:ln xmlns:a="http://schemas.openxmlformats.org/drawingml/2006/main" w="0">
            <a:solidFill>
              <a:srgbClr val="187A83"/>
            </a:solidFill>
            <a:prstDash val="solid"/>
          </a:ln>
        </p:spPr>
      </p:sp>
      <p:sp>
        <p:nvSpPr>
          <p:cNvPr id="26" name="">
            <a:extLst xmlns:a="http://schemas.openxmlformats.org/drawingml/2006/main">
              <a:ext uri="{FF2B5EF4-FFF2-40B4-BE49-F238E27FC236}">
                <a16:creationId xmlns:a16="http://schemas.microsoft.com/office/drawing/2014/main" id="{C9FE8E3B-619D-4459-8296-35B4667C1780}"/>
              </a:ext>
            </a:extLst>
          </p:cNvPr>
          <p:cNvSpPr>
            <a:spLocks xmlns:a="http://schemas.openxmlformats.org/drawingml/2006/main" noGrp="1"/>
          </p:cNvSpPr>
          <p:nvPr/>
        </p:nvSpPr>
        <p:spPr>
          <a:xfrm xmlns:a="http://schemas.openxmlformats.org/drawingml/2006/main">
            <a:off x="7029450" y="2324100"/>
            <a:ext cx="1085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05  Detect</a:t>
            </a:r>
          </a:p>
        </p:txBody>
      </p:sp>
      <p:sp>
        <p:nvSpPr>
          <p:cNvPr id="27" name="">
            <a:extLst xmlns:a="http://schemas.openxmlformats.org/drawingml/2006/main">
              <a:ext uri="{FF2B5EF4-FFF2-40B4-BE49-F238E27FC236}">
                <a16:creationId xmlns:a16="http://schemas.microsoft.com/office/drawing/2014/main" id="{D3A14677-ED7C-4ABA-830A-FF42CF13A19E}"/>
              </a:ext>
            </a:extLst>
          </p:cNvPr>
          <p:cNvSpPr>
            <a:spLocks xmlns:a="http://schemas.openxmlformats.org/drawingml/2006/main" noGrp="1"/>
          </p:cNvSpPr>
          <p:nvPr/>
        </p:nvSpPr>
        <p:spPr>
          <a:xfrm xmlns:a="http://schemas.openxmlformats.org/drawingml/2006/main">
            <a:off x="7029450" y="2628900"/>
            <a:ext cx="10858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Find supported patterns; tag entity type and source location</a:t>
            </a:r>
          </a:p>
        </p:txBody>
      </p:sp>
      <p:sp>
        <p:nvSpPr>
          <p:cNvPr id="28" name="">
            <a:extLst xmlns:a="http://schemas.openxmlformats.org/drawingml/2006/main">
              <a:ext uri="{FF2B5EF4-FFF2-40B4-BE49-F238E27FC236}">
                <a16:creationId xmlns:a16="http://schemas.microsoft.com/office/drawing/2014/main" id="{C175022B-5255-4E73-A932-17CE6797F708}"/>
              </a:ext>
            </a:extLst>
          </p:cNvPr>
          <p:cNvSpPr>
            <a:spLocks xmlns:a="http://schemas.openxmlformats.org/drawingml/2006/main" noGrp="1"/>
          </p:cNvSpPr>
          <p:nvPr/>
        </p:nvSpPr>
        <p:spPr>
          <a:xfrm xmlns:a="http://schemas.openxmlformats.org/drawingml/2006/main">
            <a:off x="8248650" y="3019425"/>
            <a:ext cx="152400" cy="171450"/>
          </a:xfrm>
          <a:prstGeom xmlns:a="http://schemas.openxmlformats.org/drawingml/2006/main" prst="rightArrow">
            <a:avLst/>
          </a:prstGeom>
          <a:solidFill xmlns:a="http://schemas.openxmlformats.org/drawingml/2006/main">
            <a:srgbClr val="D6AA4B"/>
          </a:solidFill>
          <a:ln xmlns:a="http://schemas.openxmlformats.org/drawingml/2006/main" w="0">
            <a:solidFill>
              <a:srgbClr val="D6AA4B"/>
            </a:solidFill>
            <a:prstDash val="solid"/>
          </a:ln>
        </p:spPr>
      </p:sp>
      <p:sp>
        <p:nvSpPr>
          <p:cNvPr id="29" name="">
            <a:extLst xmlns:a="http://schemas.openxmlformats.org/drawingml/2006/main">
              <a:ext uri="{FF2B5EF4-FFF2-40B4-BE49-F238E27FC236}">
                <a16:creationId xmlns:a16="http://schemas.microsoft.com/office/drawing/2014/main" id="{4E23663B-71BB-4695-9EF9-9E47B7268AC1}"/>
              </a:ext>
            </a:extLst>
          </p:cNvPr>
          <p:cNvSpPr>
            <a:spLocks xmlns:a="http://schemas.openxmlformats.org/drawingml/2006/main" noGrp="1"/>
          </p:cNvSpPr>
          <p:nvPr/>
        </p:nvSpPr>
        <p:spPr>
          <a:xfrm xmlns:a="http://schemas.openxmlformats.org/drawingml/2006/main">
            <a:off x="8401050" y="2228850"/>
            <a:ext cx="1371600" cy="180975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1430">
            <a:solidFill>
              <a:srgbClr val="D5E0E7"/>
            </a:solidFill>
            <a:prstDash val="solid"/>
          </a:ln>
        </p:spPr>
      </p:sp>
      <p:sp>
        <p:nvSpPr>
          <p:cNvPr id="30" name="">
            <a:extLst xmlns:a="http://schemas.openxmlformats.org/drawingml/2006/main">
              <a:ext uri="{FF2B5EF4-FFF2-40B4-BE49-F238E27FC236}">
                <a16:creationId xmlns:a16="http://schemas.microsoft.com/office/drawing/2014/main" id="{CBB1662A-6884-4594-A73D-4FAAFEE9D9E5}"/>
              </a:ext>
            </a:extLst>
          </p:cNvPr>
          <p:cNvSpPr>
            <a:spLocks xmlns:a="http://schemas.openxmlformats.org/drawingml/2006/main" noGrp="1"/>
          </p:cNvSpPr>
          <p:nvPr/>
        </p:nvSpPr>
        <p:spPr>
          <a:xfrm xmlns:a="http://schemas.openxmlformats.org/drawingml/2006/main">
            <a:off x="8401050" y="2228850"/>
            <a:ext cx="66675" cy="1809750"/>
          </a:xfrm>
          <a:prstGeom xmlns:a="http://schemas.openxmlformats.org/drawingml/2006/main" prst="rect">
            <a:avLst/>
          </a:prstGeom>
          <a:solidFill xmlns:a="http://schemas.openxmlformats.org/drawingml/2006/main">
            <a:srgbClr val="D6AA4B"/>
          </a:solidFill>
          <a:ln xmlns:a="http://schemas.openxmlformats.org/drawingml/2006/main" w="0">
            <a:solidFill>
              <a:srgbClr val="D6AA4B"/>
            </a:solidFill>
            <a:prstDash val="solid"/>
          </a:ln>
        </p:spPr>
      </p:sp>
      <p:sp>
        <p:nvSpPr>
          <p:cNvPr id="31" name="">
            <a:extLst xmlns:a="http://schemas.openxmlformats.org/drawingml/2006/main">
              <a:ext uri="{FF2B5EF4-FFF2-40B4-BE49-F238E27FC236}">
                <a16:creationId xmlns:a16="http://schemas.microsoft.com/office/drawing/2014/main" id="{AAF00AD5-502A-4639-B4FD-A35F0745C642}"/>
              </a:ext>
            </a:extLst>
          </p:cNvPr>
          <p:cNvSpPr>
            <a:spLocks xmlns:a="http://schemas.openxmlformats.org/drawingml/2006/main" noGrp="1"/>
          </p:cNvSpPr>
          <p:nvPr/>
        </p:nvSpPr>
        <p:spPr>
          <a:xfrm xmlns:a="http://schemas.openxmlformats.org/drawingml/2006/main">
            <a:off x="8572500" y="2324100"/>
            <a:ext cx="1085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06  Redact</a:t>
            </a:r>
          </a:p>
        </p:txBody>
      </p:sp>
      <p:sp>
        <p:nvSpPr>
          <p:cNvPr id="32" name="">
            <a:extLst xmlns:a="http://schemas.openxmlformats.org/drawingml/2006/main">
              <a:ext uri="{FF2B5EF4-FFF2-40B4-BE49-F238E27FC236}">
                <a16:creationId xmlns:a16="http://schemas.microsoft.com/office/drawing/2014/main" id="{0AE66E7A-F215-427E-86AF-3534D0292C3D}"/>
              </a:ext>
            </a:extLst>
          </p:cNvPr>
          <p:cNvSpPr>
            <a:spLocks xmlns:a="http://schemas.openxmlformats.org/drawingml/2006/main" noGrp="1"/>
          </p:cNvSpPr>
          <p:nvPr/>
        </p:nvSpPr>
        <p:spPr>
          <a:xfrm xmlns:a="http://schemas.openxmlformats.org/drawingml/2006/main">
            <a:off x="8572500" y="2628900"/>
            <a:ext cx="10858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Replace spans; resolve overlaps; preserve context</a:t>
            </a:r>
          </a:p>
        </p:txBody>
      </p:sp>
      <p:sp>
        <p:nvSpPr>
          <p:cNvPr id="33" name="">
            <a:extLst xmlns:a="http://schemas.openxmlformats.org/drawingml/2006/main">
              <a:ext uri="{FF2B5EF4-FFF2-40B4-BE49-F238E27FC236}">
                <a16:creationId xmlns:a16="http://schemas.microsoft.com/office/drawing/2014/main" id="{13F93052-A504-4A9B-9F02-8106011FD12C}"/>
              </a:ext>
            </a:extLst>
          </p:cNvPr>
          <p:cNvSpPr>
            <a:spLocks xmlns:a="http://schemas.openxmlformats.org/drawingml/2006/main" noGrp="1"/>
          </p:cNvSpPr>
          <p:nvPr/>
        </p:nvSpPr>
        <p:spPr>
          <a:xfrm xmlns:a="http://schemas.openxmlformats.org/drawingml/2006/main">
            <a:off x="9791700" y="3019425"/>
            <a:ext cx="152400" cy="171450"/>
          </a:xfrm>
          <a:prstGeom xmlns:a="http://schemas.openxmlformats.org/drawingml/2006/main" prst="rightArrow">
            <a:avLst/>
          </a:prstGeom>
          <a:solidFill xmlns:a="http://schemas.openxmlformats.org/drawingml/2006/main">
            <a:srgbClr val="D6AA4B"/>
          </a:solidFill>
          <a:ln xmlns:a="http://schemas.openxmlformats.org/drawingml/2006/main" w="0">
            <a:solidFill>
              <a:srgbClr val="D6AA4B"/>
            </a:solidFill>
            <a:prstDash val="solid"/>
          </a:ln>
        </p:spPr>
      </p:sp>
      <p:sp>
        <p:nvSpPr>
          <p:cNvPr id="34" name="">
            <a:extLst xmlns:a="http://schemas.openxmlformats.org/drawingml/2006/main">
              <a:ext uri="{FF2B5EF4-FFF2-40B4-BE49-F238E27FC236}">
                <a16:creationId xmlns:a16="http://schemas.microsoft.com/office/drawing/2014/main" id="{05C292CD-CB25-4CB9-89E3-1F0BB5BF000D}"/>
              </a:ext>
            </a:extLst>
          </p:cNvPr>
          <p:cNvSpPr>
            <a:spLocks xmlns:a="http://schemas.openxmlformats.org/drawingml/2006/main" noGrp="1"/>
          </p:cNvSpPr>
          <p:nvPr/>
        </p:nvSpPr>
        <p:spPr>
          <a:xfrm xmlns:a="http://schemas.openxmlformats.org/drawingml/2006/main">
            <a:off x="9944100" y="2228850"/>
            <a:ext cx="1371600" cy="180975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1430">
            <a:solidFill>
              <a:srgbClr val="D5E0E7"/>
            </a:solidFill>
            <a:prstDash val="solid"/>
          </a:ln>
        </p:spPr>
      </p:sp>
      <p:sp>
        <p:nvSpPr>
          <p:cNvPr id="35" name="">
            <a:extLst xmlns:a="http://schemas.openxmlformats.org/drawingml/2006/main">
              <a:ext uri="{FF2B5EF4-FFF2-40B4-BE49-F238E27FC236}">
                <a16:creationId xmlns:a16="http://schemas.microsoft.com/office/drawing/2014/main" id="{FB3F1CE7-5196-4C78-997D-7816CD1D1108}"/>
              </a:ext>
            </a:extLst>
          </p:cNvPr>
          <p:cNvSpPr>
            <a:spLocks xmlns:a="http://schemas.openxmlformats.org/drawingml/2006/main" noGrp="1"/>
          </p:cNvSpPr>
          <p:nvPr/>
        </p:nvSpPr>
        <p:spPr>
          <a:xfrm xmlns:a="http://schemas.openxmlformats.org/drawingml/2006/main">
            <a:off x="9944100" y="2228850"/>
            <a:ext cx="66675" cy="1809750"/>
          </a:xfrm>
          <a:prstGeom xmlns:a="http://schemas.openxmlformats.org/drawingml/2006/main" prst="rect">
            <a:avLst/>
          </a:prstGeom>
          <a:solidFill xmlns:a="http://schemas.openxmlformats.org/drawingml/2006/main">
            <a:srgbClr val="A14338"/>
          </a:solidFill>
          <a:ln xmlns:a="http://schemas.openxmlformats.org/drawingml/2006/main" w="0">
            <a:solidFill>
              <a:srgbClr val="A14338"/>
            </a:solidFill>
            <a:prstDash val="solid"/>
          </a:ln>
        </p:spPr>
      </p:sp>
      <p:sp>
        <p:nvSpPr>
          <p:cNvPr id="36" name="">
            <a:extLst xmlns:a="http://schemas.openxmlformats.org/drawingml/2006/main">
              <a:ext uri="{FF2B5EF4-FFF2-40B4-BE49-F238E27FC236}">
                <a16:creationId xmlns:a16="http://schemas.microsoft.com/office/drawing/2014/main" id="{1963CF7A-05D2-4D34-8865-C5E9C86D2CB0}"/>
              </a:ext>
            </a:extLst>
          </p:cNvPr>
          <p:cNvSpPr>
            <a:spLocks xmlns:a="http://schemas.openxmlformats.org/drawingml/2006/main" noGrp="1"/>
          </p:cNvSpPr>
          <p:nvPr/>
        </p:nvSpPr>
        <p:spPr>
          <a:xfrm xmlns:a="http://schemas.openxmlformats.org/drawingml/2006/main">
            <a:off x="10115550" y="2324100"/>
            <a:ext cx="1085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07  Review</a:t>
            </a:r>
          </a:p>
        </p:txBody>
      </p:sp>
      <p:sp>
        <p:nvSpPr>
          <p:cNvPr id="37" name="">
            <a:extLst xmlns:a="http://schemas.openxmlformats.org/drawingml/2006/main">
              <a:ext uri="{FF2B5EF4-FFF2-40B4-BE49-F238E27FC236}">
                <a16:creationId xmlns:a16="http://schemas.microsoft.com/office/drawing/2014/main" id="{5F7CFA7E-32D1-4851-B6C8-A78F076ED6EC}"/>
              </a:ext>
            </a:extLst>
          </p:cNvPr>
          <p:cNvSpPr>
            <a:spLocks xmlns:a="http://schemas.openxmlformats.org/drawingml/2006/main" noGrp="1"/>
          </p:cNvSpPr>
          <p:nvPr/>
        </p:nvSpPr>
        <p:spPr>
          <a:xfrm xmlns:a="http://schemas.openxmlformats.org/drawingml/2006/main">
            <a:off x="10115550" y="2628900"/>
            <a:ext cx="10858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Release reviewed redacted output or quarantine</a:t>
            </a:r>
          </a:p>
        </p:txBody>
      </p:sp>
      <p:sp>
        <p:nvSpPr>
          <p:cNvPr id="38" name="">
            <a:extLst xmlns:a="http://schemas.openxmlformats.org/drawingml/2006/main">
              <a:ext uri="{FF2B5EF4-FFF2-40B4-BE49-F238E27FC236}">
                <a16:creationId xmlns:a16="http://schemas.microsoft.com/office/drawing/2014/main" id="{DA2A2361-45F1-4E94-BD80-F312FEADB5CC}"/>
              </a:ext>
            </a:extLst>
          </p:cNvPr>
          <p:cNvSpPr>
            <a:spLocks xmlns:a="http://schemas.openxmlformats.org/drawingml/2006/main" noGrp="1"/>
          </p:cNvSpPr>
          <p:nvPr/>
        </p:nvSpPr>
        <p:spPr>
          <a:xfrm xmlns:a="http://schemas.openxmlformats.org/drawingml/2006/main">
            <a:off x="2095500" y="4686300"/>
            <a:ext cx="8001000" cy="781050"/>
          </a:xfrm>
          <a:prstGeom xmlns:a="http://schemas.openxmlformats.org/drawingml/2006/main" prst="roundRect">
            <a:avLst>
              <a:gd name="adj" fmla="val 14634"/>
            </a:avLst>
          </a:prstGeom>
          <a:solidFill xmlns:a="http://schemas.openxmlformats.org/drawingml/2006/main">
            <a:srgbClr val="F8EAE7"/>
          </a:solidFill>
          <a:ln xmlns:a="http://schemas.openxmlformats.org/drawingml/2006/main" w="11430">
            <a:solidFill>
              <a:srgbClr val="F8EAE7"/>
            </a:solidFill>
            <a:prstDash val="solid"/>
          </a:ln>
        </p:spPr>
      </p:sp>
      <p:sp>
        <p:nvSpPr>
          <p:cNvPr id="39" name="">
            <a:extLst xmlns:a="http://schemas.openxmlformats.org/drawingml/2006/main">
              <a:ext uri="{FF2B5EF4-FFF2-40B4-BE49-F238E27FC236}">
                <a16:creationId xmlns:a16="http://schemas.microsoft.com/office/drawing/2014/main" id="{CACB20E0-3462-4674-A3AE-955C24F09710}"/>
              </a:ext>
            </a:extLst>
          </p:cNvPr>
          <p:cNvSpPr>
            <a:spLocks xmlns:a="http://schemas.openxmlformats.org/drawingml/2006/main" noGrp="1"/>
          </p:cNvSpPr>
          <p:nvPr/>
        </p:nvSpPr>
        <p:spPr>
          <a:xfrm xmlns:a="http://schemas.openxmlformats.org/drawingml/2006/main">
            <a:off x="2324100" y="4791075"/>
            <a:ext cx="2333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417"/>
          </a:bodyPr>
          <a:lstStyle xmlns:a="http://schemas.openxmlformats.org/drawingml/2006/main"/>
          <a:p xmlns:a="http://schemas.openxmlformats.org/drawingml/2006/main">
            <a:pPr algn="l">
              <a:buNone/>
              <a:defRPr sz="1200" b="1">
                <a:solidFill>
                  <a:srgbClr val="A14338"/>
                </a:solidFill>
                <a:latin typeface="Arial"/>
                <a:ea typeface="Arial"/>
                <a:cs typeface="Arial"/>
              </a:defRPr>
            </a:pPr>
            <a:r>
              <a:rPr sz="1200" b="1">
                <a:solidFill>
                  <a:srgbClr val="A14338"/>
                </a:solidFill>
                <a:latin typeface="Arial"/>
                <a:ea typeface="Arial"/>
                <a:cs typeface="Arial"/>
              </a:rPr>
              <a:t>QUARANTINE CONDITIONS</a:t>
            </a:r>
          </a:p>
        </p:txBody>
      </p:sp>
      <p:sp>
        <p:nvSpPr>
          <p:cNvPr id="40" name="">
            <a:extLst xmlns:a="http://schemas.openxmlformats.org/drawingml/2006/main">
              <a:ext uri="{FF2B5EF4-FFF2-40B4-BE49-F238E27FC236}">
                <a16:creationId xmlns:a16="http://schemas.microsoft.com/office/drawing/2014/main" id="{864B4486-4B8A-40B1-A9CF-A82BFD28DFBB}"/>
              </a:ext>
            </a:extLst>
          </p:cNvPr>
          <p:cNvSpPr>
            <a:spLocks xmlns:a="http://schemas.openxmlformats.org/drawingml/2006/main" noGrp="1"/>
          </p:cNvSpPr>
          <p:nvPr/>
        </p:nvSpPr>
        <p:spPr>
          <a:xfrm xmlns:a="http://schemas.openxmlformats.org/drawingml/2006/main">
            <a:off x="2324100" y="5067300"/>
            <a:ext cx="7429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392"/>
          </a:bodyPr>
          <a:lstStyle xmlns:a="http://schemas.openxmlformats.org/drawingml/2006/main"/>
          <a:p xmlns:a="http://schemas.openxmlformats.org/drawingml/2006/main">
            <a:pPr algn="l">
              <a:buNone/>
              <a:defRPr sz="1275" b="0">
                <a:solidFill>
                  <a:srgbClr val="17334B"/>
                </a:solidFill>
                <a:latin typeface="Arial"/>
                <a:ea typeface="Arial"/>
                <a:cs typeface="Arial"/>
              </a:defRPr>
            </a:pPr>
            <a:r>
              <a:rPr sz="1275" b="0">
                <a:solidFill>
                  <a:srgbClr val="17334B"/>
                </a:solidFill>
                <a:latin typeface="Arial"/>
                <a:ea typeface="Arial"/>
                <a:cs typeface="Arial"/>
              </a:rPr>
              <a:t>Unsupported format  ·  unreadable page  ·  parser/OCR failure  ·  unresolved review</a:t>
            </a:r>
          </a:p>
        </p:txBody>
      </p:sp>
      <p:sp>
        <p:nvSpPr>
          <p:cNvPr id="41" name="">
            <a:extLst xmlns:a="http://schemas.openxmlformats.org/drawingml/2006/main">
              <a:ext uri="{FF2B5EF4-FFF2-40B4-BE49-F238E27FC236}">
                <a16:creationId xmlns:a16="http://schemas.microsoft.com/office/drawing/2014/main" id="{C9038FE4-4391-4C37-AE3A-CBE2B1679DC3}"/>
              </a:ext>
            </a:extLst>
          </p:cNvPr>
          <p:cNvSpPr>
            <a:spLocks xmlns:a="http://schemas.openxmlformats.org/drawingml/2006/main" noGrp="1"/>
          </p:cNvSpPr>
          <p:nvPr/>
        </p:nvSpPr>
        <p:spPr>
          <a:xfrm xmlns:a="http://schemas.openxmlformats.org/drawingml/2006/main">
            <a:off x="685800" y="581025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474"/>
          </a:bodyPr>
          <a:lstStyle xmlns:a="http://schemas.openxmlformats.org/drawingml/2006/main"/>
          <a:p xmlns:a="http://schemas.openxmlformats.org/drawingml/2006/main">
            <a:pPr algn="l">
              <a:buNone/>
              <a:defRPr sz="1425" b="1">
                <a:solidFill>
                  <a:srgbClr val="187A83"/>
                </a:solidFill>
                <a:latin typeface="Arial"/>
                <a:ea typeface="Arial"/>
                <a:cs typeface="Arial"/>
              </a:defRPr>
            </a:pPr>
            <a:r>
              <a:rPr sz="1425" b="1">
                <a:solidFill>
                  <a:srgbClr val="187A83"/>
                </a:solidFill>
                <a:latin typeface="Arial"/>
                <a:ea typeface="Arial"/>
                <a:cs typeface="Arial"/>
              </a:rPr>
              <a:t>No model is connected. Human review is required before downloading redacted text.</a:t>
            </a:r>
          </a:p>
        </p:txBody>
      </p:sp>
      <p:sp>
        <p:nvSpPr>
          <p:cNvPr id="42" name="">
            <a:extLst xmlns:a="http://schemas.openxmlformats.org/drawingml/2006/main">
              <a:ext uri="{FF2B5EF4-FFF2-40B4-BE49-F238E27FC236}">
                <a16:creationId xmlns:a16="http://schemas.microsoft.com/office/drawing/2014/main" id="{3B79A144-1873-4C00-9365-257B74DAA93A}"/>
              </a:ext>
            </a:extLst>
          </p:cNvPr>
          <p:cNvSpPr>
            <a:spLocks xmlns:a="http://schemas.openxmlformats.org/drawingml/2006/main" noGrp="1"/>
          </p:cNvSpPr>
          <p:nvPr/>
        </p:nvSpPr>
        <p:spPr>
          <a:xfrm xmlns:a="http://schemas.openxmlformats.org/drawingml/2006/main">
            <a:off x="685800" y="655320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48485"/>
          </a:bodyPr>
          <a:lstStyle xmlns:a="http://schemas.openxmlformats.org/drawingml/2006/main"/>
          <a:p xmlns:a="http://schemas.openxmlformats.org/drawingml/2006/main">
            <a:pPr algn="l">
              <a:buNone/>
              <a:defRPr sz="825" b="0">
                <a:solidFill>
                  <a:srgbClr val="536D81"/>
                </a:solidFill>
                <a:latin typeface="Arial"/>
                <a:ea typeface="Arial"/>
                <a:cs typeface="Arial"/>
              </a:defRPr>
            </a:pPr>
            <a:r>
              <a:rPr sz="825" b="0">
                <a:solidFill>
                  <a:srgbClr val="536D81"/>
                </a:solidFill>
                <a:latin typeface="Arial"/>
                <a:ea typeface="Arial"/>
                <a:cs typeface="Arial"/>
              </a:rPr>
              <a:t>OPTIV  ·  VIT 2026  |  CASE STUDY 2  |  04</a:t>
            </a:r>
          </a:p>
        </p:txBody>
      </p:sp>
    </p:spTree>
    <p:extLst>
      <p:ext uri="{BB962C8B-B14F-4D97-AF65-F5344CB8AC3E}">
        <p14:creationId xmlns:p14="http://schemas.microsoft.com/office/powerpoint/2010/main" val="329886852"/>
      </p:ext>
    </p:extLst>
  </p:cSld>
</p:sld>
</file>

<file path=ppt/slides/slide5.xml><?xml version="1.0" encoding="utf-8"?>
<p:sld xmlns:p="http://schemas.openxmlformats.org/presentationml/2006/main">
  <p:cSld>
    <p:bg>
      <p:bgPr>
        <a:solidFill xmlns:a="http://schemas.openxmlformats.org/drawingml/2006/main">
          <a:srgbClr val="F3F6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B0F1EA9-060E-4F21-8711-6544C64AA18F}"/>
              </a:ext>
            </a:extLst>
          </p:cNvPr>
          <p:cNvSpPr>
            <a:spLocks xmlns:a="http://schemas.openxmlformats.org/drawingml/2006/main" noGrp="1"/>
          </p:cNvSpPr>
          <p:nvPr/>
        </p:nvSpPr>
        <p:spPr>
          <a:xfrm xmlns:a="http://schemas.openxmlformats.org/drawingml/2006/main">
            <a:off x="685800" y="20955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762"/>
          </a:bodyPr>
          <a:lstStyle xmlns:a="http://schemas.openxmlformats.org/drawingml/2006/main"/>
          <a:p xmlns:a="http://schemas.openxmlformats.org/drawingml/2006/main">
            <a:pPr algn="l">
              <a:buNone/>
              <a:defRPr sz="1050" b="1">
                <a:solidFill>
                  <a:srgbClr val="187A83"/>
                </a:solidFill>
                <a:latin typeface="Arial"/>
                <a:ea typeface="Arial"/>
                <a:cs typeface="Arial"/>
              </a:defRPr>
            </a:pPr>
            <a:r>
              <a:rPr sz="1050" b="1">
                <a:solidFill>
                  <a:srgbClr val="187A83"/>
                </a:solidFill>
                <a:latin typeface="Arial"/>
                <a:ea typeface="Arial"/>
                <a:cs typeface="Arial"/>
              </a:rPr>
              <a:t>CASE STUDY 2  /  CADENCE</a:t>
            </a:r>
          </a:p>
        </p:txBody>
      </p:sp>
      <p:sp>
        <p:nvSpPr>
          <p:cNvPr id="2" name="">
            <a:extLst xmlns:a="http://schemas.openxmlformats.org/drawingml/2006/main">
              <a:ext uri="{FF2B5EF4-FFF2-40B4-BE49-F238E27FC236}">
                <a16:creationId xmlns:a16="http://schemas.microsoft.com/office/drawing/2014/main" id="{AC11E3B7-DAC4-4024-B40C-E25149CEEA8B}"/>
              </a:ext>
            </a:extLst>
          </p:cNvPr>
          <p:cNvSpPr>
            <a:spLocks xmlns:a="http://schemas.openxmlformats.org/drawingml/2006/main" noGrp="1"/>
          </p:cNvSpPr>
          <p:nvPr/>
        </p:nvSpPr>
        <p:spPr>
          <a:xfrm xmlns:a="http://schemas.openxmlformats.org/drawingml/2006/main">
            <a:off x="685800" y="4953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850" b="1">
                <a:solidFill>
                  <a:srgbClr val="102C49"/>
                </a:solidFill>
                <a:latin typeface="Arial"/>
                <a:ea typeface="Arial"/>
                <a:cs typeface="Arial"/>
              </a:defRPr>
            </a:pPr>
            <a:r>
              <a:rPr sz="2850" b="1">
                <a:solidFill>
                  <a:srgbClr val="102C49"/>
                </a:solidFill>
                <a:latin typeface="Arial"/>
                <a:ea typeface="Arial"/>
                <a:cs typeface="Arial"/>
              </a:rPr>
              <a:t>Extraction logic preserves source context</a:t>
            </a:r>
          </a:p>
        </p:txBody>
      </p:sp>
      <p:sp>
        <p:nvSpPr>
          <p:cNvPr id="3" name="">
            <a:extLst xmlns:a="http://schemas.openxmlformats.org/drawingml/2006/main">
              <a:ext uri="{FF2B5EF4-FFF2-40B4-BE49-F238E27FC236}">
                <a16:creationId xmlns:a16="http://schemas.microsoft.com/office/drawing/2014/main" id="{FDE7384D-3EC6-4E43-9F2D-E8D273EA24DF}"/>
              </a:ext>
            </a:extLst>
          </p:cNvPr>
          <p:cNvSpPr>
            <a:spLocks xmlns:a="http://schemas.openxmlformats.org/drawingml/2006/main" noGrp="1"/>
          </p:cNvSpPr>
          <p:nvPr/>
        </p:nvSpPr>
        <p:spPr>
          <a:xfrm xmlns:a="http://schemas.openxmlformats.org/drawingml/2006/main">
            <a:off x="685800" y="1162050"/>
            <a:ext cx="10820400" cy="0"/>
          </a:xfrm>
          <a:prstGeom xmlns:a="http://schemas.openxmlformats.org/drawingml/2006/main" prst="line">
            <a:avLst/>
          </a:prstGeom>
          <a:noFill xmlns:a="http://schemas.openxmlformats.org/drawingml/2006/main"/>
          <a:ln xmlns:a="http://schemas.openxmlformats.org/drawingml/2006/main" w="11430">
            <a:solidFill>
              <a:srgbClr val="D5E0E7"/>
            </a:solidFill>
            <a:prstDash val="solid"/>
          </a:ln>
        </p:spPr>
      </p:sp>
      <p:graphicFrame>
        <p:nvGraphicFramePr>
          <p:cNvPr id="12" name=""/>
          <p:cNvGraphicFramePr/>
          <p:nvPr/>
        </p:nvGraphicFramePr>
        <p:xfrm>
          <a:off xmlns:a="http://schemas.openxmlformats.org/drawingml/2006/main" x="685800" y="1524000"/>
          <a:ext xmlns:a="http://schemas.openxmlformats.org/drawingml/2006/main" cx="10820400" cy="3810000"/>
        </p:xfrm>
        <a:graphic xmlns:a="http://schemas.openxmlformats.org/drawingml/2006/main">
          <a:graphicData uri="http://schemas.openxmlformats.org/drawingml/2006/table">
            <a:tbl>
              <a:tblPr firstRow="1" bandRow="1"/>
              <a:tblGrid>
                <a:gridCol w="1381125"/>
                <a:gridCol w="3095625"/>
                <a:gridCol w="3238500"/>
                <a:gridCol w="3105150"/>
              </a:tblGrid>
              <a:tr h="457200">
                <a:tc>
                  <a:txBody>
                    <a:bodyPr/>
                    <a:lstStyle/>
                    <a:p>
                      <a:r>
                        <a:rPr sz="1275" b="1">
                          <a:solidFill>
                            <a:srgbClr val="FFFFFF"/>
                          </a:solidFill>
                          <a:latin typeface="Arial"/>
                          <a:ea typeface="Arial"/>
                          <a:cs typeface="Arial"/>
                        </a:rPr>
                        <a:t>Format</a:t>
                      </a:r>
                    </a:p>
                  </a:txBody>
                  <a:tcPr marL="95250" marR="76200" marT="66675" marB="66675">
                    <a:solidFill>
                      <a:srgbClr val="102C49"/>
                    </a:solidFill>
                  </a:tcPr>
                </a:tc>
                <a:tc>
                  <a:txBody>
                    <a:bodyPr/>
                    <a:lstStyle/>
                    <a:p>
                      <a:r>
                        <a:rPr sz="1275" b="1">
                          <a:solidFill>
                            <a:srgbClr val="FFFFFF"/>
                          </a:solidFill>
                          <a:latin typeface="Arial"/>
                          <a:ea typeface="Arial"/>
                          <a:cs typeface="Arial"/>
                        </a:rPr>
                        <a:t>Extraction adapter</a:t>
                      </a:r>
                    </a:p>
                  </a:txBody>
                  <a:tcPr marL="95250" marR="76200" marT="66675" marB="66675">
                    <a:solidFill>
                      <a:srgbClr val="102C49"/>
                    </a:solidFill>
                  </a:tcPr>
                </a:tc>
                <a:tc>
                  <a:txBody>
                    <a:bodyPr/>
                    <a:lstStyle/>
                    <a:p>
                      <a:r>
                        <a:rPr sz="1275" b="1">
                          <a:solidFill>
                            <a:srgbClr val="FFFFFF"/>
                          </a:solidFill>
                          <a:latin typeface="Arial"/>
                          <a:ea typeface="Arial"/>
                          <a:cs typeface="Arial"/>
                        </a:rPr>
                        <a:t>Context retained</a:t>
                      </a:r>
                    </a:p>
                  </a:txBody>
                  <a:tcPr marL="95250" marR="76200" marT="66675" marB="66675">
                    <a:solidFill>
                      <a:srgbClr val="102C49"/>
                    </a:solidFill>
                  </a:tcPr>
                </a:tc>
                <a:tc>
                  <a:txBody>
                    <a:bodyPr/>
                    <a:lstStyle/>
                    <a:p>
                      <a:r>
                        <a:rPr sz="1275" b="1">
                          <a:solidFill>
                            <a:srgbClr val="FFFFFF"/>
                          </a:solidFill>
                          <a:latin typeface="Arial"/>
                          <a:ea typeface="Arial"/>
                          <a:cs typeface="Arial"/>
                        </a:rPr>
                        <a:t>Failure rule</a:t>
                      </a:r>
                    </a:p>
                  </a:txBody>
                  <a:tcPr marL="95250" marR="76200" marT="66675" marB="66675">
                    <a:solidFill>
                      <a:srgbClr val="102C49"/>
                    </a:solidFill>
                  </a:tcPr>
                </a:tc>
              </a:tr>
              <a:tr h="0">
                <a:tc>
                  <a:txBody>
                    <a:bodyPr/>
                    <a:lstStyle/>
                    <a:p>
                      <a:r>
                        <a:rPr sz="1200">
                          <a:solidFill>
                            <a:srgbClr val="17334B"/>
                          </a:solidFill>
                          <a:latin typeface="Arial"/>
                          <a:ea typeface="Arial"/>
                          <a:cs typeface="Arial"/>
                        </a:rPr>
                        <a:t>PDF</a:t>
                      </a:r>
                    </a:p>
                  </a:txBody>
                  <a:tcPr marL="95250" marR="76200" marT="76200" marB="76200"/>
                </a:tc>
                <a:tc>
                  <a:txBody>
                    <a:bodyPr/>
                    <a:lstStyle/>
                    <a:p>
                      <a:r>
                        <a:rPr sz="1200">
                          <a:solidFill>
                            <a:srgbClr val="17334B"/>
                          </a:solidFill>
                          <a:latin typeface="Arial"/>
                          <a:ea typeface="Arial"/>
                          <a:cs typeface="Arial"/>
                        </a:rPr>
                        <a:t>Embedded text first; render page and run OCR if text is absent</a:t>
                      </a:r>
                    </a:p>
                  </a:txBody>
                  <a:tcPr marL="95250" marR="76200" marT="76200" marB="76200"/>
                </a:tc>
                <a:tc>
                  <a:txBody>
                    <a:bodyPr/>
                    <a:lstStyle/>
                    <a:p>
                      <a:r>
                        <a:rPr sz="1200">
                          <a:solidFill>
                            <a:srgbClr val="17334B"/>
                          </a:solidFill>
                          <a:latin typeface="Arial"/>
                          <a:ea typeface="Arial"/>
                          <a:cs typeface="Arial"/>
                        </a:rPr>
                        <a:t>Page number; OCR status; extracted text block</a:t>
                      </a:r>
                    </a:p>
                  </a:txBody>
                  <a:tcPr marL="95250" marR="76200" marT="76200" marB="76200"/>
                </a:tc>
                <a:tc>
                  <a:txBody>
                    <a:bodyPr/>
                    <a:lstStyle/>
                    <a:p>
                      <a:r>
                        <a:rPr sz="1200">
                          <a:solidFill>
                            <a:srgbClr val="17334B"/>
                          </a:solidFill>
                          <a:latin typeface="Arial"/>
                          <a:ea typeface="Arial"/>
                          <a:cs typeface="Arial"/>
                        </a:rPr>
                        <a:t>Quarantine unreadable or low-confidence pages</a:t>
                      </a:r>
                    </a:p>
                  </a:txBody>
                  <a:tcPr marL="95250" marR="76200" marT="76200" marB="76200"/>
                </a:tc>
              </a:tr>
              <a:tr h="0">
                <a:tc>
                  <a:txBody>
                    <a:bodyPr/>
                    <a:lstStyle/>
                    <a:p>
                      <a:r>
                        <a:rPr sz="1200">
                          <a:solidFill>
                            <a:srgbClr val="17334B"/>
                          </a:solidFill>
                          <a:latin typeface="Arial"/>
                          <a:ea typeface="Arial"/>
                          <a:cs typeface="Arial"/>
                        </a:rPr>
                        <a:t>DOCX</a:t>
                      </a:r>
                    </a:p>
                  </a:txBody>
                  <a:tcPr marL="95250" marR="76200" marT="76200" marB="76200"/>
                </a:tc>
                <a:tc>
                  <a:txBody>
                    <a:bodyPr/>
                    <a:lstStyle/>
                    <a:p>
                      <a:r>
                        <a:rPr sz="1200">
                          <a:solidFill>
                            <a:srgbClr val="17334B"/>
                          </a:solidFill>
                          <a:latin typeface="Arial"/>
                          <a:ea typeface="Arial"/>
                          <a:cs typeface="Arial"/>
                        </a:rPr>
                        <a:t>Body paragraphs and tables, plus headers and footers</a:t>
                      </a:r>
                    </a:p>
                  </a:txBody>
                  <a:tcPr marL="95250" marR="76200" marT="76200" marB="76200"/>
                </a:tc>
                <a:tc>
                  <a:txBody>
                    <a:bodyPr/>
                    <a:lstStyle/>
                    <a:p>
                      <a:r>
                        <a:rPr sz="1200">
                          <a:solidFill>
                            <a:srgbClr val="17334B"/>
                          </a:solidFill>
                          <a:latin typeface="Arial"/>
                          <a:ea typeface="Arial"/>
                          <a:cs typeface="Arial"/>
                        </a:rPr>
                        <a:t>Paragraph, table/row and header/footer locators</a:t>
                      </a:r>
                    </a:p>
                  </a:txBody>
                  <a:tcPr marL="95250" marR="76200" marT="76200" marB="76200"/>
                </a:tc>
                <a:tc>
                  <a:txBody>
                    <a:bodyPr/>
                    <a:lstStyle/>
                    <a:p>
                      <a:r>
                        <a:rPr sz="1200">
                          <a:solidFill>
                            <a:srgbClr val="17334B"/>
                          </a:solidFill>
                          <a:latin typeface="Arial"/>
                          <a:ea typeface="Arial"/>
                          <a:cs typeface="Arial"/>
                        </a:rPr>
                        <a:t>Quarantine parser errors</a:t>
                      </a:r>
                    </a:p>
                  </a:txBody>
                  <a:tcPr marL="95250" marR="76200" marT="76200" marB="76200"/>
                </a:tc>
              </a:tr>
              <a:tr h="0">
                <a:tc>
                  <a:txBody>
                    <a:bodyPr/>
                    <a:lstStyle/>
                    <a:p>
                      <a:r>
                        <a:rPr sz="1200">
                          <a:solidFill>
                            <a:srgbClr val="17334B"/>
                          </a:solidFill>
                          <a:latin typeface="Arial"/>
                          <a:ea typeface="Arial"/>
                          <a:cs typeface="Arial"/>
                        </a:rPr>
                        <a:t>PPTX</a:t>
                      </a:r>
                    </a:p>
                  </a:txBody>
                  <a:tcPr marL="95250" marR="76200" marT="76200" marB="76200"/>
                </a:tc>
                <a:tc>
                  <a:txBody>
                    <a:bodyPr/>
                    <a:lstStyle/>
                    <a:p>
                      <a:r>
                        <a:rPr sz="1200">
                          <a:solidFill>
                            <a:srgbClr val="17334B"/>
                          </a:solidFill>
                          <a:latin typeface="Arial"/>
                          <a:ea typeface="Arial"/>
                          <a:cs typeface="Arial"/>
                        </a:rPr>
                        <a:t>Slide shapes and native table cells in reading order</a:t>
                      </a:r>
                    </a:p>
                  </a:txBody>
                  <a:tcPr marL="95250" marR="76200" marT="76200" marB="76200"/>
                </a:tc>
                <a:tc>
                  <a:txBody>
                    <a:bodyPr/>
                    <a:lstStyle/>
                    <a:p>
                      <a:r>
                        <a:rPr sz="1200">
                          <a:solidFill>
                            <a:srgbClr val="17334B"/>
                          </a:solidFill>
                          <a:latin typeface="Arial"/>
                          <a:ea typeface="Arial"/>
                          <a:cs typeface="Arial"/>
                        </a:rPr>
                        <a:t>Slide number; shape number; table row</a:t>
                      </a:r>
                    </a:p>
                  </a:txBody>
                  <a:tcPr marL="95250" marR="76200" marT="76200" marB="76200"/>
                </a:tc>
                <a:tc>
                  <a:txBody>
                    <a:bodyPr/>
                    <a:lstStyle/>
                    <a:p>
                      <a:r>
                        <a:rPr sz="1200">
                          <a:solidFill>
                            <a:srgbClr val="17334B"/>
                          </a:solidFill>
                          <a:latin typeface="Arial"/>
                          <a:ea typeface="Arial"/>
                          <a:cs typeface="Arial"/>
                        </a:rPr>
                        <a:t>Quarantine parser errors</a:t>
                      </a:r>
                    </a:p>
                  </a:txBody>
                  <a:tcPr marL="95250" marR="76200" marT="76200" marB="76200"/>
                </a:tc>
              </a:tr>
              <a:tr h="0">
                <a:tc>
                  <a:txBody>
                    <a:bodyPr/>
                    <a:lstStyle/>
                    <a:p>
                      <a:r>
                        <a:rPr sz="1200">
                          <a:solidFill>
                            <a:srgbClr val="17334B"/>
                          </a:solidFill>
                          <a:latin typeface="Arial"/>
                          <a:ea typeface="Arial"/>
                          <a:cs typeface="Arial"/>
                        </a:rPr>
                        <a:t>XLSX / text</a:t>
                      </a:r>
                    </a:p>
                  </a:txBody>
                  <a:tcPr marL="95250" marR="76200" marT="76200" marB="76200"/>
                </a:tc>
                <a:tc>
                  <a:txBody>
                    <a:bodyPr/>
                    <a:lstStyle/>
                    <a:p>
                      <a:r>
                        <a:rPr sz="1200">
                          <a:solidFill>
                            <a:srgbClr val="17334B"/>
                          </a:solidFill>
                          <a:latin typeface="Arial"/>
                          <a:ea typeface="Arial"/>
                          <a:cs typeface="Arial"/>
                        </a:rPr>
                        <a:t>Sheet cells by row; text decoded as UTF-8</a:t>
                      </a:r>
                    </a:p>
                  </a:txBody>
                  <a:tcPr marL="95250" marR="76200" marT="76200" marB="76200"/>
                </a:tc>
                <a:tc>
                  <a:txBody>
                    <a:bodyPr/>
                    <a:lstStyle/>
                    <a:p>
                      <a:r>
                        <a:rPr sz="1200">
                          <a:solidFill>
                            <a:srgbClr val="17334B"/>
                          </a:solidFill>
                          <a:latin typeface="Arial"/>
                          <a:ea typeface="Arial"/>
                          <a:cs typeface="Arial"/>
                        </a:rPr>
                        <a:t>Sheet and row label; original line breaks</a:t>
                      </a:r>
                    </a:p>
                  </a:txBody>
                  <a:tcPr marL="95250" marR="76200" marT="76200" marB="76200"/>
                </a:tc>
                <a:tc>
                  <a:txBody>
                    <a:bodyPr/>
                    <a:lstStyle/>
                    <a:p>
                      <a:r>
                        <a:rPr sz="1200">
                          <a:solidFill>
                            <a:srgbClr val="17334B"/>
                          </a:solidFill>
                          <a:latin typeface="Arial"/>
                          <a:ea typeface="Arial"/>
                          <a:cs typeface="Arial"/>
                        </a:rPr>
                        <a:t>Quarantine unsupported or malformed input</a:t>
                      </a:r>
                    </a:p>
                  </a:txBody>
                  <a:tcPr marL="95250" marR="76200" marT="76200" marB="76200"/>
                </a:tc>
              </a:tr>
            </a:tbl>
          </a:graphicData>
        </a:graphic>
      </p:graphicFrame>
      <p:sp>
        <p:nvSpPr>
          <p:cNvPr id="5" name="">
            <a:extLst xmlns:a="http://schemas.openxmlformats.org/drawingml/2006/main">
              <a:ext uri="{FF2B5EF4-FFF2-40B4-BE49-F238E27FC236}">
                <a16:creationId xmlns:a16="http://schemas.microsoft.com/office/drawing/2014/main" id="{9736FDDE-8D8C-4089-8CD2-1961E6148DC9}"/>
              </a:ext>
            </a:extLst>
          </p:cNvPr>
          <p:cNvSpPr>
            <a:spLocks xmlns:a="http://schemas.openxmlformats.org/drawingml/2006/main" noGrp="1"/>
          </p:cNvSpPr>
          <p:nvPr/>
        </p:nvSpPr>
        <p:spPr>
          <a:xfrm xmlns:a="http://schemas.openxmlformats.org/drawingml/2006/main">
            <a:off x="685800" y="5610225"/>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a:solidFill>
                  <a:srgbClr val="536D81"/>
                </a:solidFill>
                <a:latin typeface="Arial"/>
                <a:ea typeface="Arial"/>
                <a:cs typeface="Arial"/>
              </a:defRPr>
            </a:pPr>
            <a:r>
              <a:rPr sz="1350" b="0">
                <a:solidFill>
                  <a:srgbClr val="536D81"/>
                </a:solidFill>
                <a:latin typeface="Arial"/>
                <a:ea typeface="Arial"/>
                <a:cs typeface="Arial"/>
              </a:rPr>
              <a:t>Structure measure: compare ordered headings, paragraphs, table rows, slide blocks and page coverage before and after extraction.</a:t>
            </a:r>
          </a:p>
        </p:txBody>
      </p:sp>
      <p:sp>
        <p:nvSpPr>
          <p:cNvPr id="6" name="">
            <a:extLst xmlns:a="http://schemas.openxmlformats.org/drawingml/2006/main">
              <a:ext uri="{FF2B5EF4-FFF2-40B4-BE49-F238E27FC236}">
                <a16:creationId xmlns:a16="http://schemas.microsoft.com/office/drawing/2014/main" id="{0354316D-FA6C-480E-8CEB-E86164D1243C}"/>
              </a:ext>
            </a:extLst>
          </p:cNvPr>
          <p:cNvSpPr>
            <a:spLocks xmlns:a="http://schemas.openxmlformats.org/drawingml/2006/main" noGrp="1"/>
          </p:cNvSpPr>
          <p:nvPr/>
        </p:nvSpPr>
        <p:spPr>
          <a:xfrm xmlns:a="http://schemas.openxmlformats.org/drawingml/2006/main">
            <a:off x="685800" y="655320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48485"/>
          </a:bodyPr>
          <a:lstStyle xmlns:a="http://schemas.openxmlformats.org/drawingml/2006/main"/>
          <a:p xmlns:a="http://schemas.openxmlformats.org/drawingml/2006/main">
            <a:pPr algn="l">
              <a:buNone/>
              <a:defRPr sz="825" b="0">
                <a:solidFill>
                  <a:srgbClr val="536D81"/>
                </a:solidFill>
                <a:latin typeface="Arial"/>
                <a:ea typeface="Arial"/>
                <a:cs typeface="Arial"/>
              </a:defRPr>
            </a:pPr>
            <a:r>
              <a:rPr sz="825" b="0">
                <a:solidFill>
                  <a:srgbClr val="536D81"/>
                </a:solidFill>
                <a:latin typeface="Arial"/>
                <a:ea typeface="Arial"/>
                <a:cs typeface="Arial"/>
              </a:rPr>
              <a:t>OPTIV  ·  VIT 2026  |  CASE STUDY 2  |  05</a:t>
            </a:r>
          </a:p>
        </p:txBody>
      </p:sp>
    </p:spTree>
    <p:extLst>
      <p:ext uri="{BB962C8B-B14F-4D97-AF65-F5344CB8AC3E}">
        <p14:creationId xmlns:p14="http://schemas.microsoft.com/office/powerpoint/2010/main" val="940729639"/>
      </p:ext>
    </p:extLst>
  </p:cSld>
</p:sld>
</file>

<file path=ppt/slides/slide6.xml><?xml version="1.0" encoding="utf-8"?>
<p:sld xmlns:p="http://schemas.openxmlformats.org/presentationml/2006/main">
  <p:cSld>
    <p:bg>
      <p:bgPr>
        <a:solidFill xmlns:a="http://schemas.openxmlformats.org/drawingml/2006/main">
          <a:srgbClr val="F3F6F8"/>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3B394120-5073-4B4B-B8F3-9C19C2F7374E}"/>
              </a:ext>
            </a:extLst>
          </p:cNvPr>
          <p:cNvSpPr>
            <a:spLocks xmlns:a="http://schemas.openxmlformats.org/drawingml/2006/main" noGrp="1"/>
          </p:cNvSpPr>
          <p:nvPr/>
        </p:nvSpPr>
        <p:spPr>
          <a:xfrm xmlns:a="http://schemas.openxmlformats.org/drawingml/2006/main">
            <a:off x="685800" y="20955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762"/>
          </a:bodyPr>
          <a:lstStyle xmlns:a="http://schemas.openxmlformats.org/drawingml/2006/main"/>
          <a:p xmlns:a="http://schemas.openxmlformats.org/drawingml/2006/main">
            <a:pPr algn="l">
              <a:buNone/>
              <a:defRPr sz="1050" b="1">
                <a:solidFill>
                  <a:srgbClr val="187A83"/>
                </a:solidFill>
                <a:latin typeface="Arial"/>
                <a:ea typeface="Arial"/>
                <a:cs typeface="Arial"/>
              </a:defRPr>
            </a:pPr>
            <a:r>
              <a:rPr sz="1050" b="1">
                <a:solidFill>
                  <a:srgbClr val="187A83"/>
                </a:solidFill>
                <a:latin typeface="Arial"/>
                <a:ea typeface="Arial"/>
                <a:cs typeface="Arial"/>
              </a:rPr>
              <a:t>CASE STUDY 2  /  CADENCE</a:t>
            </a:r>
          </a:p>
        </p:txBody>
      </p:sp>
      <p:sp>
        <p:nvSpPr>
          <p:cNvPr id="2" name="">
            <a:extLst xmlns:a="http://schemas.openxmlformats.org/drawingml/2006/main">
              <a:ext uri="{FF2B5EF4-FFF2-40B4-BE49-F238E27FC236}">
                <a16:creationId xmlns:a16="http://schemas.microsoft.com/office/drawing/2014/main" id="{ED726D28-3D66-4703-9C95-48B5D083A9F5}"/>
              </a:ext>
            </a:extLst>
          </p:cNvPr>
          <p:cNvSpPr>
            <a:spLocks xmlns:a="http://schemas.openxmlformats.org/drawingml/2006/main" noGrp="1"/>
          </p:cNvSpPr>
          <p:nvPr/>
        </p:nvSpPr>
        <p:spPr>
          <a:xfrm xmlns:a="http://schemas.openxmlformats.org/drawingml/2006/main">
            <a:off x="685800" y="4953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850" b="1">
                <a:solidFill>
                  <a:srgbClr val="102C49"/>
                </a:solidFill>
                <a:latin typeface="Arial"/>
                <a:ea typeface="Arial"/>
                <a:cs typeface="Arial"/>
              </a:defRPr>
            </a:pPr>
            <a:r>
              <a:rPr sz="2850" b="1">
                <a:solidFill>
                  <a:srgbClr val="102C49"/>
                </a:solidFill>
                <a:latin typeface="Arial"/>
                <a:ea typeface="Arial"/>
                <a:cs typeface="Arial"/>
              </a:rPr>
              <a:t>Functional design | from upload to approved redacted output</a:t>
            </a:r>
          </a:p>
        </p:txBody>
      </p:sp>
      <p:sp>
        <p:nvSpPr>
          <p:cNvPr id="3" name="">
            <a:extLst xmlns:a="http://schemas.openxmlformats.org/drawingml/2006/main">
              <a:ext uri="{FF2B5EF4-FFF2-40B4-BE49-F238E27FC236}">
                <a16:creationId xmlns:a16="http://schemas.microsoft.com/office/drawing/2014/main" id="{167EB162-1627-4E18-8249-ECF1CD7525CE}"/>
              </a:ext>
            </a:extLst>
          </p:cNvPr>
          <p:cNvSpPr>
            <a:spLocks xmlns:a="http://schemas.openxmlformats.org/drawingml/2006/main" noGrp="1"/>
          </p:cNvSpPr>
          <p:nvPr/>
        </p:nvSpPr>
        <p:spPr>
          <a:xfrm xmlns:a="http://schemas.openxmlformats.org/drawingml/2006/main">
            <a:off x="685800" y="1162050"/>
            <a:ext cx="10820400" cy="0"/>
          </a:xfrm>
          <a:prstGeom xmlns:a="http://schemas.openxmlformats.org/drawingml/2006/main" prst="line">
            <a:avLst/>
          </a:prstGeom>
          <a:noFill xmlns:a="http://schemas.openxmlformats.org/drawingml/2006/main"/>
          <a:ln xmlns:a="http://schemas.openxmlformats.org/drawingml/2006/main" w="11430">
            <a:solidFill>
              <a:srgbClr val="D5E0E7"/>
            </a:solidFill>
            <a:prstDash val="solid"/>
          </a:ln>
        </p:spPr>
      </p:sp>
      <p:sp>
        <p:nvSpPr>
          <p:cNvPr id="4" name="">
            <a:extLst xmlns:a="http://schemas.openxmlformats.org/drawingml/2006/main">
              <a:ext uri="{FF2B5EF4-FFF2-40B4-BE49-F238E27FC236}">
                <a16:creationId xmlns:a16="http://schemas.microsoft.com/office/drawing/2014/main" id="{1D22634F-5CC0-4FF2-9930-80379CADE313}"/>
              </a:ext>
            </a:extLst>
          </p:cNvPr>
          <p:cNvSpPr>
            <a:spLocks xmlns:a="http://schemas.openxmlformats.org/drawingml/2006/main" noGrp="1"/>
          </p:cNvSpPr>
          <p:nvPr/>
        </p:nvSpPr>
        <p:spPr>
          <a:xfrm xmlns:a="http://schemas.openxmlformats.org/drawingml/2006/main">
            <a:off x="685800" y="2381250"/>
            <a:ext cx="1371600" cy="131445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11430">
            <a:solidFill>
              <a:srgbClr val="D5E0E7"/>
            </a:solidFill>
            <a:prstDash val="solid"/>
          </a:ln>
        </p:spPr>
      </p:sp>
      <p:sp>
        <p:nvSpPr>
          <p:cNvPr id="5" name="">
            <a:extLst xmlns:a="http://schemas.openxmlformats.org/drawingml/2006/main">
              <a:ext uri="{FF2B5EF4-FFF2-40B4-BE49-F238E27FC236}">
                <a16:creationId xmlns:a16="http://schemas.microsoft.com/office/drawing/2014/main" id="{75C7F190-559B-401A-BDC1-92B49E2066BF}"/>
              </a:ext>
            </a:extLst>
          </p:cNvPr>
          <p:cNvSpPr>
            <a:spLocks xmlns:a="http://schemas.openxmlformats.org/drawingml/2006/main" noGrp="1"/>
          </p:cNvSpPr>
          <p:nvPr/>
        </p:nvSpPr>
        <p:spPr>
          <a:xfrm xmlns:a="http://schemas.openxmlformats.org/drawingml/2006/main">
            <a:off x="685800" y="2381250"/>
            <a:ext cx="66675" cy="1314450"/>
          </a:xfrm>
          <a:prstGeom xmlns:a="http://schemas.openxmlformats.org/drawingml/2006/main" prst="rect">
            <a:avLst/>
          </a:prstGeom>
          <a:solidFill xmlns:a="http://schemas.openxmlformats.org/drawingml/2006/main">
            <a:srgbClr val="187A83"/>
          </a:solidFill>
          <a:ln xmlns:a="http://schemas.openxmlformats.org/drawingml/2006/main" w="0">
            <a:solidFill>
              <a:srgbClr val="187A83"/>
            </a:solidFill>
            <a:prstDash val="solid"/>
          </a:ln>
        </p:spPr>
      </p:sp>
      <p:sp>
        <p:nvSpPr>
          <p:cNvPr id="6" name="">
            <a:extLst xmlns:a="http://schemas.openxmlformats.org/drawingml/2006/main">
              <a:ext uri="{FF2B5EF4-FFF2-40B4-BE49-F238E27FC236}">
                <a16:creationId xmlns:a16="http://schemas.microsoft.com/office/drawing/2014/main" id="{B8F4EE6C-EC88-46EC-AE37-99756319A3C4}"/>
              </a:ext>
            </a:extLst>
          </p:cNvPr>
          <p:cNvSpPr>
            <a:spLocks xmlns:a="http://schemas.openxmlformats.org/drawingml/2006/main" noGrp="1"/>
          </p:cNvSpPr>
          <p:nvPr/>
        </p:nvSpPr>
        <p:spPr>
          <a:xfrm xmlns:a="http://schemas.openxmlformats.org/drawingml/2006/main">
            <a:off x="857250" y="2476500"/>
            <a:ext cx="1085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Upload</a:t>
            </a:r>
          </a:p>
        </p:txBody>
      </p:sp>
      <p:sp>
        <p:nvSpPr>
          <p:cNvPr id="7" name="">
            <a:extLst xmlns:a="http://schemas.openxmlformats.org/drawingml/2006/main">
              <a:ext uri="{FF2B5EF4-FFF2-40B4-BE49-F238E27FC236}">
                <a16:creationId xmlns:a16="http://schemas.microsoft.com/office/drawing/2014/main" id="{3FC9DDD9-C8A8-4578-BBCB-CBD278DACD6A}"/>
              </a:ext>
            </a:extLst>
          </p:cNvPr>
          <p:cNvSpPr>
            <a:spLocks xmlns:a="http://schemas.openxmlformats.org/drawingml/2006/main" noGrp="1"/>
          </p:cNvSpPr>
          <p:nvPr/>
        </p:nvSpPr>
        <p:spPr>
          <a:xfrm xmlns:a="http://schemas.openxmlformats.org/drawingml/2006/main">
            <a:off x="857250" y="2781300"/>
            <a:ext cx="10858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Evidence file</a:t>
            </a:r>
          </a:p>
        </p:txBody>
      </p:sp>
      <p:sp>
        <p:nvSpPr>
          <p:cNvPr id="8" name="">
            <a:extLst xmlns:a="http://schemas.openxmlformats.org/drawingml/2006/main">
              <a:ext uri="{FF2B5EF4-FFF2-40B4-BE49-F238E27FC236}">
                <a16:creationId xmlns:a16="http://schemas.microsoft.com/office/drawing/2014/main" id="{D8E54D91-9D57-4D7D-84FE-207AADE111A8}"/>
              </a:ext>
            </a:extLst>
          </p:cNvPr>
          <p:cNvSpPr>
            <a:spLocks xmlns:a="http://schemas.openxmlformats.org/drawingml/2006/main" noGrp="1"/>
          </p:cNvSpPr>
          <p:nvPr/>
        </p:nvSpPr>
        <p:spPr>
          <a:xfrm xmlns:a="http://schemas.openxmlformats.org/drawingml/2006/main">
            <a:off x="2076450" y="2914650"/>
            <a:ext cx="152400" cy="171450"/>
          </a:xfrm>
          <a:prstGeom xmlns:a="http://schemas.openxmlformats.org/drawingml/2006/main" prst="rightArrow">
            <a:avLst/>
          </a:prstGeom>
          <a:solidFill xmlns:a="http://schemas.openxmlformats.org/drawingml/2006/main">
            <a:srgbClr val="D6AA4B"/>
          </a:solidFill>
          <a:ln xmlns:a="http://schemas.openxmlformats.org/drawingml/2006/main" w="0">
            <a:solidFill>
              <a:srgbClr val="D6AA4B"/>
            </a:solidFill>
            <a:prstDash val="solid"/>
          </a:ln>
        </p:spPr>
      </p:sp>
      <p:sp>
        <p:nvSpPr>
          <p:cNvPr id="9" name="">
            <a:extLst xmlns:a="http://schemas.openxmlformats.org/drawingml/2006/main">
              <a:ext uri="{FF2B5EF4-FFF2-40B4-BE49-F238E27FC236}">
                <a16:creationId xmlns:a16="http://schemas.microsoft.com/office/drawing/2014/main" id="{360F02E1-F8DC-4E11-9E68-4CA6AA99DE90}"/>
              </a:ext>
            </a:extLst>
          </p:cNvPr>
          <p:cNvSpPr>
            <a:spLocks xmlns:a="http://schemas.openxmlformats.org/drawingml/2006/main" noGrp="1"/>
          </p:cNvSpPr>
          <p:nvPr/>
        </p:nvSpPr>
        <p:spPr>
          <a:xfrm xmlns:a="http://schemas.openxmlformats.org/drawingml/2006/main">
            <a:off x="2228850" y="2381250"/>
            <a:ext cx="1371600" cy="131445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11430">
            <a:solidFill>
              <a:srgbClr val="D5E0E7"/>
            </a:solidFill>
            <a:prstDash val="solid"/>
          </a:ln>
        </p:spPr>
      </p:sp>
      <p:sp>
        <p:nvSpPr>
          <p:cNvPr id="10" name="">
            <a:extLst xmlns:a="http://schemas.openxmlformats.org/drawingml/2006/main">
              <a:ext uri="{FF2B5EF4-FFF2-40B4-BE49-F238E27FC236}">
                <a16:creationId xmlns:a16="http://schemas.microsoft.com/office/drawing/2014/main" id="{6474F014-D149-42D1-AF32-1894E86BD884}"/>
              </a:ext>
            </a:extLst>
          </p:cNvPr>
          <p:cNvSpPr>
            <a:spLocks xmlns:a="http://schemas.openxmlformats.org/drawingml/2006/main" noGrp="1"/>
          </p:cNvSpPr>
          <p:nvPr/>
        </p:nvSpPr>
        <p:spPr>
          <a:xfrm xmlns:a="http://schemas.openxmlformats.org/drawingml/2006/main">
            <a:off x="2228850" y="2381250"/>
            <a:ext cx="66675" cy="1314450"/>
          </a:xfrm>
          <a:prstGeom xmlns:a="http://schemas.openxmlformats.org/drawingml/2006/main" prst="rect">
            <a:avLst/>
          </a:prstGeom>
          <a:solidFill xmlns:a="http://schemas.openxmlformats.org/drawingml/2006/main">
            <a:srgbClr val="187A83"/>
          </a:solidFill>
          <a:ln xmlns:a="http://schemas.openxmlformats.org/drawingml/2006/main" w="0">
            <a:solidFill>
              <a:srgbClr val="187A83"/>
            </a:solidFill>
            <a:prstDash val="solid"/>
          </a:ln>
        </p:spPr>
      </p:sp>
      <p:sp>
        <p:nvSpPr>
          <p:cNvPr id="11" name="">
            <a:extLst xmlns:a="http://schemas.openxmlformats.org/drawingml/2006/main">
              <a:ext uri="{FF2B5EF4-FFF2-40B4-BE49-F238E27FC236}">
                <a16:creationId xmlns:a16="http://schemas.microsoft.com/office/drawing/2014/main" id="{A577EE18-A468-4FF7-A156-23F47C87D4A2}"/>
              </a:ext>
            </a:extLst>
          </p:cNvPr>
          <p:cNvSpPr>
            <a:spLocks xmlns:a="http://schemas.openxmlformats.org/drawingml/2006/main" noGrp="1"/>
          </p:cNvSpPr>
          <p:nvPr/>
        </p:nvSpPr>
        <p:spPr>
          <a:xfrm xmlns:a="http://schemas.openxmlformats.org/drawingml/2006/main">
            <a:off x="2400300" y="2476500"/>
            <a:ext cx="1085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Route</a:t>
            </a:r>
          </a:p>
        </p:txBody>
      </p:sp>
      <p:sp>
        <p:nvSpPr>
          <p:cNvPr id="12" name="">
            <a:extLst xmlns:a="http://schemas.openxmlformats.org/drawingml/2006/main">
              <a:ext uri="{FF2B5EF4-FFF2-40B4-BE49-F238E27FC236}">
                <a16:creationId xmlns:a16="http://schemas.microsoft.com/office/drawing/2014/main" id="{DAFB2CC4-F3D7-44CF-A3F3-AA3386DE938F}"/>
              </a:ext>
            </a:extLst>
          </p:cNvPr>
          <p:cNvSpPr>
            <a:spLocks xmlns:a="http://schemas.openxmlformats.org/drawingml/2006/main" noGrp="1"/>
          </p:cNvSpPr>
          <p:nvPr/>
        </p:nvSpPr>
        <p:spPr>
          <a:xfrm xmlns:a="http://schemas.openxmlformats.org/drawingml/2006/main">
            <a:off x="2400300" y="2781300"/>
            <a:ext cx="10858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Type + size checks</a:t>
            </a:r>
          </a:p>
        </p:txBody>
      </p:sp>
      <p:sp>
        <p:nvSpPr>
          <p:cNvPr id="13" name="">
            <a:extLst xmlns:a="http://schemas.openxmlformats.org/drawingml/2006/main">
              <a:ext uri="{FF2B5EF4-FFF2-40B4-BE49-F238E27FC236}">
                <a16:creationId xmlns:a16="http://schemas.microsoft.com/office/drawing/2014/main" id="{21186DA4-68D3-4F54-939F-4A9B9E6E67FD}"/>
              </a:ext>
            </a:extLst>
          </p:cNvPr>
          <p:cNvSpPr>
            <a:spLocks xmlns:a="http://schemas.openxmlformats.org/drawingml/2006/main" noGrp="1"/>
          </p:cNvSpPr>
          <p:nvPr/>
        </p:nvSpPr>
        <p:spPr>
          <a:xfrm xmlns:a="http://schemas.openxmlformats.org/drawingml/2006/main">
            <a:off x="3619500" y="2914650"/>
            <a:ext cx="152400" cy="171450"/>
          </a:xfrm>
          <a:prstGeom xmlns:a="http://schemas.openxmlformats.org/drawingml/2006/main" prst="rightArrow">
            <a:avLst/>
          </a:prstGeom>
          <a:solidFill xmlns:a="http://schemas.openxmlformats.org/drawingml/2006/main">
            <a:srgbClr val="D6AA4B"/>
          </a:solidFill>
          <a:ln xmlns:a="http://schemas.openxmlformats.org/drawingml/2006/main" w="0">
            <a:solidFill>
              <a:srgbClr val="D6AA4B"/>
            </a:solidFill>
            <a:prstDash val="solid"/>
          </a:ln>
        </p:spPr>
      </p:sp>
      <p:sp>
        <p:nvSpPr>
          <p:cNvPr id="14" name="">
            <a:extLst xmlns:a="http://schemas.openxmlformats.org/drawingml/2006/main">
              <a:ext uri="{FF2B5EF4-FFF2-40B4-BE49-F238E27FC236}">
                <a16:creationId xmlns:a16="http://schemas.microsoft.com/office/drawing/2014/main" id="{CD9D2EE2-EC6A-427E-AD61-F862FF61D269}"/>
              </a:ext>
            </a:extLst>
          </p:cNvPr>
          <p:cNvSpPr>
            <a:spLocks xmlns:a="http://schemas.openxmlformats.org/drawingml/2006/main" noGrp="1"/>
          </p:cNvSpPr>
          <p:nvPr/>
        </p:nvSpPr>
        <p:spPr>
          <a:xfrm xmlns:a="http://schemas.openxmlformats.org/drawingml/2006/main">
            <a:off x="3771900" y="2381250"/>
            <a:ext cx="1371600" cy="131445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11430">
            <a:solidFill>
              <a:srgbClr val="D5E0E7"/>
            </a:solidFill>
            <a:prstDash val="solid"/>
          </a:ln>
        </p:spPr>
      </p:sp>
      <p:sp>
        <p:nvSpPr>
          <p:cNvPr id="15" name="">
            <a:extLst xmlns:a="http://schemas.openxmlformats.org/drawingml/2006/main">
              <a:ext uri="{FF2B5EF4-FFF2-40B4-BE49-F238E27FC236}">
                <a16:creationId xmlns:a16="http://schemas.microsoft.com/office/drawing/2014/main" id="{4C8F4706-7082-4C06-8171-0E7260CA57E5}"/>
              </a:ext>
            </a:extLst>
          </p:cNvPr>
          <p:cNvSpPr>
            <a:spLocks xmlns:a="http://schemas.openxmlformats.org/drawingml/2006/main" noGrp="1"/>
          </p:cNvSpPr>
          <p:nvPr/>
        </p:nvSpPr>
        <p:spPr>
          <a:xfrm xmlns:a="http://schemas.openxmlformats.org/drawingml/2006/main">
            <a:off x="3771900" y="2381250"/>
            <a:ext cx="66675" cy="1314450"/>
          </a:xfrm>
          <a:prstGeom xmlns:a="http://schemas.openxmlformats.org/drawingml/2006/main" prst="rect">
            <a:avLst/>
          </a:prstGeom>
          <a:solidFill xmlns:a="http://schemas.openxmlformats.org/drawingml/2006/main">
            <a:srgbClr val="187A83"/>
          </a:solidFill>
          <a:ln xmlns:a="http://schemas.openxmlformats.org/drawingml/2006/main" w="0">
            <a:solidFill>
              <a:srgbClr val="187A83"/>
            </a:solidFill>
            <a:prstDash val="solid"/>
          </a:ln>
        </p:spPr>
      </p:sp>
      <p:sp>
        <p:nvSpPr>
          <p:cNvPr id="16" name="">
            <a:extLst xmlns:a="http://schemas.openxmlformats.org/drawingml/2006/main">
              <a:ext uri="{FF2B5EF4-FFF2-40B4-BE49-F238E27FC236}">
                <a16:creationId xmlns:a16="http://schemas.microsoft.com/office/drawing/2014/main" id="{89F5D889-202A-467A-8A66-B3F909C987BC}"/>
              </a:ext>
            </a:extLst>
          </p:cNvPr>
          <p:cNvSpPr>
            <a:spLocks xmlns:a="http://schemas.openxmlformats.org/drawingml/2006/main" noGrp="1"/>
          </p:cNvSpPr>
          <p:nvPr/>
        </p:nvSpPr>
        <p:spPr>
          <a:xfrm xmlns:a="http://schemas.openxmlformats.org/drawingml/2006/main">
            <a:off x="3943350" y="2476500"/>
            <a:ext cx="1085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Extract</a:t>
            </a:r>
          </a:p>
        </p:txBody>
      </p:sp>
      <p:sp>
        <p:nvSpPr>
          <p:cNvPr id="17" name="">
            <a:extLst xmlns:a="http://schemas.openxmlformats.org/drawingml/2006/main">
              <a:ext uri="{FF2B5EF4-FFF2-40B4-BE49-F238E27FC236}">
                <a16:creationId xmlns:a16="http://schemas.microsoft.com/office/drawing/2014/main" id="{66B5A816-2E5F-4601-A9C1-BC0E1EC4FA71}"/>
              </a:ext>
            </a:extLst>
          </p:cNvPr>
          <p:cNvSpPr>
            <a:spLocks xmlns:a="http://schemas.openxmlformats.org/drawingml/2006/main" noGrp="1"/>
          </p:cNvSpPr>
          <p:nvPr/>
        </p:nvSpPr>
        <p:spPr>
          <a:xfrm xmlns:a="http://schemas.openxmlformats.org/drawingml/2006/main">
            <a:off x="3943350" y="2781300"/>
            <a:ext cx="10858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Parser + OCR</a:t>
            </a:r>
          </a:p>
        </p:txBody>
      </p:sp>
      <p:sp>
        <p:nvSpPr>
          <p:cNvPr id="18" name="">
            <a:extLst xmlns:a="http://schemas.openxmlformats.org/drawingml/2006/main">
              <a:ext uri="{FF2B5EF4-FFF2-40B4-BE49-F238E27FC236}">
                <a16:creationId xmlns:a16="http://schemas.microsoft.com/office/drawing/2014/main" id="{629069E4-70B2-4509-92A2-5F269675F9E9}"/>
              </a:ext>
            </a:extLst>
          </p:cNvPr>
          <p:cNvSpPr>
            <a:spLocks xmlns:a="http://schemas.openxmlformats.org/drawingml/2006/main" noGrp="1"/>
          </p:cNvSpPr>
          <p:nvPr/>
        </p:nvSpPr>
        <p:spPr>
          <a:xfrm xmlns:a="http://schemas.openxmlformats.org/drawingml/2006/main">
            <a:off x="5162550" y="2914650"/>
            <a:ext cx="152400" cy="171450"/>
          </a:xfrm>
          <a:prstGeom xmlns:a="http://schemas.openxmlformats.org/drawingml/2006/main" prst="rightArrow">
            <a:avLst/>
          </a:prstGeom>
          <a:solidFill xmlns:a="http://schemas.openxmlformats.org/drawingml/2006/main">
            <a:srgbClr val="D6AA4B"/>
          </a:solidFill>
          <a:ln xmlns:a="http://schemas.openxmlformats.org/drawingml/2006/main" w="0">
            <a:solidFill>
              <a:srgbClr val="D6AA4B"/>
            </a:solidFill>
            <a:prstDash val="solid"/>
          </a:ln>
        </p:spPr>
      </p:sp>
      <p:sp>
        <p:nvSpPr>
          <p:cNvPr id="19" name="">
            <a:extLst xmlns:a="http://schemas.openxmlformats.org/drawingml/2006/main">
              <a:ext uri="{FF2B5EF4-FFF2-40B4-BE49-F238E27FC236}">
                <a16:creationId xmlns:a16="http://schemas.microsoft.com/office/drawing/2014/main" id="{65B6253E-06B5-4C34-933A-238605A7228B}"/>
              </a:ext>
            </a:extLst>
          </p:cNvPr>
          <p:cNvSpPr>
            <a:spLocks xmlns:a="http://schemas.openxmlformats.org/drawingml/2006/main" noGrp="1"/>
          </p:cNvSpPr>
          <p:nvPr/>
        </p:nvSpPr>
        <p:spPr>
          <a:xfrm xmlns:a="http://schemas.openxmlformats.org/drawingml/2006/main">
            <a:off x="5314950" y="2381250"/>
            <a:ext cx="1371600" cy="131445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11430">
            <a:solidFill>
              <a:srgbClr val="D5E0E7"/>
            </a:solidFill>
            <a:prstDash val="solid"/>
          </a:ln>
        </p:spPr>
      </p:sp>
      <p:sp>
        <p:nvSpPr>
          <p:cNvPr id="20" name="">
            <a:extLst xmlns:a="http://schemas.openxmlformats.org/drawingml/2006/main">
              <a:ext uri="{FF2B5EF4-FFF2-40B4-BE49-F238E27FC236}">
                <a16:creationId xmlns:a16="http://schemas.microsoft.com/office/drawing/2014/main" id="{81821173-0AA3-43CD-AC6E-A8D943CD74B9}"/>
              </a:ext>
            </a:extLst>
          </p:cNvPr>
          <p:cNvSpPr>
            <a:spLocks xmlns:a="http://schemas.openxmlformats.org/drawingml/2006/main" noGrp="1"/>
          </p:cNvSpPr>
          <p:nvPr/>
        </p:nvSpPr>
        <p:spPr>
          <a:xfrm xmlns:a="http://schemas.openxmlformats.org/drawingml/2006/main">
            <a:off x="5314950" y="2381250"/>
            <a:ext cx="66675" cy="1314450"/>
          </a:xfrm>
          <a:prstGeom xmlns:a="http://schemas.openxmlformats.org/drawingml/2006/main" prst="rect">
            <a:avLst/>
          </a:prstGeom>
          <a:solidFill xmlns:a="http://schemas.openxmlformats.org/drawingml/2006/main">
            <a:srgbClr val="187A83"/>
          </a:solidFill>
          <a:ln xmlns:a="http://schemas.openxmlformats.org/drawingml/2006/main" w="0">
            <a:solidFill>
              <a:srgbClr val="187A83"/>
            </a:solidFill>
            <a:prstDash val="solid"/>
          </a:ln>
        </p:spPr>
      </p:sp>
      <p:sp>
        <p:nvSpPr>
          <p:cNvPr id="21" name="">
            <a:extLst xmlns:a="http://schemas.openxmlformats.org/drawingml/2006/main">
              <a:ext uri="{FF2B5EF4-FFF2-40B4-BE49-F238E27FC236}">
                <a16:creationId xmlns:a16="http://schemas.microsoft.com/office/drawing/2014/main" id="{10C6D5EC-709C-428D-A346-395F77D49003}"/>
              </a:ext>
            </a:extLst>
          </p:cNvPr>
          <p:cNvSpPr>
            <a:spLocks xmlns:a="http://schemas.openxmlformats.org/drawingml/2006/main" noGrp="1"/>
          </p:cNvSpPr>
          <p:nvPr/>
        </p:nvSpPr>
        <p:spPr>
          <a:xfrm xmlns:a="http://schemas.openxmlformats.org/drawingml/2006/main">
            <a:off x="5486400" y="2476500"/>
            <a:ext cx="1085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Normalize</a:t>
            </a:r>
          </a:p>
        </p:txBody>
      </p:sp>
      <p:sp>
        <p:nvSpPr>
          <p:cNvPr id="22" name="">
            <a:extLst xmlns:a="http://schemas.openxmlformats.org/drawingml/2006/main">
              <a:ext uri="{FF2B5EF4-FFF2-40B4-BE49-F238E27FC236}">
                <a16:creationId xmlns:a16="http://schemas.microsoft.com/office/drawing/2014/main" id="{276C1A7E-3387-457D-B6C1-CB0581795663}"/>
              </a:ext>
            </a:extLst>
          </p:cNvPr>
          <p:cNvSpPr>
            <a:spLocks xmlns:a="http://schemas.openxmlformats.org/drawingml/2006/main" noGrp="1"/>
          </p:cNvSpPr>
          <p:nvPr/>
        </p:nvSpPr>
        <p:spPr>
          <a:xfrm xmlns:a="http://schemas.openxmlformats.org/drawingml/2006/main">
            <a:off x="5486400" y="2781300"/>
            <a:ext cx="10858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Ordered context blocks</a:t>
            </a:r>
          </a:p>
        </p:txBody>
      </p:sp>
      <p:sp>
        <p:nvSpPr>
          <p:cNvPr id="23" name="">
            <a:extLst xmlns:a="http://schemas.openxmlformats.org/drawingml/2006/main">
              <a:ext uri="{FF2B5EF4-FFF2-40B4-BE49-F238E27FC236}">
                <a16:creationId xmlns:a16="http://schemas.microsoft.com/office/drawing/2014/main" id="{8DDE337E-7983-4973-8424-78F61B43FEF7}"/>
              </a:ext>
            </a:extLst>
          </p:cNvPr>
          <p:cNvSpPr>
            <a:spLocks xmlns:a="http://schemas.openxmlformats.org/drawingml/2006/main" noGrp="1"/>
          </p:cNvSpPr>
          <p:nvPr/>
        </p:nvSpPr>
        <p:spPr>
          <a:xfrm xmlns:a="http://schemas.openxmlformats.org/drawingml/2006/main">
            <a:off x="6705600" y="2914650"/>
            <a:ext cx="152400" cy="171450"/>
          </a:xfrm>
          <a:prstGeom xmlns:a="http://schemas.openxmlformats.org/drawingml/2006/main" prst="rightArrow">
            <a:avLst/>
          </a:prstGeom>
          <a:solidFill xmlns:a="http://schemas.openxmlformats.org/drawingml/2006/main">
            <a:srgbClr val="D6AA4B"/>
          </a:solidFill>
          <a:ln xmlns:a="http://schemas.openxmlformats.org/drawingml/2006/main" w="0">
            <a:solidFill>
              <a:srgbClr val="D6AA4B"/>
            </a:solidFill>
            <a:prstDash val="solid"/>
          </a:ln>
        </p:spPr>
      </p:sp>
      <p:sp>
        <p:nvSpPr>
          <p:cNvPr id="24" name="">
            <a:extLst xmlns:a="http://schemas.openxmlformats.org/drawingml/2006/main">
              <a:ext uri="{FF2B5EF4-FFF2-40B4-BE49-F238E27FC236}">
                <a16:creationId xmlns:a16="http://schemas.microsoft.com/office/drawing/2014/main" id="{12733822-38DD-4813-951D-66753B0CFCE4}"/>
              </a:ext>
            </a:extLst>
          </p:cNvPr>
          <p:cNvSpPr>
            <a:spLocks xmlns:a="http://schemas.openxmlformats.org/drawingml/2006/main" noGrp="1"/>
          </p:cNvSpPr>
          <p:nvPr/>
        </p:nvSpPr>
        <p:spPr>
          <a:xfrm xmlns:a="http://schemas.openxmlformats.org/drawingml/2006/main">
            <a:off x="6858000" y="2381250"/>
            <a:ext cx="1371600" cy="131445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11430">
            <a:solidFill>
              <a:srgbClr val="D5E0E7"/>
            </a:solidFill>
            <a:prstDash val="solid"/>
          </a:ln>
        </p:spPr>
      </p:sp>
      <p:sp>
        <p:nvSpPr>
          <p:cNvPr id="25" name="">
            <a:extLst xmlns:a="http://schemas.openxmlformats.org/drawingml/2006/main">
              <a:ext uri="{FF2B5EF4-FFF2-40B4-BE49-F238E27FC236}">
                <a16:creationId xmlns:a16="http://schemas.microsoft.com/office/drawing/2014/main" id="{BA6FF37C-5F16-4A58-B342-9FC811187643}"/>
              </a:ext>
            </a:extLst>
          </p:cNvPr>
          <p:cNvSpPr>
            <a:spLocks xmlns:a="http://schemas.openxmlformats.org/drawingml/2006/main" noGrp="1"/>
          </p:cNvSpPr>
          <p:nvPr/>
        </p:nvSpPr>
        <p:spPr>
          <a:xfrm xmlns:a="http://schemas.openxmlformats.org/drawingml/2006/main">
            <a:off x="6858000" y="2381250"/>
            <a:ext cx="66675" cy="1314450"/>
          </a:xfrm>
          <a:prstGeom xmlns:a="http://schemas.openxmlformats.org/drawingml/2006/main" prst="rect">
            <a:avLst/>
          </a:prstGeom>
          <a:solidFill xmlns:a="http://schemas.openxmlformats.org/drawingml/2006/main">
            <a:srgbClr val="187A83"/>
          </a:solidFill>
          <a:ln xmlns:a="http://schemas.openxmlformats.org/drawingml/2006/main" w="0">
            <a:solidFill>
              <a:srgbClr val="187A83"/>
            </a:solidFill>
            <a:prstDash val="solid"/>
          </a:ln>
        </p:spPr>
      </p:sp>
      <p:sp>
        <p:nvSpPr>
          <p:cNvPr id="26" name="">
            <a:extLst xmlns:a="http://schemas.openxmlformats.org/drawingml/2006/main">
              <a:ext uri="{FF2B5EF4-FFF2-40B4-BE49-F238E27FC236}">
                <a16:creationId xmlns:a16="http://schemas.microsoft.com/office/drawing/2014/main" id="{F79059A6-C8D5-4355-B88A-6D88CB4B9944}"/>
              </a:ext>
            </a:extLst>
          </p:cNvPr>
          <p:cNvSpPr>
            <a:spLocks xmlns:a="http://schemas.openxmlformats.org/drawingml/2006/main" noGrp="1"/>
          </p:cNvSpPr>
          <p:nvPr/>
        </p:nvSpPr>
        <p:spPr>
          <a:xfrm xmlns:a="http://schemas.openxmlformats.org/drawingml/2006/main">
            <a:off x="7029450" y="2476500"/>
            <a:ext cx="1085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Detect</a:t>
            </a:r>
          </a:p>
        </p:txBody>
      </p:sp>
      <p:sp>
        <p:nvSpPr>
          <p:cNvPr id="27" name="">
            <a:extLst xmlns:a="http://schemas.openxmlformats.org/drawingml/2006/main">
              <a:ext uri="{FF2B5EF4-FFF2-40B4-BE49-F238E27FC236}">
                <a16:creationId xmlns:a16="http://schemas.microsoft.com/office/drawing/2014/main" id="{4E264E34-03C2-4A41-962A-56BF50AEEFA1}"/>
              </a:ext>
            </a:extLst>
          </p:cNvPr>
          <p:cNvSpPr>
            <a:spLocks xmlns:a="http://schemas.openxmlformats.org/drawingml/2006/main" noGrp="1"/>
          </p:cNvSpPr>
          <p:nvPr/>
        </p:nvSpPr>
        <p:spPr>
          <a:xfrm xmlns:a="http://schemas.openxmlformats.org/drawingml/2006/main">
            <a:off x="7029450" y="2781300"/>
            <a:ext cx="10858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PII tags + locators</a:t>
            </a:r>
          </a:p>
        </p:txBody>
      </p:sp>
      <p:sp>
        <p:nvSpPr>
          <p:cNvPr id="28" name="">
            <a:extLst xmlns:a="http://schemas.openxmlformats.org/drawingml/2006/main">
              <a:ext uri="{FF2B5EF4-FFF2-40B4-BE49-F238E27FC236}">
                <a16:creationId xmlns:a16="http://schemas.microsoft.com/office/drawing/2014/main" id="{2775EE28-AD1C-4F93-927D-9398320436D5}"/>
              </a:ext>
            </a:extLst>
          </p:cNvPr>
          <p:cNvSpPr>
            <a:spLocks xmlns:a="http://schemas.openxmlformats.org/drawingml/2006/main" noGrp="1"/>
          </p:cNvSpPr>
          <p:nvPr/>
        </p:nvSpPr>
        <p:spPr>
          <a:xfrm xmlns:a="http://schemas.openxmlformats.org/drawingml/2006/main">
            <a:off x="8248650" y="2914650"/>
            <a:ext cx="152400" cy="171450"/>
          </a:xfrm>
          <a:prstGeom xmlns:a="http://schemas.openxmlformats.org/drawingml/2006/main" prst="rightArrow">
            <a:avLst/>
          </a:prstGeom>
          <a:solidFill xmlns:a="http://schemas.openxmlformats.org/drawingml/2006/main">
            <a:srgbClr val="D6AA4B"/>
          </a:solidFill>
          <a:ln xmlns:a="http://schemas.openxmlformats.org/drawingml/2006/main" w="0">
            <a:solidFill>
              <a:srgbClr val="D6AA4B"/>
            </a:solidFill>
            <a:prstDash val="solid"/>
          </a:ln>
        </p:spPr>
      </p:sp>
      <p:sp>
        <p:nvSpPr>
          <p:cNvPr id="29" name="">
            <a:extLst xmlns:a="http://schemas.openxmlformats.org/drawingml/2006/main">
              <a:ext uri="{FF2B5EF4-FFF2-40B4-BE49-F238E27FC236}">
                <a16:creationId xmlns:a16="http://schemas.microsoft.com/office/drawing/2014/main" id="{EE8FF75D-FE87-4112-A890-1180C6F91B84}"/>
              </a:ext>
            </a:extLst>
          </p:cNvPr>
          <p:cNvSpPr>
            <a:spLocks xmlns:a="http://schemas.openxmlformats.org/drawingml/2006/main" noGrp="1"/>
          </p:cNvSpPr>
          <p:nvPr/>
        </p:nvSpPr>
        <p:spPr>
          <a:xfrm xmlns:a="http://schemas.openxmlformats.org/drawingml/2006/main">
            <a:off x="8401050" y="2381250"/>
            <a:ext cx="1371600" cy="131445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11430">
            <a:solidFill>
              <a:srgbClr val="D5E0E7"/>
            </a:solidFill>
            <a:prstDash val="solid"/>
          </a:ln>
        </p:spPr>
      </p:sp>
      <p:sp>
        <p:nvSpPr>
          <p:cNvPr id="30" name="">
            <a:extLst xmlns:a="http://schemas.openxmlformats.org/drawingml/2006/main">
              <a:ext uri="{FF2B5EF4-FFF2-40B4-BE49-F238E27FC236}">
                <a16:creationId xmlns:a16="http://schemas.microsoft.com/office/drawing/2014/main" id="{4AA039BC-AC1C-4507-A0EE-BA7B52F8B87C}"/>
              </a:ext>
            </a:extLst>
          </p:cNvPr>
          <p:cNvSpPr>
            <a:spLocks xmlns:a="http://schemas.openxmlformats.org/drawingml/2006/main" noGrp="1"/>
          </p:cNvSpPr>
          <p:nvPr/>
        </p:nvSpPr>
        <p:spPr>
          <a:xfrm xmlns:a="http://schemas.openxmlformats.org/drawingml/2006/main">
            <a:off x="8401050" y="2381250"/>
            <a:ext cx="66675" cy="1314450"/>
          </a:xfrm>
          <a:prstGeom xmlns:a="http://schemas.openxmlformats.org/drawingml/2006/main" prst="rect">
            <a:avLst/>
          </a:prstGeom>
          <a:solidFill xmlns:a="http://schemas.openxmlformats.org/drawingml/2006/main">
            <a:srgbClr val="D6AA4B"/>
          </a:solidFill>
          <a:ln xmlns:a="http://schemas.openxmlformats.org/drawingml/2006/main" w="0">
            <a:solidFill>
              <a:srgbClr val="D6AA4B"/>
            </a:solidFill>
            <a:prstDash val="solid"/>
          </a:ln>
        </p:spPr>
      </p:sp>
      <p:sp>
        <p:nvSpPr>
          <p:cNvPr id="31" name="">
            <a:extLst xmlns:a="http://schemas.openxmlformats.org/drawingml/2006/main">
              <a:ext uri="{FF2B5EF4-FFF2-40B4-BE49-F238E27FC236}">
                <a16:creationId xmlns:a16="http://schemas.microsoft.com/office/drawing/2014/main" id="{45314431-53D6-4FE9-A7E5-214743E5076C}"/>
              </a:ext>
            </a:extLst>
          </p:cNvPr>
          <p:cNvSpPr>
            <a:spLocks xmlns:a="http://schemas.openxmlformats.org/drawingml/2006/main" noGrp="1"/>
          </p:cNvSpPr>
          <p:nvPr/>
        </p:nvSpPr>
        <p:spPr>
          <a:xfrm xmlns:a="http://schemas.openxmlformats.org/drawingml/2006/main">
            <a:off x="8572500" y="2476500"/>
            <a:ext cx="1085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Redact</a:t>
            </a:r>
          </a:p>
        </p:txBody>
      </p:sp>
      <p:sp>
        <p:nvSpPr>
          <p:cNvPr id="32" name="">
            <a:extLst xmlns:a="http://schemas.openxmlformats.org/drawingml/2006/main">
              <a:ext uri="{FF2B5EF4-FFF2-40B4-BE49-F238E27FC236}">
                <a16:creationId xmlns:a16="http://schemas.microsoft.com/office/drawing/2014/main" id="{8DCE691F-FD0B-42FF-949D-C0D9C00B14CF}"/>
              </a:ext>
            </a:extLst>
          </p:cNvPr>
          <p:cNvSpPr>
            <a:spLocks xmlns:a="http://schemas.openxmlformats.org/drawingml/2006/main" noGrp="1"/>
          </p:cNvSpPr>
          <p:nvPr/>
        </p:nvSpPr>
        <p:spPr>
          <a:xfrm xmlns:a="http://schemas.openxmlformats.org/drawingml/2006/main">
            <a:off x="8572500" y="2781300"/>
            <a:ext cx="10858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Tagged spans</a:t>
            </a:r>
          </a:p>
        </p:txBody>
      </p:sp>
      <p:sp>
        <p:nvSpPr>
          <p:cNvPr id="33" name="">
            <a:extLst xmlns:a="http://schemas.openxmlformats.org/drawingml/2006/main">
              <a:ext uri="{FF2B5EF4-FFF2-40B4-BE49-F238E27FC236}">
                <a16:creationId xmlns:a16="http://schemas.microsoft.com/office/drawing/2014/main" id="{67F50907-7F53-47AF-BADE-7751166D0ACD}"/>
              </a:ext>
            </a:extLst>
          </p:cNvPr>
          <p:cNvSpPr>
            <a:spLocks xmlns:a="http://schemas.openxmlformats.org/drawingml/2006/main" noGrp="1"/>
          </p:cNvSpPr>
          <p:nvPr/>
        </p:nvSpPr>
        <p:spPr>
          <a:xfrm xmlns:a="http://schemas.openxmlformats.org/drawingml/2006/main">
            <a:off x="9791700" y="2914650"/>
            <a:ext cx="152400" cy="171450"/>
          </a:xfrm>
          <a:prstGeom xmlns:a="http://schemas.openxmlformats.org/drawingml/2006/main" prst="rightArrow">
            <a:avLst/>
          </a:prstGeom>
          <a:solidFill xmlns:a="http://schemas.openxmlformats.org/drawingml/2006/main">
            <a:srgbClr val="D6AA4B"/>
          </a:solidFill>
          <a:ln xmlns:a="http://schemas.openxmlformats.org/drawingml/2006/main" w="0">
            <a:solidFill>
              <a:srgbClr val="D6AA4B"/>
            </a:solidFill>
            <a:prstDash val="solid"/>
          </a:ln>
        </p:spPr>
      </p:sp>
      <p:sp>
        <p:nvSpPr>
          <p:cNvPr id="34" name="">
            <a:extLst xmlns:a="http://schemas.openxmlformats.org/drawingml/2006/main">
              <a:ext uri="{FF2B5EF4-FFF2-40B4-BE49-F238E27FC236}">
                <a16:creationId xmlns:a16="http://schemas.microsoft.com/office/drawing/2014/main" id="{C764EB8F-3762-4F50-937F-644FF3606CBA}"/>
              </a:ext>
            </a:extLst>
          </p:cNvPr>
          <p:cNvSpPr>
            <a:spLocks xmlns:a="http://schemas.openxmlformats.org/drawingml/2006/main" noGrp="1"/>
          </p:cNvSpPr>
          <p:nvPr/>
        </p:nvSpPr>
        <p:spPr>
          <a:xfrm xmlns:a="http://schemas.openxmlformats.org/drawingml/2006/main">
            <a:off x="9944100" y="2381250"/>
            <a:ext cx="1371600" cy="131445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11430">
            <a:solidFill>
              <a:srgbClr val="D5E0E7"/>
            </a:solidFill>
            <a:prstDash val="solid"/>
          </a:ln>
        </p:spPr>
      </p:sp>
      <p:sp>
        <p:nvSpPr>
          <p:cNvPr id="35" name="">
            <a:extLst xmlns:a="http://schemas.openxmlformats.org/drawingml/2006/main">
              <a:ext uri="{FF2B5EF4-FFF2-40B4-BE49-F238E27FC236}">
                <a16:creationId xmlns:a16="http://schemas.microsoft.com/office/drawing/2014/main" id="{E84D8D1D-DC7D-4F91-B01C-577BFECA1AF8}"/>
              </a:ext>
            </a:extLst>
          </p:cNvPr>
          <p:cNvSpPr>
            <a:spLocks xmlns:a="http://schemas.openxmlformats.org/drawingml/2006/main" noGrp="1"/>
          </p:cNvSpPr>
          <p:nvPr/>
        </p:nvSpPr>
        <p:spPr>
          <a:xfrm xmlns:a="http://schemas.openxmlformats.org/drawingml/2006/main">
            <a:off x="9944100" y="2381250"/>
            <a:ext cx="66675" cy="1314450"/>
          </a:xfrm>
          <a:prstGeom xmlns:a="http://schemas.openxmlformats.org/drawingml/2006/main" prst="rect">
            <a:avLst/>
          </a:prstGeom>
          <a:solidFill xmlns:a="http://schemas.openxmlformats.org/drawingml/2006/main">
            <a:srgbClr val="A14338"/>
          </a:solidFill>
          <a:ln xmlns:a="http://schemas.openxmlformats.org/drawingml/2006/main" w="0">
            <a:solidFill>
              <a:srgbClr val="A14338"/>
            </a:solidFill>
            <a:prstDash val="solid"/>
          </a:ln>
        </p:spPr>
      </p:sp>
      <p:sp>
        <p:nvSpPr>
          <p:cNvPr id="36" name="">
            <a:extLst xmlns:a="http://schemas.openxmlformats.org/drawingml/2006/main">
              <a:ext uri="{FF2B5EF4-FFF2-40B4-BE49-F238E27FC236}">
                <a16:creationId xmlns:a16="http://schemas.microsoft.com/office/drawing/2014/main" id="{364B8A55-61C0-499A-B8D6-8CBE26B62732}"/>
              </a:ext>
            </a:extLst>
          </p:cNvPr>
          <p:cNvSpPr>
            <a:spLocks xmlns:a="http://schemas.openxmlformats.org/drawingml/2006/main" noGrp="1"/>
          </p:cNvSpPr>
          <p:nvPr/>
        </p:nvSpPr>
        <p:spPr>
          <a:xfrm xmlns:a="http://schemas.openxmlformats.org/drawingml/2006/main">
            <a:off x="10115550" y="2476500"/>
            <a:ext cx="1085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Review gate</a:t>
            </a:r>
          </a:p>
        </p:txBody>
      </p:sp>
      <p:sp>
        <p:nvSpPr>
          <p:cNvPr id="37" name="">
            <a:extLst xmlns:a="http://schemas.openxmlformats.org/drawingml/2006/main">
              <a:ext uri="{FF2B5EF4-FFF2-40B4-BE49-F238E27FC236}">
                <a16:creationId xmlns:a16="http://schemas.microsoft.com/office/drawing/2014/main" id="{A524925C-ADB8-4885-87C5-BAC23EC9B8BF}"/>
              </a:ext>
            </a:extLst>
          </p:cNvPr>
          <p:cNvSpPr>
            <a:spLocks xmlns:a="http://schemas.openxmlformats.org/drawingml/2006/main" noGrp="1"/>
          </p:cNvSpPr>
          <p:nvPr/>
        </p:nvSpPr>
        <p:spPr>
          <a:xfrm xmlns:a="http://schemas.openxmlformats.org/drawingml/2006/main">
            <a:off x="10115550" y="2781300"/>
            <a:ext cx="10858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Approve / block</a:t>
            </a:r>
          </a:p>
        </p:txBody>
      </p:sp>
      <p:sp>
        <p:nvSpPr>
          <p:cNvPr id="38" name="">
            <a:extLst xmlns:a="http://schemas.openxmlformats.org/drawingml/2006/main">
              <a:ext uri="{FF2B5EF4-FFF2-40B4-BE49-F238E27FC236}">
                <a16:creationId xmlns:a16="http://schemas.microsoft.com/office/drawing/2014/main" id="{ABEAEED0-3618-4153-9DA2-8D3FE18499A7}"/>
              </a:ext>
            </a:extLst>
          </p:cNvPr>
          <p:cNvSpPr>
            <a:spLocks xmlns:a="http://schemas.openxmlformats.org/drawingml/2006/main" noGrp="1"/>
          </p:cNvSpPr>
          <p:nvPr/>
        </p:nvSpPr>
        <p:spPr>
          <a:xfrm xmlns:a="http://schemas.openxmlformats.org/drawingml/2006/main">
            <a:off x="10477500" y="3800475"/>
            <a:ext cx="228600" cy="285750"/>
          </a:xfrm>
          <a:prstGeom xmlns:a="http://schemas.openxmlformats.org/drawingml/2006/main" prst="downArrow">
            <a:avLst/>
          </a:prstGeom>
          <a:solidFill xmlns:a="http://schemas.openxmlformats.org/drawingml/2006/main">
            <a:srgbClr val="A14338"/>
          </a:solidFill>
          <a:ln xmlns:a="http://schemas.openxmlformats.org/drawingml/2006/main" w="0">
            <a:solidFill>
              <a:srgbClr val="A14338"/>
            </a:solidFill>
            <a:prstDash val="solid"/>
          </a:ln>
        </p:spPr>
      </p:sp>
      <p:sp>
        <p:nvSpPr>
          <p:cNvPr id="39" name="">
            <a:extLst xmlns:a="http://schemas.openxmlformats.org/drawingml/2006/main">
              <a:ext uri="{FF2B5EF4-FFF2-40B4-BE49-F238E27FC236}">
                <a16:creationId xmlns:a16="http://schemas.microsoft.com/office/drawing/2014/main" id="{5563DD84-5C74-4B79-B0DB-C12427C2D5B5}"/>
              </a:ext>
            </a:extLst>
          </p:cNvPr>
          <p:cNvSpPr>
            <a:spLocks xmlns:a="http://schemas.openxmlformats.org/drawingml/2006/main" noGrp="1"/>
          </p:cNvSpPr>
          <p:nvPr/>
        </p:nvSpPr>
        <p:spPr>
          <a:xfrm xmlns:a="http://schemas.openxmlformats.org/drawingml/2006/main">
            <a:off x="8096250" y="4286250"/>
            <a:ext cx="3409950" cy="1104900"/>
          </a:xfrm>
          <a:prstGeom xmlns:a="http://schemas.openxmlformats.org/drawingml/2006/main" prst="roundRect">
            <a:avLst>
              <a:gd name="adj" fmla="val 10345"/>
            </a:avLst>
          </a:prstGeom>
          <a:solidFill xmlns:a="http://schemas.openxmlformats.org/drawingml/2006/main">
            <a:srgbClr val="F8EAE7"/>
          </a:solidFill>
          <a:ln xmlns:a="http://schemas.openxmlformats.org/drawingml/2006/main" w="11430">
            <a:solidFill>
              <a:srgbClr val="F8EAE7"/>
            </a:solidFill>
            <a:prstDash val="solid"/>
          </a:ln>
        </p:spPr>
      </p:sp>
      <p:sp>
        <p:nvSpPr>
          <p:cNvPr id="40" name="">
            <a:extLst xmlns:a="http://schemas.openxmlformats.org/drawingml/2006/main">
              <a:ext uri="{FF2B5EF4-FFF2-40B4-BE49-F238E27FC236}">
                <a16:creationId xmlns:a16="http://schemas.microsoft.com/office/drawing/2014/main" id="{873D490E-86A7-49BD-AD5E-11E2F062FB3B}"/>
              </a:ext>
            </a:extLst>
          </p:cNvPr>
          <p:cNvSpPr>
            <a:spLocks xmlns:a="http://schemas.openxmlformats.org/drawingml/2006/main" noGrp="1"/>
          </p:cNvSpPr>
          <p:nvPr/>
        </p:nvSpPr>
        <p:spPr>
          <a:xfrm xmlns:a="http://schemas.openxmlformats.org/drawingml/2006/main">
            <a:off x="8324850" y="441007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702"/>
          </a:bodyPr>
          <a:lstStyle xmlns:a="http://schemas.openxmlformats.org/drawingml/2006/main"/>
          <a:p xmlns:a="http://schemas.openxmlformats.org/drawingml/2006/main">
            <a:pPr algn="l">
              <a:buNone/>
              <a:defRPr sz="1425" b="1">
                <a:solidFill>
                  <a:srgbClr val="A14338"/>
                </a:solidFill>
                <a:latin typeface="Arial"/>
                <a:ea typeface="Arial"/>
                <a:cs typeface="Arial"/>
              </a:defRPr>
            </a:pPr>
            <a:r>
              <a:rPr sz="1425" b="1">
                <a:solidFill>
                  <a:srgbClr val="A14338"/>
                </a:solidFill>
                <a:latin typeface="Arial"/>
                <a:ea typeface="Arial"/>
                <a:cs typeface="Arial"/>
              </a:rPr>
              <a:t>Quarantine queue</a:t>
            </a:r>
          </a:p>
        </p:txBody>
      </p:sp>
      <p:sp>
        <p:nvSpPr>
          <p:cNvPr id="41" name="">
            <a:extLst xmlns:a="http://schemas.openxmlformats.org/drawingml/2006/main">
              <a:ext uri="{FF2B5EF4-FFF2-40B4-BE49-F238E27FC236}">
                <a16:creationId xmlns:a16="http://schemas.microsoft.com/office/drawing/2014/main" id="{458DA8B8-3F9F-4A80-A036-E79EB89E8120}"/>
              </a:ext>
            </a:extLst>
          </p:cNvPr>
          <p:cNvSpPr>
            <a:spLocks xmlns:a="http://schemas.openxmlformats.org/drawingml/2006/main" noGrp="1"/>
          </p:cNvSpPr>
          <p:nvPr/>
        </p:nvSpPr>
        <p:spPr>
          <a:xfrm xmlns:a="http://schemas.openxmlformats.org/drawingml/2006/main">
            <a:off x="8324850" y="4724400"/>
            <a:ext cx="2952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819"/>
          </a:bodyPr>
          <a:lstStyle xmlns:a="http://schemas.openxmlformats.org/drawingml/2006/main"/>
          <a:p xmlns:a="http://schemas.openxmlformats.org/drawingml/2006/main">
            <a:pPr algn="l">
              <a:buNone/>
              <a:defRPr sz="1200" b="0">
                <a:solidFill>
                  <a:srgbClr val="17334B"/>
                </a:solidFill>
                <a:latin typeface="Arial"/>
                <a:ea typeface="Arial"/>
                <a:cs typeface="Arial"/>
              </a:defRPr>
            </a:pPr>
            <a:r>
              <a:rPr sz="1200" b="0">
                <a:solidFill>
                  <a:srgbClr val="17334B"/>
                </a:solidFill>
                <a:latin typeface="Arial"/>
                <a:ea typeface="Arial"/>
                <a:cs typeface="Arial"/>
              </a:rPr>
              <a:t>Unreadable scan, parser error, unsupported file or low-confidence extraction stays out of the release path.</a:t>
            </a:r>
          </a:p>
        </p:txBody>
      </p:sp>
      <p:sp>
        <p:nvSpPr>
          <p:cNvPr id="42" name="">
            <a:extLst xmlns:a="http://schemas.openxmlformats.org/drawingml/2006/main">
              <a:ext uri="{FF2B5EF4-FFF2-40B4-BE49-F238E27FC236}">
                <a16:creationId xmlns:a16="http://schemas.microsoft.com/office/drawing/2014/main" id="{2029BA71-5AA7-405F-BBC8-A1D5D54696B8}"/>
              </a:ext>
            </a:extLst>
          </p:cNvPr>
          <p:cNvSpPr>
            <a:spLocks xmlns:a="http://schemas.openxmlformats.org/drawingml/2006/main" noGrp="1"/>
          </p:cNvSpPr>
          <p:nvPr/>
        </p:nvSpPr>
        <p:spPr>
          <a:xfrm xmlns:a="http://schemas.openxmlformats.org/drawingml/2006/main">
            <a:off x="685800" y="4286250"/>
            <a:ext cx="6667500" cy="1104900"/>
          </a:xfrm>
          <a:prstGeom xmlns:a="http://schemas.openxmlformats.org/drawingml/2006/main" prst="roundRect">
            <a:avLst>
              <a:gd name="adj" fmla="val 10345"/>
            </a:avLst>
          </a:prstGeom>
          <a:solidFill xmlns:a="http://schemas.openxmlformats.org/drawingml/2006/main">
            <a:srgbClr val="E2F1EE"/>
          </a:solidFill>
          <a:ln xmlns:a="http://schemas.openxmlformats.org/drawingml/2006/main" w="11430">
            <a:solidFill>
              <a:srgbClr val="E2F1EE"/>
            </a:solidFill>
            <a:prstDash val="solid"/>
          </a:ln>
        </p:spPr>
      </p:sp>
      <p:sp>
        <p:nvSpPr>
          <p:cNvPr id="43" name="">
            <a:extLst xmlns:a="http://schemas.openxmlformats.org/drawingml/2006/main">
              <a:ext uri="{FF2B5EF4-FFF2-40B4-BE49-F238E27FC236}">
                <a16:creationId xmlns:a16="http://schemas.microsoft.com/office/drawing/2014/main" id="{45063636-324A-4281-A1E0-BC2A97CFA862}"/>
              </a:ext>
            </a:extLst>
          </p:cNvPr>
          <p:cNvSpPr>
            <a:spLocks xmlns:a="http://schemas.openxmlformats.org/drawingml/2006/main" noGrp="1"/>
          </p:cNvSpPr>
          <p:nvPr/>
        </p:nvSpPr>
        <p:spPr>
          <a:xfrm xmlns:a="http://schemas.openxmlformats.org/drawingml/2006/main">
            <a:off x="914400" y="441007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702"/>
          </a:bodyPr>
          <a:lstStyle xmlns:a="http://schemas.openxmlformats.org/drawingml/2006/main"/>
          <a:p xmlns:a="http://schemas.openxmlformats.org/drawingml/2006/main">
            <a:pPr algn="l">
              <a:buNone/>
              <a:defRPr sz="1425" b="1">
                <a:solidFill>
                  <a:srgbClr val="187A83"/>
                </a:solidFill>
                <a:latin typeface="Arial"/>
                <a:ea typeface="Arial"/>
                <a:cs typeface="Arial"/>
              </a:defRPr>
            </a:pPr>
            <a:r>
              <a:rPr sz="1425" b="1">
                <a:solidFill>
                  <a:srgbClr val="187A83"/>
                </a:solidFill>
                <a:latin typeface="Arial"/>
                <a:ea typeface="Arial"/>
                <a:cs typeface="Arial"/>
              </a:rPr>
              <a:t>Session trace</a:t>
            </a:r>
          </a:p>
        </p:txBody>
      </p:sp>
      <p:sp>
        <p:nvSpPr>
          <p:cNvPr id="44" name="">
            <a:extLst xmlns:a="http://schemas.openxmlformats.org/drawingml/2006/main">
              <a:ext uri="{FF2B5EF4-FFF2-40B4-BE49-F238E27FC236}">
                <a16:creationId xmlns:a16="http://schemas.microsoft.com/office/drawing/2014/main" id="{1146EF52-D0E6-4784-923A-524938B292FD}"/>
              </a:ext>
            </a:extLst>
          </p:cNvPr>
          <p:cNvSpPr>
            <a:spLocks xmlns:a="http://schemas.openxmlformats.org/drawingml/2006/main" noGrp="1"/>
          </p:cNvSpPr>
          <p:nvPr/>
        </p:nvSpPr>
        <p:spPr>
          <a:xfrm xmlns:a="http://schemas.openxmlformats.org/drawingml/2006/main">
            <a:off x="914400" y="4724400"/>
            <a:ext cx="6096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00" b="0">
                <a:solidFill>
                  <a:srgbClr val="17334B"/>
                </a:solidFill>
                <a:latin typeface="Arial"/>
                <a:ea typeface="Arial"/>
                <a:cs typeface="Arial"/>
              </a:defRPr>
            </a:pPr>
            <a:r>
              <a:rPr sz="1200" b="0">
                <a:solidFill>
                  <a:srgbClr val="17334B"/>
                </a:solidFill>
                <a:latin typeface="Arial"/>
                <a:ea typeface="Arial"/>
                <a:cs typeface="Arial"/>
              </a:rPr>
              <a:t>Session display only: counts + locations. No persistent file hash, parser version, or reviewer identity log.</a:t>
            </a:r>
          </a:p>
        </p:txBody>
      </p:sp>
      <p:sp>
        <p:nvSpPr>
          <p:cNvPr id="45" name="">
            <a:extLst xmlns:a="http://schemas.openxmlformats.org/drawingml/2006/main">
              <a:ext uri="{FF2B5EF4-FFF2-40B4-BE49-F238E27FC236}">
                <a16:creationId xmlns:a16="http://schemas.microsoft.com/office/drawing/2014/main" id="{157D3093-999C-44C4-A417-2E1975A173A3}"/>
              </a:ext>
            </a:extLst>
          </p:cNvPr>
          <p:cNvSpPr>
            <a:spLocks xmlns:a="http://schemas.openxmlformats.org/drawingml/2006/main" noGrp="1"/>
          </p:cNvSpPr>
          <p:nvPr/>
        </p:nvSpPr>
        <p:spPr>
          <a:xfrm xmlns:a="http://schemas.openxmlformats.org/drawingml/2006/main">
            <a:off x="685800" y="5810250"/>
            <a:ext cx="10820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392"/>
          </a:bodyPr>
          <a:lstStyle xmlns:a="http://schemas.openxmlformats.org/drawingml/2006/main"/>
          <a:p xmlns:a="http://schemas.openxmlformats.org/drawingml/2006/main">
            <a:pPr algn="l">
              <a:buNone/>
              <a:defRPr sz="1275" b="0">
                <a:solidFill>
                  <a:srgbClr val="536D81"/>
                </a:solidFill>
                <a:latin typeface="Arial"/>
                <a:ea typeface="Arial"/>
                <a:cs typeface="Arial"/>
              </a:defRPr>
            </a:pPr>
            <a:r>
              <a:rPr sz="1275" b="0">
                <a:solidFill>
                  <a:srgbClr val="536D81"/>
                </a:solidFill>
                <a:latin typeface="Arial"/>
                <a:ea typeface="Arial"/>
                <a:cs typeface="Arial"/>
              </a:rPr>
              <a:t>Sequence is editable in PowerPoint; branches show the human control points.</a:t>
            </a:r>
          </a:p>
        </p:txBody>
      </p:sp>
      <p:sp>
        <p:nvSpPr>
          <p:cNvPr id="46" name="">
            <a:extLst xmlns:a="http://schemas.openxmlformats.org/drawingml/2006/main">
              <a:ext uri="{FF2B5EF4-FFF2-40B4-BE49-F238E27FC236}">
                <a16:creationId xmlns:a16="http://schemas.microsoft.com/office/drawing/2014/main" id="{B99BCCB3-7E3B-48E0-96B1-B21CC72B21F8}"/>
              </a:ext>
            </a:extLst>
          </p:cNvPr>
          <p:cNvSpPr>
            <a:spLocks xmlns:a="http://schemas.openxmlformats.org/drawingml/2006/main" noGrp="1"/>
          </p:cNvSpPr>
          <p:nvPr/>
        </p:nvSpPr>
        <p:spPr>
          <a:xfrm xmlns:a="http://schemas.openxmlformats.org/drawingml/2006/main">
            <a:off x="685800" y="655320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48485"/>
          </a:bodyPr>
          <a:lstStyle xmlns:a="http://schemas.openxmlformats.org/drawingml/2006/main"/>
          <a:p xmlns:a="http://schemas.openxmlformats.org/drawingml/2006/main">
            <a:pPr algn="l">
              <a:buNone/>
              <a:defRPr sz="825" b="0">
                <a:solidFill>
                  <a:srgbClr val="536D81"/>
                </a:solidFill>
                <a:latin typeface="Arial"/>
                <a:ea typeface="Arial"/>
                <a:cs typeface="Arial"/>
              </a:defRPr>
            </a:pPr>
            <a:r>
              <a:rPr sz="825" b="0">
                <a:solidFill>
                  <a:srgbClr val="536D81"/>
                </a:solidFill>
                <a:latin typeface="Arial"/>
                <a:ea typeface="Arial"/>
                <a:cs typeface="Arial"/>
              </a:rPr>
              <a:t>OPTIV  ·  VIT 2026  |  CASE STUDY 2  |  06</a:t>
            </a:r>
          </a:p>
        </p:txBody>
      </p:sp>
    </p:spTree>
    <p:extLst>
      <p:ext uri="{BB962C8B-B14F-4D97-AF65-F5344CB8AC3E}">
        <p14:creationId xmlns:p14="http://schemas.microsoft.com/office/powerpoint/2010/main" val="90502237"/>
      </p:ext>
    </p:extLst>
  </p:cSld>
</p:sld>
</file>

<file path=ppt/slides/slide7.xml><?xml version="1.0" encoding="utf-8"?>
<p:sld xmlns:p="http://schemas.openxmlformats.org/presentationml/2006/main">
  <p:cSld>
    <p:bg>
      <p:bgPr>
        <a:solidFill xmlns:a="http://schemas.openxmlformats.org/drawingml/2006/main">
          <a:srgbClr val="F3F6F8"/>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B929DBAF-8CB0-4EDF-B696-DB949D4A800D}"/>
              </a:ext>
            </a:extLst>
          </p:cNvPr>
          <p:cNvSpPr>
            <a:spLocks xmlns:a="http://schemas.openxmlformats.org/drawingml/2006/main" noGrp="1"/>
          </p:cNvSpPr>
          <p:nvPr/>
        </p:nvSpPr>
        <p:spPr>
          <a:xfrm xmlns:a="http://schemas.openxmlformats.org/drawingml/2006/main">
            <a:off x="685800" y="20955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762"/>
          </a:bodyPr>
          <a:lstStyle xmlns:a="http://schemas.openxmlformats.org/drawingml/2006/main"/>
          <a:p xmlns:a="http://schemas.openxmlformats.org/drawingml/2006/main">
            <a:pPr algn="l">
              <a:buNone/>
              <a:defRPr sz="1050" b="1">
                <a:solidFill>
                  <a:srgbClr val="187A83"/>
                </a:solidFill>
                <a:latin typeface="Arial"/>
                <a:ea typeface="Arial"/>
                <a:cs typeface="Arial"/>
              </a:defRPr>
            </a:pPr>
            <a:r>
              <a:rPr sz="1050" b="1">
                <a:solidFill>
                  <a:srgbClr val="187A83"/>
                </a:solidFill>
                <a:latin typeface="Arial"/>
                <a:ea typeface="Arial"/>
                <a:cs typeface="Arial"/>
              </a:rPr>
              <a:t>CASE STUDY 2  /  CADENCE</a:t>
            </a:r>
          </a:p>
        </p:txBody>
      </p:sp>
      <p:sp>
        <p:nvSpPr>
          <p:cNvPr id="2" name="">
            <a:extLst xmlns:a="http://schemas.openxmlformats.org/drawingml/2006/main">
              <a:ext uri="{FF2B5EF4-FFF2-40B4-BE49-F238E27FC236}">
                <a16:creationId xmlns:a16="http://schemas.microsoft.com/office/drawing/2014/main" id="{300A85DF-9E40-4F12-B49A-9247EF516021}"/>
              </a:ext>
            </a:extLst>
          </p:cNvPr>
          <p:cNvSpPr>
            <a:spLocks xmlns:a="http://schemas.openxmlformats.org/drawingml/2006/main" noGrp="1"/>
          </p:cNvSpPr>
          <p:nvPr/>
        </p:nvSpPr>
        <p:spPr>
          <a:xfrm xmlns:a="http://schemas.openxmlformats.org/drawingml/2006/main">
            <a:off x="685800" y="4953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850" b="1">
                <a:solidFill>
                  <a:srgbClr val="102C49"/>
                </a:solidFill>
                <a:latin typeface="Arial"/>
                <a:ea typeface="Arial"/>
                <a:cs typeface="Arial"/>
              </a:defRPr>
            </a:pPr>
            <a:r>
              <a:rPr sz="2850" b="1">
                <a:solidFill>
                  <a:srgbClr val="102C49"/>
                </a:solidFill>
                <a:latin typeface="Arial"/>
                <a:ea typeface="Arial"/>
                <a:cs typeface="Arial"/>
              </a:rPr>
              <a:t>System architecture | local processing and gated release</a:t>
            </a:r>
          </a:p>
        </p:txBody>
      </p:sp>
      <p:sp>
        <p:nvSpPr>
          <p:cNvPr id="3" name="">
            <a:extLst xmlns:a="http://schemas.openxmlformats.org/drawingml/2006/main">
              <a:ext uri="{FF2B5EF4-FFF2-40B4-BE49-F238E27FC236}">
                <a16:creationId xmlns:a16="http://schemas.microsoft.com/office/drawing/2014/main" id="{C2AC639F-8A77-481D-A944-1C927488DA97}"/>
              </a:ext>
            </a:extLst>
          </p:cNvPr>
          <p:cNvSpPr>
            <a:spLocks xmlns:a="http://schemas.openxmlformats.org/drawingml/2006/main" noGrp="1"/>
          </p:cNvSpPr>
          <p:nvPr/>
        </p:nvSpPr>
        <p:spPr>
          <a:xfrm xmlns:a="http://schemas.openxmlformats.org/drawingml/2006/main">
            <a:off x="685800" y="1162050"/>
            <a:ext cx="10820400" cy="0"/>
          </a:xfrm>
          <a:prstGeom xmlns:a="http://schemas.openxmlformats.org/drawingml/2006/main" prst="line">
            <a:avLst/>
          </a:prstGeom>
          <a:noFill xmlns:a="http://schemas.openxmlformats.org/drawingml/2006/main"/>
          <a:ln xmlns:a="http://schemas.openxmlformats.org/drawingml/2006/main" w="11430">
            <a:solidFill>
              <a:srgbClr val="D5E0E7"/>
            </a:solidFill>
            <a:prstDash val="solid"/>
          </a:ln>
        </p:spPr>
      </p:sp>
      <p:sp>
        <p:nvSpPr>
          <p:cNvPr id="4" name="">
            <a:extLst xmlns:a="http://schemas.openxmlformats.org/drawingml/2006/main">
              <a:ext uri="{FF2B5EF4-FFF2-40B4-BE49-F238E27FC236}">
                <a16:creationId xmlns:a16="http://schemas.microsoft.com/office/drawing/2014/main" id="{726F4AE1-57A9-420F-BB72-B04C5EF81393}"/>
              </a:ext>
            </a:extLst>
          </p:cNvPr>
          <p:cNvSpPr>
            <a:spLocks xmlns:a="http://schemas.openxmlformats.org/drawingml/2006/main" noGrp="1"/>
          </p:cNvSpPr>
          <p:nvPr/>
        </p:nvSpPr>
        <p:spPr>
          <a:xfrm xmlns:a="http://schemas.openxmlformats.org/drawingml/2006/main">
            <a:off x="685800" y="1371600"/>
            <a:ext cx="1082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p xmlns:a="http://schemas.openxmlformats.org/drawingml/2006/main">
            <a:pPr algn="l">
              <a:buNone/>
              <a:defRPr sz="1200" b="1">
                <a:solidFill>
                  <a:srgbClr val="187A83"/>
                </a:solidFill>
                <a:latin typeface="Arial"/>
                <a:ea typeface="Arial"/>
                <a:cs typeface="Arial"/>
              </a:defRPr>
            </a:pPr>
            <a:r>
              <a:rPr sz="1200" b="1">
                <a:solidFill>
                  <a:srgbClr val="187A83"/>
                </a:solidFill>
                <a:latin typeface="Arial"/>
                <a:ea typeface="Arial"/>
                <a:cs typeface="Arial"/>
              </a:rPr>
              <a:t>TRUST BOUNDARY: localhost only  ·  no LLM/API  ·  no employee authentication</a:t>
            </a:r>
          </a:p>
        </p:txBody>
      </p:sp>
      <p:sp>
        <p:nvSpPr>
          <p:cNvPr id="5" name="">
            <a:extLst xmlns:a="http://schemas.openxmlformats.org/drawingml/2006/main">
              <a:ext uri="{FF2B5EF4-FFF2-40B4-BE49-F238E27FC236}">
                <a16:creationId xmlns:a16="http://schemas.microsoft.com/office/drawing/2014/main" id="{533F96A2-4300-48F4-807F-D0E4C83160F9}"/>
              </a:ext>
            </a:extLst>
          </p:cNvPr>
          <p:cNvSpPr>
            <a:spLocks xmlns:a="http://schemas.openxmlformats.org/drawingml/2006/main" noGrp="1"/>
          </p:cNvSpPr>
          <p:nvPr/>
        </p:nvSpPr>
        <p:spPr>
          <a:xfrm xmlns:a="http://schemas.openxmlformats.org/drawingml/2006/main">
            <a:off x="685800" y="1847850"/>
            <a:ext cx="232410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1430">
            <a:solidFill>
              <a:srgbClr val="D5E0E7"/>
            </a:solidFill>
            <a:prstDash val="solid"/>
          </a:ln>
        </p:spPr>
      </p:sp>
      <p:sp>
        <p:nvSpPr>
          <p:cNvPr id="6" name="">
            <a:extLst xmlns:a="http://schemas.openxmlformats.org/drawingml/2006/main">
              <a:ext uri="{FF2B5EF4-FFF2-40B4-BE49-F238E27FC236}">
                <a16:creationId xmlns:a16="http://schemas.microsoft.com/office/drawing/2014/main" id="{8E7DE906-94CC-4E30-A7C8-4F87016B03AB}"/>
              </a:ext>
            </a:extLst>
          </p:cNvPr>
          <p:cNvSpPr>
            <a:spLocks xmlns:a="http://schemas.openxmlformats.org/drawingml/2006/main" noGrp="1"/>
          </p:cNvSpPr>
          <p:nvPr/>
        </p:nvSpPr>
        <p:spPr>
          <a:xfrm xmlns:a="http://schemas.openxmlformats.org/drawingml/2006/main">
            <a:off x="685800" y="1847850"/>
            <a:ext cx="66675" cy="1028700"/>
          </a:xfrm>
          <a:prstGeom xmlns:a="http://schemas.openxmlformats.org/drawingml/2006/main" prst="rect">
            <a:avLst/>
          </a:prstGeom>
          <a:solidFill xmlns:a="http://schemas.openxmlformats.org/drawingml/2006/main">
            <a:srgbClr val="102C49"/>
          </a:solidFill>
          <a:ln xmlns:a="http://schemas.openxmlformats.org/drawingml/2006/main" w="0">
            <a:solidFill>
              <a:srgbClr val="102C49"/>
            </a:solidFill>
            <a:prstDash val="solid"/>
          </a:ln>
        </p:spPr>
      </p:sp>
      <p:sp>
        <p:nvSpPr>
          <p:cNvPr id="7" name="">
            <a:extLst xmlns:a="http://schemas.openxmlformats.org/drawingml/2006/main">
              <a:ext uri="{FF2B5EF4-FFF2-40B4-BE49-F238E27FC236}">
                <a16:creationId xmlns:a16="http://schemas.microsoft.com/office/drawing/2014/main" id="{198245CF-710D-4210-AADA-E2D38F4915E2}"/>
              </a:ext>
            </a:extLst>
          </p:cNvPr>
          <p:cNvSpPr>
            <a:spLocks xmlns:a="http://schemas.openxmlformats.org/drawingml/2006/main" noGrp="1"/>
          </p:cNvSpPr>
          <p:nvPr/>
        </p:nvSpPr>
        <p:spPr>
          <a:xfrm xmlns:a="http://schemas.openxmlformats.org/drawingml/2006/main">
            <a:off x="857250" y="1943100"/>
            <a:ext cx="2038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Browser UI</a:t>
            </a:r>
          </a:p>
        </p:txBody>
      </p:sp>
      <p:sp>
        <p:nvSpPr>
          <p:cNvPr id="8" name="">
            <a:extLst xmlns:a="http://schemas.openxmlformats.org/drawingml/2006/main">
              <a:ext uri="{FF2B5EF4-FFF2-40B4-BE49-F238E27FC236}">
                <a16:creationId xmlns:a16="http://schemas.microsoft.com/office/drawing/2014/main" id="{AAF6D417-7F3E-423E-B373-9C001E39D540}"/>
              </a:ext>
            </a:extLst>
          </p:cNvPr>
          <p:cNvSpPr>
            <a:spLocks xmlns:a="http://schemas.openxmlformats.org/drawingml/2006/main" noGrp="1"/>
          </p:cNvSpPr>
          <p:nvPr/>
        </p:nvSpPr>
        <p:spPr>
          <a:xfrm xmlns:a="http://schemas.openxmlformats.org/drawingml/2006/main">
            <a:off x="857250" y="2247900"/>
            <a:ext cx="2038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333"/>
          </a:bodyPr>
          <a:lstStyle xmlns:a="http://schemas.openxmlformats.org/drawingml/2006/main"/>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Multi-file upload</a:t>
            </a:r>
          </a:p>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OCR option</a:t>
            </a:r>
          </a:p>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Redacted preview</a:t>
            </a:r>
          </a:p>
        </p:txBody>
      </p:sp>
      <p:sp>
        <p:nvSpPr>
          <p:cNvPr id="9" name="">
            <a:extLst xmlns:a="http://schemas.openxmlformats.org/drawingml/2006/main">
              <a:ext uri="{FF2B5EF4-FFF2-40B4-BE49-F238E27FC236}">
                <a16:creationId xmlns:a16="http://schemas.microsoft.com/office/drawing/2014/main" id="{0DDF50B8-15B9-4034-A950-C32BB84183D1}"/>
              </a:ext>
            </a:extLst>
          </p:cNvPr>
          <p:cNvSpPr>
            <a:spLocks xmlns:a="http://schemas.openxmlformats.org/drawingml/2006/main" noGrp="1"/>
          </p:cNvSpPr>
          <p:nvPr/>
        </p:nvSpPr>
        <p:spPr>
          <a:xfrm xmlns:a="http://schemas.openxmlformats.org/drawingml/2006/main">
            <a:off x="3695700" y="1847850"/>
            <a:ext cx="232410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1430">
            <a:solidFill>
              <a:srgbClr val="D5E0E7"/>
            </a:solidFill>
            <a:prstDash val="solid"/>
          </a:ln>
        </p:spPr>
      </p:sp>
      <p:sp>
        <p:nvSpPr>
          <p:cNvPr id="10" name="">
            <a:extLst xmlns:a="http://schemas.openxmlformats.org/drawingml/2006/main">
              <a:ext uri="{FF2B5EF4-FFF2-40B4-BE49-F238E27FC236}">
                <a16:creationId xmlns:a16="http://schemas.microsoft.com/office/drawing/2014/main" id="{B5ECDE83-7E87-4EBF-A596-8D3142E27F50}"/>
              </a:ext>
            </a:extLst>
          </p:cNvPr>
          <p:cNvSpPr>
            <a:spLocks xmlns:a="http://schemas.openxmlformats.org/drawingml/2006/main" noGrp="1"/>
          </p:cNvSpPr>
          <p:nvPr/>
        </p:nvSpPr>
        <p:spPr>
          <a:xfrm xmlns:a="http://schemas.openxmlformats.org/drawingml/2006/main">
            <a:off x="3695700" y="1847850"/>
            <a:ext cx="66675" cy="1028700"/>
          </a:xfrm>
          <a:prstGeom xmlns:a="http://schemas.openxmlformats.org/drawingml/2006/main" prst="rect">
            <a:avLst/>
          </a:prstGeom>
          <a:solidFill xmlns:a="http://schemas.openxmlformats.org/drawingml/2006/main">
            <a:srgbClr val="187A83"/>
          </a:solidFill>
          <a:ln xmlns:a="http://schemas.openxmlformats.org/drawingml/2006/main" w="0">
            <a:solidFill>
              <a:srgbClr val="187A83"/>
            </a:solidFill>
            <a:prstDash val="solid"/>
          </a:ln>
        </p:spPr>
      </p:sp>
      <p:sp>
        <p:nvSpPr>
          <p:cNvPr id="11" name="">
            <a:extLst xmlns:a="http://schemas.openxmlformats.org/drawingml/2006/main">
              <a:ext uri="{FF2B5EF4-FFF2-40B4-BE49-F238E27FC236}">
                <a16:creationId xmlns:a16="http://schemas.microsoft.com/office/drawing/2014/main" id="{2C591BE7-DF2C-48A8-B74D-06DF64E6A6D6}"/>
              </a:ext>
            </a:extLst>
          </p:cNvPr>
          <p:cNvSpPr>
            <a:spLocks xmlns:a="http://schemas.openxmlformats.org/drawingml/2006/main" noGrp="1"/>
          </p:cNvSpPr>
          <p:nvPr/>
        </p:nvSpPr>
        <p:spPr>
          <a:xfrm xmlns:a="http://schemas.openxmlformats.org/drawingml/2006/main">
            <a:off x="3867150" y="1943100"/>
            <a:ext cx="2038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HTTP intake</a:t>
            </a:r>
          </a:p>
        </p:txBody>
      </p:sp>
      <p:sp>
        <p:nvSpPr>
          <p:cNvPr id="12" name="">
            <a:extLst xmlns:a="http://schemas.openxmlformats.org/drawingml/2006/main">
              <a:ext uri="{FF2B5EF4-FFF2-40B4-BE49-F238E27FC236}">
                <a16:creationId xmlns:a16="http://schemas.microsoft.com/office/drawing/2014/main" id="{B9DE3BAB-D5A1-4328-BDE6-75FA471C2407}"/>
              </a:ext>
            </a:extLst>
          </p:cNvPr>
          <p:cNvSpPr>
            <a:spLocks xmlns:a="http://schemas.openxmlformats.org/drawingml/2006/main" noGrp="1"/>
          </p:cNvSpPr>
          <p:nvPr/>
        </p:nvSpPr>
        <p:spPr>
          <a:xfrm xmlns:a="http://schemas.openxmlformats.org/drawingml/2006/main">
            <a:off x="3867150" y="2247900"/>
            <a:ext cx="2038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333"/>
          </a:bodyPr>
          <a:lstStyle xmlns:a="http://schemas.openxmlformats.org/drawingml/2006/main"/>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Same-origin token</a:t>
            </a:r>
          </a:p>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Upload/signature limits</a:t>
            </a:r>
          </a:p>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OCR temp files cleaned</a:t>
            </a:r>
          </a:p>
        </p:txBody>
      </p:sp>
      <p:sp>
        <p:nvSpPr>
          <p:cNvPr id="13" name="">
            <a:extLst xmlns:a="http://schemas.openxmlformats.org/drawingml/2006/main">
              <a:ext uri="{FF2B5EF4-FFF2-40B4-BE49-F238E27FC236}">
                <a16:creationId xmlns:a16="http://schemas.microsoft.com/office/drawing/2014/main" id="{03DE9DE2-E906-4DFA-83B6-A500C40822D7}"/>
              </a:ext>
            </a:extLst>
          </p:cNvPr>
          <p:cNvSpPr>
            <a:spLocks xmlns:a="http://schemas.openxmlformats.org/drawingml/2006/main" noGrp="1"/>
          </p:cNvSpPr>
          <p:nvPr/>
        </p:nvSpPr>
        <p:spPr>
          <a:xfrm xmlns:a="http://schemas.openxmlformats.org/drawingml/2006/main">
            <a:off x="6705600" y="1847850"/>
            <a:ext cx="232410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1430">
            <a:solidFill>
              <a:srgbClr val="D5E0E7"/>
            </a:solidFill>
            <a:prstDash val="solid"/>
          </a:ln>
        </p:spPr>
      </p:sp>
      <p:sp>
        <p:nvSpPr>
          <p:cNvPr id="14" name="">
            <a:extLst xmlns:a="http://schemas.openxmlformats.org/drawingml/2006/main">
              <a:ext uri="{FF2B5EF4-FFF2-40B4-BE49-F238E27FC236}">
                <a16:creationId xmlns:a16="http://schemas.microsoft.com/office/drawing/2014/main" id="{E3582287-C2AF-4639-9410-5D924AA1D9E8}"/>
              </a:ext>
            </a:extLst>
          </p:cNvPr>
          <p:cNvSpPr>
            <a:spLocks xmlns:a="http://schemas.openxmlformats.org/drawingml/2006/main" noGrp="1"/>
          </p:cNvSpPr>
          <p:nvPr/>
        </p:nvSpPr>
        <p:spPr>
          <a:xfrm xmlns:a="http://schemas.openxmlformats.org/drawingml/2006/main">
            <a:off x="6705600" y="1847850"/>
            <a:ext cx="66675" cy="1028700"/>
          </a:xfrm>
          <a:prstGeom xmlns:a="http://schemas.openxmlformats.org/drawingml/2006/main" prst="rect">
            <a:avLst/>
          </a:prstGeom>
          <a:solidFill xmlns:a="http://schemas.openxmlformats.org/drawingml/2006/main">
            <a:srgbClr val="187A83"/>
          </a:solidFill>
          <a:ln xmlns:a="http://schemas.openxmlformats.org/drawingml/2006/main" w="0">
            <a:solidFill>
              <a:srgbClr val="187A83"/>
            </a:solidFill>
            <a:prstDash val="solid"/>
          </a:ln>
        </p:spPr>
      </p:sp>
      <p:sp>
        <p:nvSpPr>
          <p:cNvPr id="15" name="">
            <a:extLst xmlns:a="http://schemas.openxmlformats.org/drawingml/2006/main">
              <a:ext uri="{FF2B5EF4-FFF2-40B4-BE49-F238E27FC236}">
                <a16:creationId xmlns:a16="http://schemas.microsoft.com/office/drawing/2014/main" id="{BDA3DEA1-4349-4A12-8761-4BF58732A4DF}"/>
              </a:ext>
            </a:extLst>
          </p:cNvPr>
          <p:cNvSpPr>
            <a:spLocks xmlns:a="http://schemas.openxmlformats.org/drawingml/2006/main" noGrp="1"/>
          </p:cNvSpPr>
          <p:nvPr/>
        </p:nvSpPr>
        <p:spPr>
          <a:xfrm xmlns:a="http://schemas.openxmlformats.org/drawingml/2006/main">
            <a:off x="6877050" y="1943100"/>
            <a:ext cx="2038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Format router</a:t>
            </a:r>
          </a:p>
        </p:txBody>
      </p:sp>
      <p:sp>
        <p:nvSpPr>
          <p:cNvPr id="16" name="">
            <a:extLst xmlns:a="http://schemas.openxmlformats.org/drawingml/2006/main">
              <a:ext uri="{FF2B5EF4-FFF2-40B4-BE49-F238E27FC236}">
                <a16:creationId xmlns:a16="http://schemas.microsoft.com/office/drawing/2014/main" id="{62FE6025-7192-4F01-800E-5BCD828D8F9B}"/>
              </a:ext>
            </a:extLst>
          </p:cNvPr>
          <p:cNvSpPr>
            <a:spLocks xmlns:a="http://schemas.openxmlformats.org/drawingml/2006/main" noGrp="1"/>
          </p:cNvSpPr>
          <p:nvPr/>
        </p:nvSpPr>
        <p:spPr>
          <a:xfrm xmlns:a="http://schemas.openxmlformats.org/drawingml/2006/main">
            <a:off x="6877050" y="2247900"/>
            <a:ext cx="2038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PDF / DOCX / PPTX</a:t>
            </a:r>
          </a:p>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XLSX / text</a:t>
            </a:r>
          </a:p>
        </p:txBody>
      </p:sp>
      <p:sp>
        <p:nvSpPr>
          <p:cNvPr id="17" name="">
            <a:extLst xmlns:a="http://schemas.openxmlformats.org/drawingml/2006/main">
              <a:ext uri="{FF2B5EF4-FFF2-40B4-BE49-F238E27FC236}">
                <a16:creationId xmlns:a16="http://schemas.microsoft.com/office/drawing/2014/main" id="{28E167CF-A391-4DDF-A98C-5F84B338860E}"/>
              </a:ext>
            </a:extLst>
          </p:cNvPr>
          <p:cNvSpPr>
            <a:spLocks xmlns:a="http://schemas.openxmlformats.org/drawingml/2006/main" noGrp="1"/>
          </p:cNvSpPr>
          <p:nvPr/>
        </p:nvSpPr>
        <p:spPr>
          <a:xfrm xmlns:a="http://schemas.openxmlformats.org/drawingml/2006/main">
            <a:off x="9715500" y="1847850"/>
            <a:ext cx="179070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1430">
            <a:solidFill>
              <a:srgbClr val="D5E0E7"/>
            </a:solidFill>
            <a:prstDash val="solid"/>
          </a:ln>
        </p:spPr>
      </p:sp>
      <p:sp>
        <p:nvSpPr>
          <p:cNvPr id="18" name="">
            <a:extLst xmlns:a="http://schemas.openxmlformats.org/drawingml/2006/main">
              <a:ext uri="{FF2B5EF4-FFF2-40B4-BE49-F238E27FC236}">
                <a16:creationId xmlns:a16="http://schemas.microsoft.com/office/drawing/2014/main" id="{FE2F8972-D2A4-4324-9EB0-6D487C6867A7}"/>
              </a:ext>
            </a:extLst>
          </p:cNvPr>
          <p:cNvSpPr>
            <a:spLocks xmlns:a="http://schemas.openxmlformats.org/drawingml/2006/main" noGrp="1"/>
          </p:cNvSpPr>
          <p:nvPr/>
        </p:nvSpPr>
        <p:spPr>
          <a:xfrm xmlns:a="http://schemas.openxmlformats.org/drawingml/2006/main">
            <a:off x="9715500" y="1847850"/>
            <a:ext cx="66675" cy="1028700"/>
          </a:xfrm>
          <a:prstGeom xmlns:a="http://schemas.openxmlformats.org/drawingml/2006/main" prst="rect">
            <a:avLst/>
          </a:prstGeom>
          <a:solidFill xmlns:a="http://schemas.openxmlformats.org/drawingml/2006/main">
            <a:srgbClr val="D6AA4B"/>
          </a:solidFill>
          <a:ln xmlns:a="http://schemas.openxmlformats.org/drawingml/2006/main" w="0">
            <a:solidFill>
              <a:srgbClr val="D6AA4B"/>
            </a:solidFill>
            <a:prstDash val="solid"/>
          </a:ln>
        </p:spPr>
      </p:sp>
      <p:sp>
        <p:nvSpPr>
          <p:cNvPr id="19" name="">
            <a:extLst xmlns:a="http://schemas.openxmlformats.org/drawingml/2006/main">
              <a:ext uri="{FF2B5EF4-FFF2-40B4-BE49-F238E27FC236}">
                <a16:creationId xmlns:a16="http://schemas.microsoft.com/office/drawing/2014/main" id="{13CC749F-C699-4007-B4ED-84B385C1EDC8}"/>
              </a:ext>
            </a:extLst>
          </p:cNvPr>
          <p:cNvSpPr>
            <a:spLocks xmlns:a="http://schemas.openxmlformats.org/drawingml/2006/main" noGrp="1"/>
          </p:cNvSpPr>
          <p:nvPr/>
        </p:nvSpPr>
        <p:spPr>
          <a:xfrm xmlns:a="http://schemas.openxmlformats.org/drawingml/2006/main">
            <a:off x="9886950" y="1943100"/>
            <a:ext cx="1504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Extraction adapters</a:t>
            </a:r>
          </a:p>
        </p:txBody>
      </p:sp>
      <p:sp>
        <p:nvSpPr>
          <p:cNvPr id="20" name="">
            <a:extLst xmlns:a="http://schemas.openxmlformats.org/drawingml/2006/main">
              <a:ext uri="{FF2B5EF4-FFF2-40B4-BE49-F238E27FC236}">
                <a16:creationId xmlns:a16="http://schemas.microsoft.com/office/drawing/2014/main" id="{E44FE5AC-2439-475D-8738-DE56D3B97910}"/>
              </a:ext>
            </a:extLst>
          </p:cNvPr>
          <p:cNvSpPr>
            <a:spLocks xmlns:a="http://schemas.openxmlformats.org/drawingml/2006/main" noGrp="1"/>
          </p:cNvSpPr>
          <p:nvPr/>
        </p:nvSpPr>
        <p:spPr>
          <a:xfrm xmlns:a="http://schemas.openxmlformats.org/drawingml/2006/main">
            <a:off x="9886950" y="2247900"/>
            <a:ext cx="1504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050" b="0">
                <a:solidFill>
                  <a:srgbClr val="536D81"/>
                </a:solidFill>
                <a:latin typeface="Arial"/>
                <a:ea typeface="Arial"/>
                <a:cs typeface="Arial"/>
              </a:defRPr>
            </a:pPr>
            <a:r>
              <a:rPr sz="1050" b="0">
                <a:solidFill>
                  <a:srgbClr val="536D81"/>
                </a:solidFill>
                <a:latin typeface="Arial"/>
                <a:ea typeface="Arial"/>
                <a:cs typeface="Arial"/>
              </a:rPr>
              <a:t>PDF text + OCR</a:t>
            </a:r>
          </a:p>
          <a:p xmlns:a="http://schemas.openxmlformats.org/drawingml/2006/main">
            <a:pPr algn="l">
              <a:buNone/>
              <a:defRPr sz="1050" b="0">
                <a:solidFill>
                  <a:srgbClr val="536D81"/>
                </a:solidFill>
                <a:latin typeface="Arial"/>
                <a:ea typeface="Arial"/>
                <a:cs typeface="Arial"/>
              </a:defRPr>
            </a:pPr>
            <a:r>
              <a:rPr sz="1050" b="0">
                <a:solidFill>
                  <a:srgbClr val="536D81"/>
                </a:solidFill>
                <a:latin typeface="Arial"/>
                <a:ea typeface="Arial"/>
                <a:cs typeface="Arial"/>
              </a:rPr>
              <a:t>Word / PowerPoint / sheet parsers</a:t>
            </a:r>
          </a:p>
        </p:txBody>
      </p:sp>
      <p:sp>
        <p:nvSpPr>
          <p:cNvPr id="21" name="">
            <a:extLst xmlns:a="http://schemas.openxmlformats.org/drawingml/2006/main">
              <a:ext uri="{FF2B5EF4-FFF2-40B4-BE49-F238E27FC236}">
                <a16:creationId xmlns:a16="http://schemas.microsoft.com/office/drawing/2014/main" id="{463F2D4D-7C66-4BDF-83C9-0DEC38AB2C8E}"/>
              </a:ext>
            </a:extLst>
          </p:cNvPr>
          <p:cNvSpPr>
            <a:spLocks xmlns:a="http://schemas.openxmlformats.org/drawingml/2006/main" noGrp="1"/>
          </p:cNvSpPr>
          <p:nvPr/>
        </p:nvSpPr>
        <p:spPr>
          <a:xfrm xmlns:a="http://schemas.openxmlformats.org/drawingml/2006/main">
            <a:off x="3162300" y="2238375"/>
            <a:ext cx="342900" cy="209550"/>
          </a:xfrm>
          <a:prstGeom xmlns:a="http://schemas.openxmlformats.org/drawingml/2006/main" prst="rightArrow">
            <a:avLst/>
          </a:prstGeom>
          <a:solidFill xmlns:a="http://schemas.openxmlformats.org/drawingml/2006/main">
            <a:srgbClr val="D6AA4B"/>
          </a:solidFill>
          <a:ln xmlns:a="http://schemas.openxmlformats.org/drawingml/2006/main" w="0">
            <a:solidFill>
              <a:srgbClr val="D6AA4B"/>
            </a:solidFill>
            <a:prstDash val="solid"/>
          </a:ln>
        </p:spPr>
      </p:sp>
      <p:sp>
        <p:nvSpPr>
          <p:cNvPr id="22" name="">
            <a:extLst xmlns:a="http://schemas.openxmlformats.org/drawingml/2006/main">
              <a:ext uri="{FF2B5EF4-FFF2-40B4-BE49-F238E27FC236}">
                <a16:creationId xmlns:a16="http://schemas.microsoft.com/office/drawing/2014/main" id="{355CFFFA-73FB-4987-9213-7C01593FCFFA}"/>
              </a:ext>
            </a:extLst>
          </p:cNvPr>
          <p:cNvSpPr>
            <a:spLocks xmlns:a="http://schemas.openxmlformats.org/drawingml/2006/main" noGrp="1"/>
          </p:cNvSpPr>
          <p:nvPr/>
        </p:nvSpPr>
        <p:spPr>
          <a:xfrm xmlns:a="http://schemas.openxmlformats.org/drawingml/2006/main">
            <a:off x="6172200" y="2238375"/>
            <a:ext cx="342900" cy="209550"/>
          </a:xfrm>
          <a:prstGeom xmlns:a="http://schemas.openxmlformats.org/drawingml/2006/main" prst="rightArrow">
            <a:avLst/>
          </a:prstGeom>
          <a:solidFill xmlns:a="http://schemas.openxmlformats.org/drawingml/2006/main">
            <a:srgbClr val="D6AA4B"/>
          </a:solidFill>
          <a:ln xmlns:a="http://schemas.openxmlformats.org/drawingml/2006/main" w="0">
            <a:solidFill>
              <a:srgbClr val="D6AA4B"/>
            </a:solidFill>
            <a:prstDash val="solid"/>
          </a:ln>
        </p:spPr>
      </p:sp>
      <p:sp>
        <p:nvSpPr>
          <p:cNvPr id="23" name="">
            <a:extLst xmlns:a="http://schemas.openxmlformats.org/drawingml/2006/main">
              <a:ext uri="{FF2B5EF4-FFF2-40B4-BE49-F238E27FC236}">
                <a16:creationId xmlns:a16="http://schemas.microsoft.com/office/drawing/2014/main" id="{D63B0BFE-036C-4292-87CD-D7E55AE03B2A}"/>
              </a:ext>
            </a:extLst>
          </p:cNvPr>
          <p:cNvSpPr>
            <a:spLocks xmlns:a="http://schemas.openxmlformats.org/drawingml/2006/main" noGrp="1"/>
          </p:cNvSpPr>
          <p:nvPr/>
        </p:nvSpPr>
        <p:spPr>
          <a:xfrm xmlns:a="http://schemas.openxmlformats.org/drawingml/2006/main">
            <a:off x="9182100" y="2238375"/>
            <a:ext cx="342900" cy="209550"/>
          </a:xfrm>
          <a:prstGeom xmlns:a="http://schemas.openxmlformats.org/drawingml/2006/main" prst="rightArrow">
            <a:avLst/>
          </a:prstGeom>
          <a:solidFill xmlns:a="http://schemas.openxmlformats.org/drawingml/2006/main">
            <a:srgbClr val="D6AA4B"/>
          </a:solidFill>
          <a:ln xmlns:a="http://schemas.openxmlformats.org/drawingml/2006/main" w="0">
            <a:solidFill>
              <a:srgbClr val="D6AA4B"/>
            </a:solidFill>
            <a:prstDash val="solid"/>
          </a:ln>
        </p:spPr>
      </p:sp>
      <p:sp>
        <p:nvSpPr>
          <p:cNvPr id="24" name="">
            <a:extLst xmlns:a="http://schemas.openxmlformats.org/drawingml/2006/main">
              <a:ext uri="{FF2B5EF4-FFF2-40B4-BE49-F238E27FC236}">
                <a16:creationId xmlns:a16="http://schemas.microsoft.com/office/drawing/2014/main" id="{08322097-BB48-48DA-8CF4-EE1498445B7B}"/>
              </a:ext>
            </a:extLst>
          </p:cNvPr>
          <p:cNvSpPr>
            <a:spLocks xmlns:a="http://schemas.openxmlformats.org/drawingml/2006/main" noGrp="1"/>
          </p:cNvSpPr>
          <p:nvPr/>
        </p:nvSpPr>
        <p:spPr>
          <a:xfrm xmlns:a="http://schemas.openxmlformats.org/drawingml/2006/main">
            <a:off x="10544175" y="2952750"/>
            <a:ext cx="228600" cy="304800"/>
          </a:xfrm>
          <a:prstGeom xmlns:a="http://schemas.openxmlformats.org/drawingml/2006/main" prst="downArrow">
            <a:avLst/>
          </a:prstGeom>
          <a:solidFill xmlns:a="http://schemas.openxmlformats.org/drawingml/2006/main">
            <a:srgbClr val="D6AA4B"/>
          </a:solidFill>
          <a:ln xmlns:a="http://schemas.openxmlformats.org/drawingml/2006/main" w="0">
            <a:solidFill>
              <a:srgbClr val="D6AA4B"/>
            </a:solidFill>
            <a:prstDash val="solid"/>
          </a:ln>
        </p:spPr>
      </p:sp>
      <p:sp>
        <p:nvSpPr>
          <p:cNvPr id="25" name="">
            <a:extLst xmlns:a="http://schemas.openxmlformats.org/drawingml/2006/main">
              <a:ext uri="{FF2B5EF4-FFF2-40B4-BE49-F238E27FC236}">
                <a16:creationId xmlns:a16="http://schemas.microsoft.com/office/drawing/2014/main" id="{1D273501-F916-4A8B-945D-F76C00F77597}"/>
              </a:ext>
            </a:extLst>
          </p:cNvPr>
          <p:cNvSpPr>
            <a:spLocks xmlns:a="http://schemas.openxmlformats.org/drawingml/2006/main" noGrp="1"/>
          </p:cNvSpPr>
          <p:nvPr/>
        </p:nvSpPr>
        <p:spPr>
          <a:xfrm xmlns:a="http://schemas.openxmlformats.org/drawingml/2006/main">
            <a:off x="9715500" y="3676650"/>
            <a:ext cx="179070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1430">
            <a:solidFill>
              <a:srgbClr val="D5E0E7"/>
            </a:solidFill>
            <a:prstDash val="solid"/>
          </a:ln>
        </p:spPr>
      </p:sp>
      <p:sp>
        <p:nvSpPr>
          <p:cNvPr id="26" name="">
            <a:extLst xmlns:a="http://schemas.openxmlformats.org/drawingml/2006/main">
              <a:ext uri="{FF2B5EF4-FFF2-40B4-BE49-F238E27FC236}">
                <a16:creationId xmlns:a16="http://schemas.microsoft.com/office/drawing/2014/main" id="{432197F9-53B1-47E7-BC4D-963477864C7B}"/>
              </a:ext>
            </a:extLst>
          </p:cNvPr>
          <p:cNvSpPr>
            <a:spLocks xmlns:a="http://schemas.openxmlformats.org/drawingml/2006/main" noGrp="1"/>
          </p:cNvSpPr>
          <p:nvPr/>
        </p:nvSpPr>
        <p:spPr>
          <a:xfrm xmlns:a="http://schemas.openxmlformats.org/drawingml/2006/main">
            <a:off x="9715500" y="3676650"/>
            <a:ext cx="66675" cy="1028700"/>
          </a:xfrm>
          <a:prstGeom xmlns:a="http://schemas.openxmlformats.org/drawingml/2006/main" prst="rect">
            <a:avLst/>
          </a:prstGeom>
          <a:solidFill xmlns:a="http://schemas.openxmlformats.org/drawingml/2006/main">
            <a:srgbClr val="D6AA4B"/>
          </a:solidFill>
          <a:ln xmlns:a="http://schemas.openxmlformats.org/drawingml/2006/main" w="0">
            <a:solidFill>
              <a:srgbClr val="D6AA4B"/>
            </a:solidFill>
            <a:prstDash val="solid"/>
          </a:ln>
        </p:spPr>
      </p:sp>
      <p:sp>
        <p:nvSpPr>
          <p:cNvPr id="27" name="">
            <a:extLst xmlns:a="http://schemas.openxmlformats.org/drawingml/2006/main">
              <a:ext uri="{FF2B5EF4-FFF2-40B4-BE49-F238E27FC236}">
                <a16:creationId xmlns:a16="http://schemas.microsoft.com/office/drawing/2014/main" id="{DEB2C387-685E-4240-A235-914ABB516CB8}"/>
              </a:ext>
            </a:extLst>
          </p:cNvPr>
          <p:cNvSpPr>
            <a:spLocks xmlns:a="http://schemas.openxmlformats.org/drawingml/2006/main" noGrp="1"/>
          </p:cNvSpPr>
          <p:nvPr/>
        </p:nvSpPr>
        <p:spPr>
          <a:xfrm xmlns:a="http://schemas.openxmlformats.org/drawingml/2006/main">
            <a:off x="9886950" y="3771900"/>
            <a:ext cx="1504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PII detectors</a:t>
            </a:r>
          </a:p>
        </p:txBody>
      </p:sp>
      <p:sp>
        <p:nvSpPr>
          <p:cNvPr id="28" name="">
            <a:extLst xmlns:a="http://schemas.openxmlformats.org/drawingml/2006/main">
              <a:ext uri="{FF2B5EF4-FFF2-40B4-BE49-F238E27FC236}">
                <a16:creationId xmlns:a16="http://schemas.microsoft.com/office/drawing/2014/main" id="{7EB801E9-AF5D-4C79-88A1-6268E9B9D929}"/>
              </a:ext>
            </a:extLst>
          </p:cNvPr>
          <p:cNvSpPr>
            <a:spLocks xmlns:a="http://schemas.openxmlformats.org/drawingml/2006/main" noGrp="1"/>
          </p:cNvSpPr>
          <p:nvPr/>
        </p:nvSpPr>
        <p:spPr>
          <a:xfrm xmlns:a="http://schemas.openxmlformats.org/drawingml/2006/main">
            <a:off x="9886950" y="4076700"/>
            <a:ext cx="1504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l">
              <a:buNone/>
              <a:defRPr sz="1050" b="0">
                <a:solidFill>
                  <a:srgbClr val="536D81"/>
                </a:solidFill>
                <a:latin typeface="Arial"/>
                <a:ea typeface="Arial"/>
                <a:cs typeface="Arial"/>
              </a:defRPr>
            </a:pPr>
            <a:r>
              <a:rPr sz="1050" b="0">
                <a:solidFill>
                  <a:srgbClr val="536D81"/>
                </a:solidFill>
                <a:latin typeface="Arial"/>
                <a:ea typeface="Arial"/>
                <a:cs typeface="Arial"/>
              </a:rPr>
              <a:t>Patterns + sample name seeds</a:t>
            </a:r>
          </a:p>
          <a:p xmlns:a="http://schemas.openxmlformats.org/drawingml/2006/main">
            <a:pPr algn="l">
              <a:buNone/>
              <a:defRPr sz="1050" b="0">
                <a:solidFill>
                  <a:srgbClr val="536D81"/>
                </a:solidFill>
                <a:latin typeface="Arial"/>
                <a:ea typeface="Arial"/>
                <a:cs typeface="Arial"/>
              </a:defRPr>
            </a:pPr>
            <a:r>
              <a:rPr sz="1050" b="0">
                <a:solidFill>
                  <a:srgbClr val="536D81"/>
                </a:solidFill>
                <a:latin typeface="Arial"/>
                <a:ea typeface="Arial"/>
                <a:cs typeface="Arial"/>
              </a:rPr>
              <a:t>Email, phone, IDs and address</a:t>
            </a:r>
          </a:p>
        </p:txBody>
      </p:sp>
      <p:sp>
        <p:nvSpPr>
          <p:cNvPr id="29" name="">
            <a:extLst xmlns:a="http://schemas.openxmlformats.org/drawingml/2006/main">
              <a:ext uri="{FF2B5EF4-FFF2-40B4-BE49-F238E27FC236}">
                <a16:creationId xmlns:a16="http://schemas.microsoft.com/office/drawing/2014/main" id="{82546D88-0AC1-4FC0-864F-C6C981B6426D}"/>
              </a:ext>
            </a:extLst>
          </p:cNvPr>
          <p:cNvSpPr>
            <a:spLocks xmlns:a="http://schemas.openxmlformats.org/drawingml/2006/main" noGrp="1"/>
          </p:cNvSpPr>
          <p:nvPr/>
        </p:nvSpPr>
        <p:spPr>
          <a:xfrm xmlns:a="http://schemas.openxmlformats.org/drawingml/2006/main">
            <a:off x="6705600" y="3676650"/>
            <a:ext cx="232410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1430">
            <a:solidFill>
              <a:srgbClr val="D5E0E7"/>
            </a:solidFill>
            <a:prstDash val="solid"/>
          </a:ln>
        </p:spPr>
      </p:sp>
      <p:sp>
        <p:nvSpPr>
          <p:cNvPr id="30" name="">
            <a:extLst xmlns:a="http://schemas.openxmlformats.org/drawingml/2006/main">
              <a:ext uri="{FF2B5EF4-FFF2-40B4-BE49-F238E27FC236}">
                <a16:creationId xmlns:a16="http://schemas.microsoft.com/office/drawing/2014/main" id="{1D9E1570-0E74-4F33-BA95-71A5B39DF7C0}"/>
              </a:ext>
            </a:extLst>
          </p:cNvPr>
          <p:cNvSpPr>
            <a:spLocks xmlns:a="http://schemas.openxmlformats.org/drawingml/2006/main" noGrp="1"/>
          </p:cNvSpPr>
          <p:nvPr/>
        </p:nvSpPr>
        <p:spPr>
          <a:xfrm xmlns:a="http://schemas.openxmlformats.org/drawingml/2006/main">
            <a:off x="6705600" y="3676650"/>
            <a:ext cx="66675" cy="1028700"/>
          </a:xfrm>
          <a:prstGeom xmlns:a="http://schemas.openxmlformats.org/drawingml/2006/main" prst="rect">
            <a:avLst/>
          </a:prstGeom>
          <a:solidFill xmlns:a="http://schemas.openxmlformats.org/drawingml/2006/main">
            <a:srgbClr val="187A83"/>
          </a:solidFill>
          <a:ln xmlns:a="http://schemas.openxmlformats.org/drawingml/2006/main" w="0">
            <a:solidFill>
              <a:srgbClr val="187A83"/>
            </a:solidFill>
            <a:prstDash val="solid"/>
          </a:ln>
        </p:spPr>
      </p:sp>
      <p:sp>
        <p:nvSpPr>
          <p:cNvPr id="31" name="">
            <a:extLst xmlns:a="http://schemas.openxmlformats.org/drawingml/2006/main">
              <a:ext uri="{FF2B5EF4-FFF2-40B4-BE49-F238E27FC236}">
                <a16:creationId xmlns:a16="http://schemas.microsoft.com/office/drawing/2014/main" id="{2B21F34B-3CCE-471F-9056-59837845933C}"/>
              </a:ext>
            </a:extLst>
          </p:cNvPr>
          <p:cNvSpPr>
            <a:spLocks xmlns:a="http://schemas.openxmlformats.org/drawingml/2006/main" noGrp="1"/>
          </p:cNvSpPr>
          <p:nvPr/>
        </p:nvSpPr>
        <p:spPr>
          <a:xfrm xmlns:a="http://schemas.openxmlformats.org/drawingml/2006/main">
            <a:off x="6877050" y="3771900"/>
            <a:ext cx="2038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Span resolver</a:t>
            </a:r>
          </a:p>
        </p:txBody>
      </p:sp>
      <p:sp>
        <p:nvSpPr>
          <p:cNvPr id="32" name="">
            <a:extLst xmlns:a="http://schemas.openxmlformats.org/drawingml/2006/main">
              <a:ext uri="{FF2B5EF4-FFF2-40B4-BE49-F238E27FC236}">
                <a16:creationId xmlns:a16="http://schemas.microsoft.com/office/drawing/2014/main" id="{78F4B2CB-6718-4E39-9819-7DB10F8270D4}"/>
              </a:ext>
            </a:extLst>
          </p:cNvPr>
          <p:cNvSpPr>
            <a:spLocks xmlns:a="http://schemas.openxmlformats.org/drawingml/2006/main" noGrp="1"/>
          </p:cNvSpPr>
          <p:nvPr/>
        </p:nvSpPr>
        <p:spPr>
          <a:xfrm xmlns:a="http://schemas.openxmlformats.org/drawingml/2006/main">
            <a:off x="6877050" y="4076700"/>
            <a:ext cx="2038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Normalize matches</a:t>
            </a:r>
          </a:p>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Merge overlapping spans</a:t>
            </a:r>
          </a:p>
        </p:txBody>
      </p:sp>
      <p:sp>
        <p:nvSpPr>
          <p:cNvPr id="33" name="">
            <a:extLst xmlns:a="http://schemas.openxmlformats.org/drawingml/2006/main">
              <a:ext uri="{FF2B5EF4-FFF2-40B4-BE49-F238E27FC236}">
                <a16:creationId xmlns:a16="http://schemas.microsoft.com/office/drawing/2014/main" id="{32925425-065C-4671-AF9F-B8AB00BFC005}"/>
              </a:ext>
            </a:extLst>
          </p:cNvPr>
          <p:cNvSpPr>
            <a:spLocks xmlns:a="http://schemas.openxmlformats.org/drawingml/2006/main" noGrp="1"/>
          </p:cNvSpPr>
          <p:nvPr/>
        </p:nvSpPr>
        <p:spPr>
          <a:xfrm xmlns:a="http://schemas.openxmlformats.org/drawingml/2006/main">
            <a:off x="3695700" y="3676650"/>
            <a:ext cx="232410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1430">
            <a:solidFill>
              <a:srgbClr val="D5E0E7"/>
            </a:solidFill>
            <a:prstDash val="solid"/>
          </a:ln>
        </p:spPr>
      </p:sp>
      <p:sp>
        <p:nvSpPr>
          <p:cNvPr id="34" name="">
            <a:extLst xmlns:a="http://schemas.openxmlformats.org/drawingml/2006/main">
              <a:ext uri="{FF2B5EF4-FFF2-40B4-BE49-F238E27FC236}">
                <a16:creationId xmlns:a16="http://schemas.microsoft.com/office/drawing/2014/main" id="{086483FD-8BB0-4450-8BBC-0FFB27871EC3}"/>
              </a:ext>
            </a:extLst>
          </p:cNvPr>
          <p:cNvSpPr>
            <a:spLocks xmlns:a="http://schemas.openxmlformats.org/drawingml/2006/main" noGrp="1"/>
          </p:cNvSpPr>
          <p:nvPr/>
        </p:nvSpPr>
        <p:spPr>
          <a:xfrm xmlns:a="http://schemas.openxmlformats.org/drawingml/2006/main">
            <a:off x="3695700" y="3676650"/>
            <a:ext cx="66675" cy="1028700"/>
          </a:xfrm>
          <a:prstGeom xmlns:a="http://schemas.openxmlformats.org/drawingml/2006/main" prst="rect">
            <a:avLst/>
          </a:prstGeom>
          <a:solidFill xmlns:a="http://schemas.openxmlformats.org/drawingml/2006/main">
            <a:srgbClr val="102C49"/>
          </a:solidFill>
          <a:ln xmlns:a="http://schemas.openxmlformats.org/drawingml/2006/main" w="0">
            <a:solidFill>
              <a:srgbClr val="102C49"/>
            </a:solidFill>
            <a:prstDash val="solid"/>
          </a:ln>
        </p:spPr>
      </p:sp>
      <p:sp>
        <p:nvSpPr>
          <p:cNvPr id="35" name="">
            <a:extLst xmlns:a="http://schemas.openxmlformats.org/drawingml/2006/main">
              <a:ext uri="{FF2B5EF4-FFF2-40B4-BE49-F238E27FC236}">
                <a16:creationId xmlns:a16="http://schemas.microsoft.com/office/drawing/2014/main" id="{F76FE828-E08B-48EE-AE49-1776FAF6DE32}"/>
              </a:ext>
            </a:extLst>
          </p:cNvPr>
          <p:cNvSpPr>
            <a:spLocks xmlns:a="http://schemas.openxmlformats.org/drawingml/2006/main" noGrp="1"/>
          </p:cNvSpPr>
          <p:nvPr/>
        </p:nvSpPr>
        <p:spPr>
          <a:xfrm xmlns:a="http://schemas.openxmlformats.org/drawingml/2006/main">
            <a:off x="3867150" y="3771900"/>
            <a:ext cx="2038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Session trace</a:t>
            </a:r>
          </a:p>
        </p:txBody>
      </p:sp>
      <p:sp>
        <p:nvSpPr>
          <p:cNvPr id="36" name="">
            <a:extLst xmlns:a="http://schemas.openxmlformats.org/drawingml/2006/main">
              <a:ext uri="{FF2B5EF4-FFF2-40B4-BE49-F238E27FC236}">
                <a16:creationId xmlns:a16="http://schemas.microsoft.com/office/drawing/2014/main" id="{B7C95599-D2B9-4A41-BEEE-1ACA68A744DF}"/>
              </a:ext>
            </a:extLst>
          </p:cNvPr>
          <p:cNvSpPr>
            <a:spLocks xmlns:a="http://schemas.openxmlformats.org/drawingml/2006/main" noGrp="1"/>
          </p:cNvSpPr>
          <p:nvPr/>
        </p:nvSpPr>
        <p:spPr>
          <a:xfrm xmlns:a="http://schemas.openxmlformats.org/drawingml/2006/main">
            <a:off x="3867150" y="4076700"/>
            <a:ext cx="2038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333"/>
          </a:bodyPr>
          <a:lstStyle xmlns:a="http://schemas.openxmlformats.org/drawingml/2006/main"/>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Tagged text</a:t>
            </a:r>
          </a:p>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Source locations</a:t>
            </a:r>
          </a:p>
          <a:p xmlns:a="http://schemas.openxmlformats.org/drawingml/2006/main">
            <a:pPr algn="l">
              <a:buNone/>
              <a:defRPr sz="1125" b="0">
                <a:solidFill>
                  <a:srgbClr val="536D81"/>
                </a:solidFill>
                <a:latin typeface="Arial"/>
                <a:ea typeface="Arial"/>
                <a:cs typeface="Arial"/>
              </a:defRPr>
            </a:pPr>
            <a:r>
              <a:rPr sz="1125" b="0">
                <a:solidFill>
                  <a:srgbClr val="536D81"/>
                </a:solidFill>
                <a:latin typeface="Arial"/>
                <a:ea typeface="Arial"/>
                <a:cs typeface="Arial"/>
              </a:rPr>
              <a:t>Session-only counts</a:t>
            </a:r>
          </a:p>
        </p:txBody>
      </p:sp>
      <p:sp>
        <p:nvSpPr>
          <p:cNvPr id="37" name="">
            <a:extLst xmlns:a="http://schemas.openxmlformats.org/drawingml/2006/main">
              <a:ext uri="{FF2B5EF4-FFF2-40B4-BE49-F238E27FC236}">
                <a16:creationId xmlns:a16="http://schemas.microsoft.com/office/drawing/2014/main" id="{0E7FF89C-5368-42AE-BD9E-D4FA6110F163}"/>
              </a:ext>
            </a:extLst>
          </p:cNvPr>
          <p:cNvSpPr>
            <a:spLocks xmlns:a="http://schemas.openxmlformats.org/drawingml/2006/main" noGrp="1"/>
          </p:cNvSpPr>
          <p:nvPr/>
        </p:nvSpPr>
        <p:spPr>
          <a:xfrm xmlns:a="http://schemas.openxmlformats.org/drawingml/2006/main">
            <a:off x="685800" y="3676650"/>
            <a:ext cx="232410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1430">
            <a:solidFill>
              <a:srgbClr val="D5E0E7"/>
            </a:solidFill>
            <a:prstDash val="solid"/>
          </a:ln>
        </p:spPr>
      </p:sp>
      <p:sp>
        <p:nvSpPr>
          <p:cNvPr id="38" name="">
            <a:extLst xmlns:a="http://schemas.openxmlformats.org/drawingml/2006/main">
              <a:ext uri="{FF2B5EF4-FFF2-40B4-BE49-F238E27FC236}">
                <a16:creationId xmlns:a16="http://schemas.microsoft.com/office/drawing/2014/main" id="{B70EF2D0-BB6F-41F8-8015-399420DB002B}"/>
              </a:ext>
            </a:extLst>
          </p:cNvPr>
          <p:cNvSpPr>
            <a:spLocks xmlns:a="http://schemas.openxmlformats.org/drawingml/2006/main" noGrp="1"/>
          </p:cNvSpPr>
          <p:nvPr/>
        </p:nvSpPr>
        <p:spPr>
          <a:xfrm xmlns:a="http://schemas.openxmlformats.org/drawingml/2006/main">
            <a:off x="685800" y="3676650"/>
            <a:ext cx="66675" cy="1028700"/>
          </a:xfrm>
          <a:prstGeom xmlns:a="http://schemas.openxmlformats.org/drawingml/2006/main" prst="rect">
            <a:avLst/>
          </a:prstGeom>
          <a:solidFill xmlns:a="http://schemas.openxmlformats.org/drawingml/2006/main">
            <a:srgbClr val="A14338"/>
          </a:solidFill>
          <a:ln xmlns:a="http://schemas.openxmlformats.org/drawingml/2006/main" w="0">
            <a:solidFill>
              <a:srgbClr val="A14338"/>
            </a:solidFill>
            <a:prstDash val="solid"/>
          </a:ln>
        </p:spPr>
      </p:sp>
      <p:sp>
        <p:nvSpPr>
          <p:cNvPr id="39" name="">
            <a:extLst xmlns:a="http://schemas.openxmlformats.org/drawingml/2006/main">
              <a:ext uri="{FF2B5EF4-FFF2-40B4-BE49-F238E27FC236}">
                <a16:creationId xmlns:a16="http://schemas.microsoft.com/office/drawing/2014/main" id="{5089459D-4682-4676-BFB2-CC8751B2D280}"/>
              </a:ext>
            </a:extLst>
          </p:cNvPr>
          <p:cNvSpPr>
            <a:spLocks xmlns:a="http://schemas.openxmlformats.org/drawingml/2006/main" noGrp="1"/>
          </p:cNvSpPr>
          <p:nvPr/>
        </p:nvSpPr>
        <p:spPr>
          <a:xfrm xmlns:a="http://schemas.openxmlformats.org/drawingml/2006/main">
            <a:off x="857250" y="3771900"/>
            <a:ext cx="2038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buNone/>
              <a:defRPr sz="1350" b="1">
                <a:solidFill>
                  <a:srgbClr val="102C49"/>
                </a:solidFill>
                <a:latin typeface="Arial"/>
                <a:ea typeface="Arial"/>
                <a:cs typeface="Arial"/>
              </a:defRPr>
            </a:pPr>
            <a:r>
              <a:rPr sz="1350" b="1">
                <a:solidFill>
                  <a:srgbClr val="102C49"/>
                </a:solidFill>
                <a:latin typeface="Arial"/>
                <a:ea typeface="Arial"/>
                <a:cs typeface="Arial"/>
              </a:rPr>
              <a:t>Release gate</a:t>
            </a:r>
          </a:p>
        </p:txBody>
      </p:sp>
      <p:sp>
        <p:nvSpPr>
          <p:cNvPr id="40" name="">
            <a:extLst xmlns:a="http://schemas.openxmlformats.org/drawingml/2006/main">
              <a:ext uri="{FF2B5EF4-FFF2-40B4-BE49-F238E27FC236}">
                <a16:creationId xmlns:a16="http://schemas.microsoft.com/office/drawing/2014/main" id="{A94959BB-F7B7-45B0-9CC3-94D6A1B59E49}"/>
              </a:ext>
            </a:extLst>
          </p:cNvPr>
          <p:cNvSpPr>
            <a:spLocks xmlns:a="http://schemas.openxmlformats.org/drawingml/2006/main" noGrp="1"/>
          </p:cNvSpPr>
          <p:nvPr/>
        </p:nvSpPr>
        <p:spPr>
          <a:xfrm xmlns:a="http://schemas.openxmlformats.org/drawingml/2006/main">
            <a:off x="857250" y="4076700"/>
            <a:ext cx="2038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050" b="0">
                <a:solidFill>
                  <a:srgbClr val="536D81"/>
                </a:solidFill>
                <a:latin typeface="Arial"/>
                <a:ea typeface="Arial"/>
                <a:cs typeface="Arial"/>
              </a:defRPr>
            </a:pPr>
            <a:r>
              <a:rPr sz="1050" b="0">
                <a:solidFill>
                  <a:srgbClr val="536D81"/>
                </a:solidFill>
                <a:latin typeface="Arial"/>
                <a:ea typeface="Arial"/>
                <a:cs typeface="Arial"/>
              </a:rPr>
              <a:t>Human review</a:t>
            </a:r>
          </a:p>
          <a:p xmlns:a="http://schemas.openxmlformats.org/drawingml/2006/main">
            <a:pPr algn="l">
              <a:buNone/>
              <a:defRPr sz="1050" b="0">
                <a:solidFill>
                  <a:srgbClr val="536D81"/>
                </a:solidFill>
                <a:latin typeface="Arial"/>
                <a:ea typeface="Arial"/>
                <a:cs typeface="Arial"/>
              </a:defRPr>
            </a:pPr>
            <a:r>
              <a:rPr sz="1050" b="0">
                <a:solidFill>
                  <a:srgbClr val="536D81"/>
                </a:solidFill>
                <a:latin typeface="Arial"/>
                <a:ea typeface="Arial"/>
                <a:cs typeface="Arial"/>
              </a:rPr>
              <a:t>Block unresolved gaps</a:t>
            </a:r>
          </a:p>
          <a:p xmlns:a="http://schemas.openxmlformats.org/drawingml/2006/main">
            <a:pPr algn="l">
              <a:buNone/>
              <a:defRPr sz="1050" b="0">
                <a:solidFill>
                  <a:srgbClr val="536D81"/>
                </a:solidFill>
                <a:latin typeface="Arial"/>
                <a:ea typeface="Arial"/>
                <a:cs typeface="Arial"/>
              </a:defRPr>
            </a:pPr>
            <a:r>
              <a:rPr sz="1050" b="0">
                <a:solidFill>
                  <a:srgbClr val="536D81"/>
                </a:solidFill>
                <a:latin typeface="Arial"/>
                <a:ea typeface="Arial"/>
                <a:cs typeface="Arial"/>
              </a:rPr>
              <a:t>Redacted export only</a:t>
            </a:r>
          </a:p>
        </p:txBody>
      </p:sp>
      <p:sp>
        <p:nvSpPr>
          <p:cNvPr id="41" name="">
            <a:extLst xmlns:a="http://schemas.openxmlformats.org/drawingml/2006/main">
              <a:ext uri="{FF2B5EF4-FFF2-40B4-BE49-F238E27FC236}">
                <a16:creationId xmlns:a16="http://schemas.microsoft.com/office/drawing/2014/main" id="{54855053-9148-4D0A-BB20-0D37CA65E896}"/>
              </a:ext>
            </a:extLst>
          </p:cNvPr>
          <p:cNvSpPr>
            <a:spLocks xmlns:a="http://schemas.openxmlformats.org/drawingml/2006/main" noGrp="1"/>
          </p:cNvSpPr>
          <p:nvPr/>
        </p:nvSpPr>
        <p:spPr>
          <a:xfrm xmlns:a="http://schemas.openxmlformats.org/drawingml/2006/main">
            <a:off x="9182100" y="4067175"/>
            <a:ext cx="342900" cy="209550"/>
          </a:xfrm>
          <a:prstGeom xmlns:a="http://schemas.openxmlformats.org/drawingml/2006/main" prst="leftArrow">
            <a:avLst/>
          </a:prstGeom>
          <a:solidFill xmlns:a="http://schemas.openxmlformats.org/drawingml/2006/main">
            <a:srgbClr val="D6AA4B"/>
          </a:solidFill>
          <a:ln xmlns:a="http://schemas.openxmlformats.org/drawingml/2006/main" w="0">
            <a:solidFill>
              <a:srgbClr val="D6AA4B"/>
            </a:solidFill>
            <a:prstDash val="solid"/>
          </a:ln>
        </p:spPr>
      </p:sp>
      <p:sp>
        <p:nvSpPr>
          <p:cNvPr id="42" name="">
            <a:extLst xmlns:a="http://schemas.openxmlformats.org/drawingml/2006/main">
              <a:ext uri="{FF2B5EF4-FFF2-40B4-BE49-F238E27FC236}">
                <a16:creationId xmlns:a16="http://schemas.microsoft.com/office/drawing/2014/main" id="{DC62E8A4-D98C-43B2-B07E-D1416687B407}"/>
              </a:ext>
            </a:extLst>
          </p:cNvPr>
          <p:cNvSpPr>
            <a:spLocks xmlns:a="http://schemas.openxmlformats.org/drawingml/2006/main" noGrp="1"/>
          </p:cNvSpPr>
          <p:nvPr/>
        </p:nvSpPr>
        <p:spPr>
          <a:xfrm xmlns:a="http://schemas.openxmlformats.org/drawingml/2006/main">
            <a:off x="6172200" y="4067175"/>
            <a:ext cx="342900" cy="209550"/>
          </a:xfrm>
          <a:prstGeom xmlns:a="http://schemas.openxmlformats.org/drawingml/2006/main" prst="leftArrow">
            <a:avLst/>
          </a:prstGeom>
          <a:solidFill xmlns:a="http://schemas.openxmlformats.org/drawingml/2006/main">
            <a:srgbClr val="D6AA4B"/>
          </a:solidFill>
          <a:ln xmlns:a="http://schemas.openxmlformats.org/drawingml/2006/main" w="0">
            <a:solidFill>
              <a:srgbClr val="D6AA4B"/>
            </a:solidFill>
            <a:prstDash val="solid"/>
          </a:ln>
        </p:spPr>
      </p:sp>
      <p:sp>
        <p:nvSpPr>
          <p:cNvPr id="43" name="">
            <a:extLst xmlns:a="http://schemas.openxmlformats.org/drawingml/2006/main">
              <a:ext uri="{FF2B5EF4-FFF2-40B4-BE49-F238E27FC236}">
                <a16:creationId xmlns:a16="http://schemas.microsoft.com/office/drawing/2014/main" id="{D0741727-1FCC-4D77-B85A-1124BFC42F0F}"/>
              </a:ext>
            </a:extLst>
          </p:cNvPr>
          <p:cNvSpPr>
            <a:spLocks xmlns:a="http://schemas.openxmlformats.org/drawingml/2006/main" noGrp="1"/>
          </p:cNvSpPr>
          <p:nvPr/>
        </p:nvSpPr>
        <p:spPr>
          <a:xfrm xmlns:a="http://schemas.openxmlformats.org/drawingml/2006/main">
            <a:off x="3162300" y="4067175"/>
            <a:ext cx="342900" cy="209550"/>
          </a:xfrm>
          <a:prstGeom xmlns:a="http://schemas.openxmlformats.org/drawingml/2006/main" prst="leftArrow">
            <a:avLst/>
          </a:prstGeom>
          <a:solidFill xmlns:a="http://schemas.openxmlformats.org/drawingml/2006/main">
            <a:srgbClr val="D6AA4B"/>
          </a:solidFill>
          <a:ln xmlns:a="http://schemas.openxmlformats.org/drawingml/2006/main" w="0">
            <a:solidFill>
              <a:srgbClr val="D6AA4B"/>
            </a:solidFill>
            <a:prstDash val="solid"/>
          </a:ln>
        </p:spPr>
      </p:sp>
      <p:sp>
        <p:nvSpPr>
          <p:cNvPr id="44" name="">
            <a:extLst xmlns:a="http://schemas.openxmlformats.org/drawingml/2006/main">
              <a:ext uri="{FF2B5EF4-FFF2-40B4-BE49-F238E27FC236}">
                <a16:creationId xmlns:a16="http://schemas.microsoft.com/office/drawing/2014/main" id="{BA081C7C-3FFF-459F-9FFA-218B2C054084}"/>
              </a:ext>
            </a:extLst>
          </p:cNvPr>
          <p:cNvSpPr>
            <a:spLocks xmlns:a="http://schemas.openxmlformats.org/drawingml/2006/main" noGrp="1"/>
          </p:cNvSpPr>
          <p:nvPr/>
        </p:nvSpPr>
        <p:spPr>
          <a:xfrm xmlns:a="http://schemas.openxmlformats.org/drawingml/2006/main">
            <a:off x="685800" y="52197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350" b="1">
                <a:solidFill>
                  <a:srgbClr val="17334B"/>
                </a:solidFill>
                <a:latin typeface="Arial"/>
                <a:ea typeface="Arial"/>
                <a:cs typeface="Arial"/>
              </a:defRPr>
            </a:pPr>
            <a:r>
              <a:rPr sz="1350" b="1">
                <a:solidFill>
                  <a:srgbClr val="17334B"/>
                </a:solidFill>
                <a:latin typeface="Arial"/>
                <a:ea typeface="Arial"/>
                <a:cs typeface="Arial"/>
              </a:rPr>
              <a:t>Flow continues right-to-left below; parser/OCR gaps are quarantined and only reviewed redacted text can leave the boundary.</a:t>
            </a:r>
          </a:p>
        </p:txBody>
      </p:sp>
      <p:sp>
        <p:nvSpPr>
          <p:cNvPr id="45" name="">
            <a:extLst xmlns:a="http://schemas.openxmlformats.org/drawingml/2006/main">
              <a:ext uri="{FF2B5EF4-FFF2-40B4-BE49-F238E27FC236}">
                <a16:creationId xmlns:a16="http://schemas.microsoft.com/office/drawing/2014/main" id="{513D85C4-EDDF-4EC4-8C3A-DB97602CC9D5}"/>
              </a:ext>
            </a:extLst>
          </p:cNvPr>
          <p:cNvSpPr>
            <a:spLocks xmlns:a="http://schemas.openxmlformats.org/drawingml/2006/main" noGrp="1"/>
          </p:cNvSpPr>
          <p:nvPr/>
        </p:nvSpPr>
        <p:spPr>
          <a:xfrm xmlns:a="http://schemas.openxmlformats.org/drawingml/2006/main">
            <a:off x="685800" y="5724525"/>
            <a:ext cx="1082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p xmlns:a="http://schemas.openxmlformats.org/drawingml/2006/main">
            <a:pPr algn="l">
              <a:buNone/>
              <a:defRPr sz="1200" b="1">
                <a:solidFill>
                  <a:srgbClr val="A14338"/>
                </a:solidFill>
                <a:latin typeface="Arial"/>
                <a:ea typeface="Arial"/>
                <a:cs typeface="Arial"/>
              </a:defRPr>
            </a:pPr>
            <a:r>
              <a:rPr sz="1200" b="1">
                <a:solidFill>
                  <a:srgbClr val="A14338"/>
                </a:solidFill>
                <a:latin typeface="Arial"/>
                <a:ea typeface="Arial"/>
                <a:cs typeface="Arial"/>
              </a:rPr>
              <a:t>Prototype only: no login or LLM. Production needs SSO/MFA + server-side RBAC; document claims are not identity proof.</a:t>
            </a:r>
          </a:p>
        </p:txBody>
      </p:sp>
      <p:sp>
        <p:nvSpPr>
          <p:cNvPr id="46" name="">
            <a:extLst xmlns:a="http://schemas.openxmlformats.org/drawingml/2006/main">
              <a:ext uri="{FF2B5EF4-FFF2-40B4-BE49-F238E27FC236}">
                <a16:creationId xmlns:a16="http://schemas.microsoft.com/office/drawing/2014/main" id="{3EE2D0CB-AB97-4D5D-BADE-5ADAC464F8A8}"/>
              </a:ext>
            </a:extLst>
          </p:cNvPr>
          <p:cNvSpPr>
            <a:spLocks xmlns:a="http://schemas.openxmlformats.org/drawingml/2006/main" noGrp="1"/>
          </p:cNvSpPr>
          <p:nvPr/>
        </p:nvSpPr>
        <p:spPr>
          <a:xfrm xmlns:a="http://schemas.openxmlformats.org/drawingml/2006/main">
            <a:off x="685800" y="655320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48485"/>
          </a:bodyPr>
          <a:lstStyle xmlns:a="http://schemas.openxmlformats.org/drawingml/2006/main"/>
          <a:p xmlns:a="http://schemas.openxmlformats.org/drawingml/2006/main">
            <a:pPr algn="l">
              <a:buNone/>
              <a:defRPr sz="825" b="0">
                <a:solidFill>
                  <a:srgbClr val="536D81"/>
                </a:solidFill>
                <a:latin typeface="Arial"/>
                <a:ea typeface="Arial"/>
                <a:cs typeface="Arial"/>
              </a:defRPr>
            </a:pPr>
            <a:r>
              <a:rPr sz="825" b="0">
                <a:solidFill>
                  <a:srgbClr val="536D81"/>
                </a:solidFill>
                <a:latin typeface="Arial"/>
                <a:ea typeface="Arial"/>
                <a:cs typeface="Arial"/>
              </a:rPr>
              <a:t>OPTIV  ·  VIT 2026  |  CASE STUDY 2  |  07</a:t>
            </a:r>
          </a:p>
        </p:txBody>
      </p:sp>
    </p:spTree>
    <p:extLst>
      <p:ext uri="{BB962C8B-B14F-4D97-AF65-F5344CB8AC3E}">
        <p14:creationId xmlns:p14="http://schemas.microsoft.com/office/powerpoint/2010/main" val="645431861"/>
      </p:ext>
    </p:extLst>
  </p:cSld>
</p:sld>
</file>

<file path=ppt/slides/slide8.xml><?xml version="1.0" encoding="utf-8"?>
<p:sld xmlns:p="http://schemas.openxmlformats.org/presentationml/2006/main">
  <p:cSld>
    <p:bg>
      <p:bgPr>
        <a:solidFill xmlns:a="http://schemas.openxmlformats.org/drawingml/2006/main">
          <a:srgbClr val="F3F6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0B8B5C9-5D20-46A4-A859-67DB562213BE}"/>
              </a:ext>
            </a:extLst>
          </p:cNvPr>
          <p:cNvSpPr>
            <a:spLocks xmlns:a="http://schemas.openxmlformats.org/drawingml/2006/main" noGrp="1"/>
          </p:cNvSpPr>
          <p:nvPr/>
        </p:nvSpPr>
        <p:spPr>
          <a:xfrm xmlns:a="http://schemas.openxmlformats.org/drawingml/2006/main">
            <a:off x="685800" y="20955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762"/>
          </a:bodyPr>
          <a:lstStyle xmlns:a="http://schemas.openxmlformats.org/drawingml/2006/main"/>
          <a:p xmlns:a="http://schemas.openxmlformats.org/drawingml/2006/main">
            <a:pPr algn="l">
              <a:buNone/>
              <a:defRPr sz="1050" b="1">
                <a:solidFill>
                  <a:srgbClr val="187A83"/>
                </a:solidFill>
                <a:latin typeface="Arial"/>
                <a:ea typeface="Arial"/>
                <a:cs typeface="Arial"/>
              </a:defRPr>
            </a:pPr>
            <a:r>
              <a:rPr sz="1050" b="1">
                <a:solidFill>
                  <a:srgbClr val="187A83"/>
                </a:solidFill>
                <a:latin typeface="Arial"/>
                <a:ea typeface="Arial"/>
                <a:cs typeface="Arial"/>
              </a:rPr>
              <a:t>CASE STUDY 2  /  CADENCE</a:t>
            </a:r>
          </a:p>
        </p:txBody>
      </p:sp>
      <p:sp>
        <p:nvSpPr>
          <p:cNvPr id="2" name="">
            <a:extLst xmlns:a="http://schemas.openxmlformats.org/drawingml/2006/main">
              <a:ext uri="{FF2B5EF4-FFF2-40B4-BE49-F238E27FC236}">
                <a16:creationId xmlns:a16="http://schemas.microsoft.com/office/drawing/2014/main" id="{80F9207E-26D6-4A1E-80DD-944DFD49A63D}"/>
              </a:ext>
            </a:extLst>
          </p:cNvPr>
          <p:cNvSpPr>
            <a:spLocks xmlns:a="http://schemas.openxmlformats.org/drawingml/2006/main" noGrp="1"/>
          </p:cNvSpPr>
          <p:nvPr/>
        </p:nvSpPr>
        <p:spPr>
          <a:xfrm xmlns:a="http://schemas.openxmlformats.org/drawingml/2006/main">
            <a:off x="685800" y="4953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850" b="1">
                <a:solidFill>
                  <a:srgbClr val="102C49"/>
                </a:solidFill>
                <a:latin typeface="Arial"/>
                <a:ea typeface="Arial"/>
                <a:cs typeface="Arial"/>
              </a:defRPr>
            </a:pPr>
            <a:r>
              <a:rPr sz="2850" b="1">
                <a:solidFill>
                  <a:srgbClr val="102C49"/>
                </a:solidFill>
                <a:latin typeface="Arial"/>
                <a:ea typeface="Arial"/>
                <a:cs typeface="Arial"/>
              </a:rPr>
              <a:t>Detection logic | classify each match before redaction</a:t>
            </a:r>
          </a:p>
        </p:txBody>
      </p:sp>
      <p:sp>
        <p:nvSpPr>
          <p:cNvPr id="3" name="">
            <a:extLst xmlns:a="http://schemas.openxmlformats.org/drawingml/2006/main">
              <a:ext uri="{FF2B5EF4-FFF2-40B4-BE49-F238E27FC236}">
                <a16:creationId xmlns:a16="http://schemas.microsoft.com/office/drawing/2014/main" id="{5686BB39-B68E-4750-B5C8-3C8E6F722C2F}"/>
              </a:ext>
            </a:extLst>
          </p:cNvPr>
          <p:cNvSpPr>
            <a:spLocks xmlns:a="http://schemas.openxmlformats.org/drawingml/2006/main" noGrp="1"/>
          </p:cNvSpPr>
          <p:nvPr/>
        </p:nvSpPr>
        <p:spPr>
          <a:xfrm xmlns:a="http://schemas.openxmlformats.org/drawingml/2006/main">
            <a:off x="685800" y="1162050"/>
            <a:ext cx="10820400" cy="0"/>
          </a:xfrm>
          <a:prstGeom xmlns:a="http://schemas.openxmlformats.org/drawingml/2006/main" prst="line">
            <a:avLst/>
          </a:prstGeom>
          <a:noFill xmlns:a="http://schemas.openxmlformats.org/drawingml/2006/main"/>
          <a:ln xmlns:a="http://schemas.openxmlformats.org/drawingml/2006/main" w="11430">
            <a:solidFill>
              <a:srgbClr val="D5E0E7"/>
            </a:solidFill>
            <a:prstDash val="solid"/>
          </a:ln>
        </p:spPr>
      </p:sp>
      <p:graphicFrame>
        <p:nvGraphicFramePr>
          <p:cNvPr id="12" name=""/>
          <p:cNvGraphicFramePr/>
          <p:nvPr/>
        </p:nvGraphicFramePr>
        <p:xfrm>
          <a:off xmlns:a="http://schemas.openxmlformats.org/drawingml/2006/main" x="685800" y="1466850"/>
          <a:ext xmlns:a="http://schemas.openxmlformats.org/drawingml/2006/main" cx="10820400" cy="4133850"/>
        </p:xfrm>
        <a:graphic xmlns:a="http://schemas.openxmlformats.org/drawingml/2006/main">
          <a:graphicData uri="http://schemas.openxmlformats.org/drawingml/2006/table">
            <a:tbl>
              <a:tblPr firstRow="1" bandRow="1"/>
              <a:tblGrid>
                <a:gridCol w="1809750"/>
                <a:gridCol w="3429000"/>
                <a:gridCol w="2381250"/>
                <a:gridCol w="3200400"/>
              </a:tblGrid>
              <a:tr h="457200">
                <a:tc>
                  <a:txBody>
                    <a:bodyPr/>
                    <a:lstStyle/>
                    <a:p>
                      <a:r>
                        <a:rPr sz="1275" b="1">
                          <a:solidFill>
                            <a:srgbClr val="FFFFFF"/>
                          </a:solidFill>
                          <a:latin typeface="Arial"/>
                          <a:ea typeface="Arial"/>
                          <a:cs typeface="Arial"/>
                        </a:rPr>
                        <a:t>PII class</a:t>
                      </a:r>
                    </a:p>
                  </a:txBody>
                  <a:tcPr marL="85725" marR="66675" marT="66675" marB="66675">
                    <a:solidFill>
                      <a:srgbClr val="102C49"/>
                    </a:solidFill>
                  </a:tcPr>
                </a:tc>
                <a:tc>
                  <a:txBody>
                    <a:bodyPr/>
                    <a:lstStyle/>
                    <a:p>
                      <a:r>
                        <a:rPr sz="1275" b="1">
                          <a:solidFill>
                            <a:srgbClr val="FFFFFF"/>
                          </a:solidFill>
                          <a:latin typeface="Arial"/>
                          <a:ea typeface="Arial"/>
                          <a:cs typeface="Arial"/>
                        </a:rPr>
                        <a:t>Detection signal</a:t>
                      </a:r>
                    </a:p>
                  </a:txBody>
                  <a:tcPr marL="85725" marR="66675" marT="66675" marB="66675">
                    <a:solidFill>
                      <a:srgbClr val="102C49"/>
                    </a:solidFill>
                  </a:tcPr>
                </a:tc>
                <a:tc>
                  <a:txBody>
                    <a:bodyPr/>
                    <a:lstStyle/>
                    <a:p>
                      <a:r>
                        <a:rPr sz="1275" b="1">
                          <a:solidFill>
                            <a:srgbClr val="FFFFFF"/>
                          </a:solidFill>
                          <a:latin typeface="Arial"/>
                          <a:ea typeface="Arial"/>
                          <a:cs typeface="Arial"/>
                        </a:rPr>
                        <a:t>Redaction tag</a:t>
                      </a:r>
                    </a:p>
                  </a:txBody>
                  <a:tcPr marL="85725" marR="66675" marT="66675" marB="66675">
                    <a:solidFill>
                      <a:srgbClr val="102C49"/>
                    </a:solidFill>
                  </a:tcPr>
                </a:tc>
                <a:tc>
                  <a:txBody>
                    <a:bodyPr/>
                    <a:lstStyle/>
                    <a:p>
                      <a:r>
                        <a:rPr sz="1275" b="1">
                          <a:solidFill>
                            <a:srgbClr val="FFFFFF"/>
                          </a:solidFill>
                          <a:latin typeface="Arial"/>
                          <a:ea typeface="Arial"/>
                          <a:cs typeface="Arial"/>
                        </a:rPr>
                        <a:t>Review control</a:t>
                      </a:r>
                    </a:p>
                  </a:txBody>
                  <a:tcPr marL="85725" marR="66675" marT="66675" marB="66675">
                    <a:solidFill>
                      <a:srgbClr val="102C49"/>
                    </a:solidFill>
                  </a:tcPr>
                </a:tc>
              </a:tr>
              <a:tr h="0">
                <a:tc>
                  <a:txBody>
                    <a:bodyPr/>
                    <a:lstStyle/>
                    <a:p>
                      <a:r>
                        <a:rPr sz="1125">
                          <a:solidFill>
                            <a:srgbClr val="17334B"/>
                          </a:solidFill>
                          <a:latin typeface="Arial"/>
                          <a:ea typeface="Arial"/>
                          <a:cs typeface="Arial"/>
                        </a:rPr>
                        <a:t>Person name</a:t>
                      </a:r>
                    </a:p>
                  </a:txBody>
                  <a:tcPr marL="85725" marR="66675" marT="66675" marB="66675"/>
                </a:tc>
                <a:tc>
                  <a:txBody>
                    <a:bodyPr/>
                    <a:lstStyle/>
                    <a:p>
                      <a:r>
                        <a:rPr sz="1125">
                          <a:solidFill>
                            <a:srgbClr val="17334B"/>
                          </a:solidFill>
                          <a:latin typeface="Arial"/>
                          <a:ea typeface="Arial"/>
                          <a:cs typeface="Arial"/>
                        </a:rPr>
                        <a:t>Exact supplied sample-directory seed</a:t>
                      </a:r>
                    </a:p>
                  </a:txBody>
                  <a:tcPr marL="85725" marR="66675" marT="66675" marB="66675"/>
                </a:tc>
                <a:tc>
                  <a:txBody>
                    <a:bodyPr/>
                    <a:lstStyle/>
                    <a:p>
                      <a:r>
                        <a:rPr sz="1125">
                          <a:solidFill>
                            <a:srgbClr val="17334B"/>
                          </a:solidFill>
                          <a:latin typeface="Arial"/>
                          <a:ea typeface="Arial"/>
                          <a:cs typeface="Arial"/>
                        </a:rPr>
                        <a:t>PERSON_NAME</a:t>
                      </a:r>
                    </a:p>
                  </a:txBody>
                  <a:tcPr marL="85725" marR="66675" marT="66675" marB="66675"/>
                </a:tc>
                <a:tc>
                  <a:txBody>
                    <a:bodyPr/>
                    <a:lstStyle/>
                    <a:p>
                      <a:r>
                        <a:rPr sz="1125">
                          <a:solidFill>
                            <a:srgbClr val="17334B"/>
                          </a:solidFill>
                          <a:latin typeface="Arial"/>
                          <a:ea typeface="Arial"/>
                          <a:cs typeface="Arial"/>
                        </a:rPr>
                        <a:t>Expand to approved NER/name source before operational use</a:t>
                      </a:r>
                    </a:p>
                  </a:txBody>
                  <a:tcPr marL="85725" marR="66675" marT="66675" marB="66675"/>
                </a:tc>
              </a:tr>
              <a:tr h="0">
                <a:tc>
                  <a:txBody>
                    <a:bodyPr/>
                    <a:lstStyle/>
                    <a:p>
                      <a:r>
                        <a:rPr sz="1125">
                          <a:solidFill>
                            <a:srgbClr val="17334B"/>
                          </a:solidFill>
                          <a:latin typeface="Arial"/>
                          <a:ea typeface="Arial"/>
                          <a:cs typeface="Arial"/>
                        </a:rPr>
                        <a:t>Contact</a:t>
                      </a:r>
                    </a:p>
                  </a:txBody>
                  <a:tcPr marL="85725" marR="66675" marT="66675" marB="66675"/>
                </a:tc>
                <a:tc>
                  <a:txBody>
                    <a:bodyPr/>
                    <a:lstStyle/>
                    <a:p>
                      <a:r>
                        <a:rPr sz="1125">
                          <a:solidFill>
                            <a:srgbClr val="17334B"/>
                          </a:solidFill>
                          <a:latin typeface="Arial"/>
                          <a:ea typeface="Arial"/>
                          <a:cs typeface="Arial"/>
                        </a:rPr>
                        <a:t>Email syntax; international and local phone patterns</a:t>
                      </a:r>
                    </a:p>
                  </a:txBody>
                  <a:tcPr marL="85725" marR="66675" marT="66675" marB="66675"/>
                </a:tc>
                <a:tc>
                  <a:txBody>
                    <a:bodyPr/>
                    <a:lstStyle/>
                    <a:p>
                      <a:r>
                        <a:rPr sz="1125">
                          <a:solidFill>
                            <a:srgbClr val="17334B"/>
                          </a:solidFill>
                          <a:latin typeface="Arial"/>
                          <a:ea typeface="Arial"/>
                          <a:cs typeface="Arial"/>
                        </a:rPr>
                        <a:t>EMAIL / PHONE</a:t>
                      </a:r>
                    </a:p>
                  </a:txBody>
                  <a:tcPr marL="85725" marR="66675" marT="66675" marB="66675"/>
                </a:tc>
                <a:tc>
                  <a:txBody>
                    <a:bodyPr/>
                    <a:lstStyle/>
                    <a:p>
                      <a:r>
                        <a:rPr sz="1125">
                          <a:solidFill>
                            <a:srgbClr val="17334B"/>
                          </a:solidFill>
                          <a:latin typeface="Arial"/>
                          <a:ea typeface="Arial"/>
                          <a:cs typeface="Arial"/>
                        </a:rPr>
                        <a:t>Normalize spacing and validate ambiguous matches</a:t>
                      </a:r>
                    </a:p>
                  </a:txBody>
                  <a:tcPr marL="85725" marR="66675" marT="66675" marB="66675"/>
                </a:tc>
              </a:tr>
              <a:tr h="0">
                <a:tc>
                  <a:txBody>
                    <a:bodyPr/>
                    <a:lstStyle/>
                    <a:p>
                      <a:r>
                        <a:rPr sz="1125">
                          <a:solidFill>
                            <a:srgbClr val="17334B"/>
                          </a:solidFill>
                          <a:latin typeface="Arial"/>
                          <a:ea typeface="Arial"/>
                          <a:cs typeface="Arial"/>
                        </a:rPr>
                        <a:t>Identifiers</a:t>
                      </a:r>
                    </a:p>
                  </a:txBody>
                  <a:tcPr marL="85725" marR="66675" marT="66675" marB="66675"/>
                </a:tc>
                <a:tc>
                  <a:txBody>
                    <a:bodyPr/>
                    <a:lstStyle/>
                    <a:p>
                      <a:r>
                        <a:rPr sz="1125">
                          <a:solidFill>
                            <a:srgbClr val="17334B"/>
                          </a:solidFill>
                          <a:latin typeface="Arial"/>
                          <a:ea typeface="Arial"/>
                          <a:cs typeface="Arial"/>
                        </a:rPr>
                        <a:t>Employee ID, SSN, passport/tax-ID context, account strings</a:t>
                      </a:r>
                    </a:p>
                  </a:txBody>
                  <a:tcPr marL="85725" marR="66675" marT="66675" marB="66675"/>
                </a:tc>
                <a:tc>
                  <a:txBody>
                    <a:bodyPr/>
                    <a:lstStyle/>
                    <a:p>
                      <a:r>
                        <a:rPr sz="1125">
                          <a:solidFill>
                            <a:srgbClr val="17334B"/>
                          </a:solidFill>
                          <a:latin typeface="Arial"/>
                          <a:ea typeface="Arial"/>
                          <a:cs typeface="Arial"/>
                        </a:rPr>
                        <a:t>EMPLOYEE_ID / GOVERNMENT_ID / BANK_ACCOUNT</a:t>
                      </a:r>
                    </a:p>
                  </a:txBody>
                  <a:tcPr marL="85725" marR="66675" marT="66675" marB="66675"/>
                </a:tc>
                <a:tc>
                  <a:txBody>
                    <a:bodyPr/>
                    <a:lstStyle/>
                    <a:p>
                      <a:r>
                        <a:rPr sz="1125">
                          <a:solidFill>
                            <a:srgbClr val="17334B"/>
                          </a:solidFill>
                          <a:latin typeface="Arial"/>
                          <a:ea typeface="Arial"/>
                          <a:cs typeface="Arial"/>
                        </a:rPr>
                        <a:t>Contextual capture; don't infer from digit count alone</a:t>
                      </a:r>
                    </a:p>
                  </a:txBody>
                  <a:tcPr marL="85725" marR="66675" marT="66675" marB="66675"/>
                </a:tc>
              </a:tr>
              <a:tr h="0">
                <a:tc>
                  <a:txBody>
                    <a:bodyPr/>
                    <a:lstStyle/>
                    <a:p>
                      <a:r>
                        <a:rPr sz="1125">
                          <a:solidFill>
                            <a:srgbClr val="17334B"/>
                          </a:solidFill>
                          <a:latin typeface="Arial"/>
                          <a:ea typeface="Arial"/>
                          <a:cs typeface="Arial"/>
                        </a:rPr>
                        <a:t>Personal details</a:t>
                      </a:r>
                    </a:p>
                  </a:txBody>
                  <a:tcPr marL="85725" marR="66675" marT="66675" marB="66675"/>
                </a:tc>
                <a:tc>
                  <a:txBody>
                    <a:bodyPr/>
                    <a:lstStyle/>
                    <a:p>
                      <a:r>
                        <a:rPr sz="1125">
                          <a:solidFill>
                            <a:srgbClr val="17334B"/>
                          </a:solidFill>
                          <a:latin typeface="Arial"/>
                          <a:ea typeface="Arial"/>
                          <a:cs typeface="Arial"/>
                        </a:rPr>
                        <a:t>Date of birth and street-address pattern</a:t>
                      </a:r>
                    </a:p>
                  </a:txBody>
                  <a:tcPr marL="85725" marR="66675" marT="66675" marB="66675"/>
                </a:tc>
                <a:tc>
                  <a:txBody>
                    <a:bodyPr/>
                    <a:lstStyle/>
                    <a:p>
                      <a:r>
                        <a:rPr sz="1125">
                          <a:solidFill>
                            <a:srgbClr val="17334B"/>
                          </a:solidFill>
                          <a:latin typeface="Arial"/>
                          <a:ea typeface="Arial"/>
                          <a:cs typeface="Arial"/>
                        </a:rPr>
                        <a:t>DOB / ADDRESS</a:t>
                      </a:r>
                    </a:p>
                  </a:txBody>
                  <a:tcPr marL="85725" marR="66675" marT="66675" marB="66675"/>
                </a:tc>
                <a:tc>
                  <a:txBody>
                    <a:bodyPr/>
                    <a:lstStyle/>
                    <a:p>
                      <a:r>
                        <a:rPr sz="1125">
                          <a:solidFill>
                            <a:srgbClr val="17334B"/>
                          </a:solidFill>
                          <a:latin typeface="Arial"/>
                          <a:ea typeface="Arial"/>
                          <a:cs typeface="Arial"/>
                        </a:rPr>
                        <a:t>Check OCR confidence and nearby labels</a:t>
                      </a:r>
                    </a:p>
                  </a:txBody>
                  <a:tcPr marL="85725" marR="66675" marT="66675" marB="66675"/>
                </a:tc>
              </a:tr>
              <a:tr h="0">
                <a:tc>
                  <a:txBody>
                    <a:bodyPr/>
                    <a:lstStyle/>
                    <a:p>
                      <a:r>
                        <a:rPr sz="1125">
                          <a:solidFill>
                            <a:srgbClr val="17334B"/>
                          </a:solidFill>
                          <a:latin typeface="Arial"/>
                          <a:ea typeface="Arial"/>
                          <a:cs typeface="Arial"/>
                        </a:rPr>
                        <a:t>Financial data</a:t>
                      </a:r>
                    </a:p>
                  </a:txBody>
                  <a:tcPr marL="85725" marR="66675" marT="66675" marB="66675"/>
                </a:tc>
                <a:tc>
                  <a:txBody>
                    <a:bodyPr/>
                    <a:lstStyle/>
                    <a:p>
                      <a:r>
                        <a:rPr sz="1125">
                          <a:solidFill>
                            <a:srgbClr val="17334B"/>
                          </a:solidFill>
                          <a:latin typeface="Arial"/>
                          <a:ea typeface="Arial"/>
                          <a:cs typeface="Arial"/>
                        </a:rPr>
                        <a:t>13–19 digit candidate plus Luhn check</a:t>
                      </a:r>
                    </a:p>
                  </a:txBody>
                  <a:tcPr marL="85725" marR="66675" marT="66675" marB="66675"/>
                </a:tc>
                <a:tc>
                  <a:txBody>
                    <a:bodyPr/>
                    <a:lstStyle/>
                    <a:p>
                      <a:r>
                        <a:rPr sz="1125">
                          <a:solidFill>
                            <a:srgbClr val="17334B"/>
                          </a:solidFill>
                          <a:latin typeface="Arial"/>
                          <a:ea typeface="Arial"/>
                          <a:cs typeface="Arial"/>
                        </a:rPr>
                        <a:t>PAYMENT_CARD</a:t>
                      </a:r>
                    </a:p>
                  </a:txBody>
                  <a:tcPr marL="85725" marR="66675" marT="66675" marB="66675"/>
                </a:tc>
                <a:tc>
                  <a:txBody>
                    <a:bodyPr/>
                    <a:lstStyle/>
                    <a:p>
                      <a:r>
                        <a:rPr sz="1125">
                          <a:solidFill>
                            <a:srgbClr val="17334B"/>
                          </a:solidFill>
                          <a:latin typeface="Arial"/>
                          <a:ea typeface="Arial"/>
                          <a:cs typeface="Arial"/>
                        </a:rPr>
                        <a:t>High-sensitivity review; avoid redacting ordinary reference numbers</a:t>
                      </a:r>
                    </a:p>
                  </a:txBody>
                  <a:tcPr marL="85725" marR="66675" marT="66675" marB="66675"/>
                </a:tc>
              </a:tr>
            </a:tbl>
          </a:graphicData>
        </a:graphic>
      </p:graphicFrame>
      <p:sp>
        <p:nvSpPr>
          <p:cNvPr id="5" name="">
            <a:extLst xmlns:a="http://schemas.openxmlformats.org/drawingml/2006/main">
              <a:ext uri="{FF2B5EF4-FFF2-40B4-BE49-F238E27FC236}">
                <a16:creationId xmlns:a16="http://schemas.microsoft.com/office/drawing/2014/main" id="{DBDD443E-5C72-44A0-B362-538441054799}"/>
              </a:ext>
            </a:extLst>
          </p:cNvPr>
          <p:cNvSpPr>
            <a:spLocks xmlns:a="http://schemas.openxmlformats.org/drawingml/2006/main" noGrp="1"/>
          </p:cNvSpPr>
          <p:nvPr/>
        </p:nvSpPr>
        <p:spPr>
          <a:xfrm xmlns:a="http://schemas.openxmlformats.org/drawingml/2006/main">
            <a:off x="685800" y="581025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75" b="1">
                <a:solidFill>
                  <a:srgbClr val="187A83"/>
                </a:solidFill>
                <a:latin typeface="Arial"/>
                <a:ea typeface="Arial"/>
                <a:cs typeface="Arial"/>
              </a:defRPr>
            </a:pPr>
            <a:r>
              <a:rPr sz="1275" b="1">
                <a:solidFill>
                  <a:srgbClr val="187A83"/>
                </a:solidFill>
                <a:latin typeface="Arial"/>
                <a:ea typeface="Arial"/>
                <a:cs typeface="Arial"/>
              </a:rPr>
              <a:t>Overlapping spans are merged. Session trace shows type and source location; no persistent audit log is stored.</a:t>
            </a:r>
          </a:p>
        </p:txBody>
      </p:sp>
      <p:sp>
        <p:nvSpPr>
          <p:cNvPr id="6" name="">
            <a:extLst xmlns:a="http://schemas.openxmlformats.org/drawingml/2006/main">
              <a:ext uri="{FF2B5EF4-FFF2-40B4-BE49-F238E27FC236}">
                <a16:creationId xmlns:a16="http://schemas.microsoft.com/office/drawing/2014/main" id="{D2274AAB-6D2D-4AD3-84CE-FC437BE01A27}"/>
              </a:ext>
            </a:extLst>
          </p:cNvPr>
          <p:cNvSpPr>
            <a:spLocks xmlns:a="http://schemas.openxmlformats.org/drawingml/2006/main" noGrp="1"/>
          </p:cNvSpPr>
          <p:nvPr/>
        </p:nvSpPr>
        <p:spPr>
          <a:xfrm xmlns:a="http://schemas.openxmlformats.org/drawingml/2006/main">
            <a:off x="685800" y="655320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48485"/>
          </a:bodyPr>
          <a:lstStyle xmlns:a="http://schemas.openxmlformats.org/drawingml/2006/main"/>
          <a:p xmlns:a="http://schemas.openxmlformats.org/drawingml/2006/main">
            <a:pPr algn="l">
              <a:buNone/>
              <a:defRPr sz="825" b="0">
                <a:solidFill>
                  <a:srgbClr val="536D81"/>
                </a:solidFill>
                <a:latin typeface="Arial"/>
                <a:ea typeface="Arial"/>
                <a:cs typeface="Arial"/>
              </a:defRPr>
            </a:pPr>
            <a:r>
              <a:rPr sz="825" b="0">
                <a:solidFill>
                  <a:srgbClr val="536D81"/>
                </a:solidFill>
                <a:latin typeface="Arial"/>
                <a:ea typeface="Arial"/>
                <a:cs typeface="Arial"/>
              </a:rPr>
              <a:t>OPTIV  ·  VIT 2026  |  CASE STUDY 2  |  08</a:t>
            </a:r>
          </a:p>
        </p:txBody>
      </p:sp>
    </p:spTree>
    <p:extLst>
      <p:ext uri="{BB962C8B-B14F-4D97-AF65-F5344CB8AC3E}">
        <p14:creationId xmlns:p14="http://schemas.microsoft.com/office/powerpoint/2010/main" val="442583410"/>
      </p:ext>
    </p:extLst>
  </p:cSld>
</p:sld>
</file>

<file path=ppt/slides/slide9.xml><?xml version="1.0" encoding="utf-8"?>
<p:sld xmlns:p="http://schemas.openxmlformats.org/presentationml/2006/main">
  <p:cSld>
    <p:bg>
      <p:bgPr>
        <a:solidFill xmlns:a="http://schemas.openxmlformats.org/drawingml/2006/main">
          <a:srgbClr val="F3F6F8"/>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438BCC49-58FB-483C-B6DB-7C1BB1890857}"/>
              </a:ext>
            </a:extLst>
          </p:cNvPr>
          <p:cNvSpPr>
            <a:spLocks xmlns:a="http://schemas.openxmlformats.org/drawingml/2006/main" noGrp="1"/>
          </p:cNvSpPr>
          <p:nvPr/>
        </p:nvSpPr>
        <p:spPr>
          <a:xfrm xmlns:a="http://schemas.openxmlformats.org/drawingml/2006/main">
            <a:off x="685800" y="20955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762"/>
          </a:bodyPr>
          <a:lstStyle xmlns:a="http://schemas.openxmlformats.org/drawingml/2006/main"/>
          <a:p xmlns:a="http://schemas.openxmlformats.org/drawingml/2006/main">
            <a:pPr algn="l">
              <a:buNone/>
              <a:defRPr sz="1050" b="1">
                <a:solidFill>
                  <a:srgbClr val="187A83"/>
                </a:solidFill>
                <a:latin typeface="Arial"/>
                <a:ea typeface="Arial"/>
                <a:cs typeface="Arial"/>
              </a:defRPr>
            </a:pPr>
            <a:r>
              <a:rPr sz="1050" b="1">
                <a:solidFill>
                  <a:srgbClr val="187A83"/>
                </a:solidFill>
                <a:latin typeface="Arial"/>
                <a:ea typeface="Arial"/>
                <a:cs typeface="Arial"/>
              </a:rPr>
              <a:t>CASE STUDY 2  /  CADENCE</a:t>
            </a:r>
          </a:p>
        </p:txBody>
      </p:sp>
      <p:sp>
        <p:nvSpPr>
          <p:cNvPr id="2" name="">
            <a:extLst xmlns:a="http://schemas.openxmlformats.org/drawingml/2006/main">
              <a:ext uri="{FF2B5EF4-FFF2-40B4-BE49-F238E27FC236}">
                <a16:creationId xmlns:a16="http://schemas.microsoft.com/office/drawing/2014/main" id="{368774B3-BD58-4114-B82D-A95908DA4AF8}"/>
              </a:ext>
            </a:extLst>
          </p:cNvPr>
          <p:cNvSpPr>
            <a:spLocks xmlns:a="http://schemas.openxmlformats.org/drawingml/2006/main" noGrp="1"/>
          </p:cNvSpPr>
          <p:nvPr/>
        </p:nvSpPr>
        <p:spPr>
          <a:xfrm xmlns:a="http://schemas.openxmlformats.org/drawingml/2006/main">
            <a:off x="685800" y="4953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850" b="1">
                <a:solidFill>
                  <a:srgbClr val="102C49"/>
                </a:solidFill>
                <a:latin typeface="Arial"/>
                <a:ea typeface="Arial"/>
                <a:cs typeface="Arial"/>
              </a:defRPr>
            </a:pPr>
            <a:r>
              <a:rPr sz="2850" b="1">
                <a:solidFill>
                  <a:srgbClr val="102C49"/>
                </a:solidFill>
                <a:latin typeface="Arial"/>
                <a:ea typeface="Arial"/>
                <a:cs typeface="Arial"/>
              </a:rPr>
              <a:t>Sample scan | observed exposure and extraction gaps</a:t>
            </a:r>
          </a:p>
        </p:txBody>
      </p:sp>
      <p:sp>
        <p:nvSpPr>
          <p:cNvPr id="3" name="">
            <a:extLst xmlns:a="http://schemas.openxmlformats.org/drawingml/2006/main">
              <a:ext uri="{FF2B5EF4-FFF2-40B4-BE49-F238E27FC236}">
                <a16:creationId xmlns:a16="http://schemas.microsoft.com/office/drawing/2014/main" id="{56E974D0-5BE1-4BAD-84B8-93A52F5B8BEA}"/>
              </a:ext>
            </a:extLst>
          </p:cNvPr>
          <p:cNvSpPr>
            <a:spLocks xmlns:a="http://schemas.openxmlformats.org/drawingml/2006/main" noGrp="1"/>
          </p:cNvSpPr>
          <p:nvPr/>
        </p:nvSpPr>
        <p:spPr>
          <a:xfrm xmlns:a="http://schemas.openxmlformats.org/drawingml/2006/main">
            <a:off x="685800" y="1162050"/>
            <a:ext cx="10820400" cy="0"/>
          </a:xfrm>
          <a:prstGeom xmlns:a="http://schemas.openxmlformats.org/drawingml/2006/main" prst="line">
            <a:avLst/>
          </a:prstGeom>
          <a:noFill xmlns:a="http://schemas.openxmlformats.org/drawingml/2006/main"/>
          <a:ln xmlns:a="http://schemas.openxmlformats.org/drawingml/2006/main" w="11430">
            <a:solidFill>
              <a:srgbClr val="D5E0E7"/>
            </a:solidFill>
            <a:prstDash val="solid"/>
          </a:ln>
        </p:spPr>
      </p:sp>
      <p:sp>
        <p:nvSpPr>
          <p:cNvPr id="4" name="">
            <a:extLst xmlns:a="http://schemas.openxmlformats.org/drawingml/2006/main">
              <a:ext uri="{FF2B5EF4-FFF2-40B4-BE49-F238E27FC236}">
                <a16:creationId xmlns:a16="http://schemas.microsoft.com/office/drawing/2014/main" id="{7B711540-AF07-443F-BFBC-1715A9B1A23F}"/>
              </a:ext>
            </a:extLst>
          </p:cNvPr>
          <p:cNvSpPr>
            <a:spLocks xmlns:a="http://schemas.openxmlformats.org/drawingml/2006/main" noGrp="1"/>
          </p:cNvSpPr>
          <p:nvPr/>
        </p:nvSpPr>
        <p:spPr>
          <a:xfrm xmlns:a="http://schemas.openxmlformats.org/drawingml/2006/main">
            <a:off x="685800" y="1524000"/>
            <a:ext cx="2476500" cy="1295400"/>
          </a:xfrm>
          <a:prstGeom xmlns:a="http://schemas.openxmlformats.org/drawingml/2006/main" prst="roundRect">
            <a:avLst>
              <a:gd name="adj" fmla="val 8824"/>
            </a:avLst>
          </a:prstGeom>
          <a:solidFill xmlns:a="http://schemas.openxmlformats.org/drawingml/2006/main">
            <a:srgbClr val="FFFFFF"/>
          </a:solidFill>
          <a:ln xmlns:a="http://schemas.openxmlformats.org/drawingml/2006/main" w="11430">
            <a:solidFill>
              <a:srgbClr val="D5E0E7"/>
            </a:solidFill>
            <a:prstDash val="solid"/>
          </a:ln>
        </p:spPr>
      </p:sp>
      <p:sp>
        <p:nvSpPr>
          <p:cNvPr id="5" name="">
            <a:extLst xmlns:a="http://schemas.openxmlformats.org/drawingml/2006/main">
              <a:ext uri="{FF2B5EF4-FFF2-40B4-BE49-F238E27FC236}">
                <a16:creationId xmlns:a16="http://schemas.microsoft.com/office/drawing/2014/main" id="{81CFE40D-4999-43E5-ABD4-59CB2346EE69}"/>
              </a:ext>
            </a:extLst>
          </p:cNvPr>
          <p:cNvSpPr>
            <a:spLocks xmlns:a="http://schemas.openxmlformats.org/drawingml/2006/main" noGrp="1"/>
          </p:cNvSpPr>
          <p:nvPr/>
        </p:nvSpPr>
        <p:spPr>
          <a:xfrm xmlns:a="http://schemas.openxmlformats.org/drawingml/2006/main">
            <a:off x="876300" y="165735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982"/>
          </a:bodyPr>
          <a:lstStyle xmlns:a="http://schemas.openxmlformats.org/drawingml/2006/main"/>
          <a:p xmlns:a="http://schemas.openxmlformats.org/drawingml/2006/main">
            <a:pPr algn="l">
              <a:buNone/>
              <a:defRPr sz="2850" b="1">
                <a:solidFill>
                  <a:srgbClr val="187A83"/>
                </a:solidFill>
                <a:latin typeface="Arial"/>
                <a:ea typeface="Arial"/>
                <a:cs typeface="Arial"/>
              </a:defRPr>
            </a:pPr>
            <a:r>
              <a:rPr sz="2850" b="1">
                <a:solidFill>
                  <a:srgbClr val="187A83"/>
                </a:solidFill>
                <a:latin typeface="Arial"/>
                <a:ea typeface="Arial"/>
                <a:cs typeface="Arial"/>
              </a:rPr>
              <a:t>34</a:t>
            </a:r>
          </a:p>
        </p:txBody>
      </p:sp>
      <p:sp>
        <p:nvSpPr>
          <p:cNvPr id="6" name="">
            <a:extLst xmlns:a="http://schemas.openxmlformats.org/drawingml/2006/main">
              <a:ext uri="{FF2B5EF4-FFF2-40B4-BE49-F238E27FC236}">
                <a16:creationId xmlns:a16="http://schemas.microsoft.com/office/drawing/2014/main" id="{73A7E11F-3A21-42AD-B528-75616ED8959A}"/>
              </a:ext>
            </a:extLst>
          </p:cNvPr>
          <p:cNvSpPr>
            <a:spLocks xmlns:a="http://schemas.openxmlformats.org/drawingml/2006/main" noGrp="1"/>
          </p:cNvSpPr>
          <p:nvPr/>
        </p:nvSpPr>
        <p:spPr>
          <a:xfrm xmlns:a="http://schemas.openxmlformats.org/drawingml/2006/main">
            <a:off x="876300" y="2181225"/>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208"/>
          </a:bodyPr>
          <a:lstStyle xmlns:a="http://schemas.openxmlformats.org/drawingml/2006/main"/>
          <a:p xmlns:a="http://schemas.openxmlformats.org/drawingml/2006/main">
            <a:pPr algn="l">
              <a:buNone/>
              <a:defRPr sz="1200" b="1">
                <a:solidFill>
                  <a:srgbClr val="102C49"/>
                </a:solidFill>
                <a:latin typeface="Arial"/>
                <a:ea typeface="Arial"/>
                <a:cs typeface="Arial"/>
              </a:defRPr>
            </a:pPr>
            <a:r>
              <a:rPr sz="1200" b="1">
                <a:solidFill>
                  <a:srgbClr val="102C49"/>
                </a:solidFill>
                <a:latin typeface="Arial"/>
                <a:ea typeface="Arial"/>
                <a:cs typeface="Arial"/>
              </a:rPr>
              <a:t>email occurrences</a:t>
            </a:r>
          </a:p>
        </p:txBody>
      </p:sp>
      <p:sp>
        <p:nvSpPr>
          <p:cNvPr id="7" name="">
            <a:extLst xmlns:a="http://schemas.openxmlformats.org/drawingml/2006/main">
              <a:ext uri="{FF2B5EF4-FFF2-40B4-BE49-F238E27FC236}">
                <a16:creationId xmlns:a16="http://schemas.microsoft.com/office/drawing/2014/main" id="{DD318C83-C17F-4282-808C-1432CC0D95FF}"/>
              </a:ext>
            </a:extLst>
          </p:cNvPr>
          <p:cNvSpPr>
            <a:spLocks xmlns:a="http://schemas.openxmlformats.org/drawingml/2006/main" noGrp="1"/>
          </p:cNvSpPr>
          <p:nvPr/>
        </p:nvSpPr>
        <p:spPr>
          <a:xfrm xmlns:a="http://schemas.openxmlformats.org/drawingml/2006/main">
            <a:off x="876300" y="24574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p xmlns:a="http://schemas.openxmlformats.org/drawingml/2006/main">
            <a:pPr algn="l">
              <a:buNone/>
              <a:defRPr sz="975" b="0">
                <a:solidFill>
                  <a:srgbClr val="536D81"/>
                </a:solidFill>
                <a:latin typeface="Arial"/>
                <a:ea typeface="Arial"/>
                <a:cs typeface="Arial"/>
              </a:defRPr>
            </a:pPr>
            <a:r>
              <a:rPr sz="975" b="0">
                <a:solidFill>
                  <a:srgbClr val="536D81"/>
                </a:solidFill>
                <a:latin typeface="Arial"/>
                <a:ea typeface="Arial"/>
                <a:cs typeface="Arial"/>
              </a:rPr>
              <a:t>Organization PPTX</a:t>
            </a:r>
          </a:p>
        </p:txBody>
      </p:sp>
      <p:sp>
        <p:nvSpPr>
          <p:cNvPr id="8" name="">
            <a:extLst xmlns:a="http://schemas.openxmlformats.org/drawingml/2006/main">
              <a:ext uri="{FF2B5EF4-FFF2-40B4-BE49-F238E27FC236}">
                <a16:creationId xmlns:a16="http://schemas.microsoft.com/office/drawing/2014/main" id="{2340DC69-997A-4F74-8C71-D9B28E9F3F47}"/>
              </a:ext>
            </a:extLst>
          </p:cNvPr>
          <p:cNvSpPr>
            <a:spLocks xmlns:a="http://schemas.openxmlformats.org/drawingml/2006/main" noGrp="1"/>
          </p:cNvSpPr>
          <p:nvPr/>
        </p:nvSpPr>
        <p:spPr>
          <a:xfrm xmlns:a="http://schemas.openxmlformats.org/drawingml/2006/main">
            <a:off x="3390900" y="1524000"/>
            <a:ext cx="2476500" cy="1295400"/>
          </a:xfrm>
          <a:prstGeom xmlns:a="http://schemas.openxmlformats.org/drawingml/2006/main" prst="roundRect">
            <a:avLst>
              <a:gd name="adj" fmla="val 8824"/>
            </a:avLst>
          </a:prstGeom>
          <a:solidFill xmlns:a="http://schemas.openxmlformats.org/drawingml/2006/main">
            <a:srgbClr val="FFFFFF"/>
          </a:solidFill>
          <a:ln xmlns:a="http://schemas.openxmlformats.org/drawingml/2006/main" w="11430">
            <a:solidFill>
              <a:srgbClr val="D5E0E7"/>
            </a:solidFill>
            <a:prstDash val="solid"/>
          </a:ln>
        </p:spPr>
      </p:sp>
      <p:sp>
        <p:nvSpPr>
          <p:cNvPr id="9" name="">
            <a:extLst xmlns:a="http://schemas.openxmlformats.org/drawingml/2006/main">
              <a:ext uri="{FF2B5EF4-FFF2-40B4-BE49-F238E27FC236}">
                <a16:creationId xmlns:a16="http://schemas.microsoft.com/office/drawing/2014/main" id="{354ECAB2-02D1-4214-B2CF-60A902E09C73}"/>
              </a:ext>
            </a:extLst>
          </p:cNvPr>
          <p:cNvSpPr>
            <a:spLocks xmlns:a="http://schemas.openxmlformats.org/drawingml/2006/main" noGrp="1"/>
          </p:cNvSpPr>
          <p:nvPr/>
        </p:nvSpPr>
        <p:spPr>
          <a:xfrm xmlns:a="http://schemas.openxmlformats.org/drawingml/2006/main">
            <a:off x="3581400" y="165735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982"/>
          </a:bodyPr>
          <a:lstStyle xmlns:a="http://schemas.openxmlformats.org/drawingml/2006/main"/>
          <a:p xmlns:a="http://schemas.openxmlformats.org/drawingml/2006/main">
            <a:pPr algn="l">
              <a:buNone/>
              <a:defRPr sz="2850" b="1">
                <a:solidFill>
                  <a:srgbClr val="187A83"/>
                </a:solidFill>
                <a:latin typeface="Arial"/>
                <a:ea typeface="Arial"/>
                <a:cs typeface="Arial"/>
              </a:defRPr>
            </a:pPr>
            <a:r>
              <a:rPr sz="2850" b="1">
                <a:solidFill>
                  <a:srgbClr val="187A83"/>
                </a:solidFill>
                <a:latin typeface="Arial"/>
                <a:ea typeface="Arial"/>
                <a:cs typeface="Arial"/>
              </a:rPr>
              <a:t>34</a:t>
            </a:r>
          </a:p>
        </p:txBody>
      </p:sp>
      <p:sp>
        <p:nvSpPr>
          <p:cNvPr id="10" name="">
            <a:extLst xmlns:a="http://schemas.openxmlformats.org/drawingml/2006/main">
              <a:ext uri="{FF2B5EF4-FFF2-40B4-BE49-F238E27FC236}">
                <a16:creationId xmlns:a16="http://schemas.microsoft.com/office/drawing/2014/main" id="{1AAD1CD4-9D5D-4657-9CA4-0AA7EECF727C}"/>
              </a:ext>
            </a:extLst>
          </p:cNvPr>
          <p:cNvSpPr>
            <a:spLocks xmlns:a="http://schemas.openxmlformats.org/drawingml/2006/main" noGrp="1"/>
          </p:cNvSpPr>
          <p:nvPr/>
        </p:nvSpPr>
        <p:spPr>
          <a:xfrm xmlns:a="http://schemas.openxmlformats.org/drawingml/2006/main">
            <a:off x="3581400" y="2181225"/>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208"/>
          </a:bodyPr>
          <a:lstStyle xmlns:a="http://schemas.openxmlformats.org/drawingml/2006/main"/>
          <a:p xmlns:a="http://schemas.openxmlformats.org/drawingml/2006/main">
            <a:pPr algn="l">
              <a:buNone/>
              <a:defRPr sz="1200" b="1">
                <a:solidFill>
                  <a:srgbClr val="102C49"/>
                </a:solidFill>
                <a:latin typeface="Arial"/>
                <a:ea typeface="Arial"/>
                <a:cs typeface="Arial"/>
              </a:defRPr>
            </a:pPr>
            <a:r>
              <a:rPr sz="1200" b="1">
                <a:solidFill>
                  <a:srgbClr val="102C49"/>
                </a:solidFill>
                <a:latin typeface="Arial"/>
                <a:ea typeface="Arial"/>
                <a:cs typeface="Arial"/>
              </a:rPr>
              <a:t>phone occurrences</a:t>
            </a:r>
          </a:p>
        </p:txBody>
      </p:sp>
      <p:sp>
        <p:nvSpPr>
          <p:cNvPr id="11" name="">
            <a:extLst xmlns:a="http://schemas.openxmlformats.org/drawingml/2006/main">
              <a:ext uri="{FF2B5EF4-FFF2-40B4-BE49-F238E27FC236}">
                <a16:creationId xmlns:a16="http://schemas.microsoft.com/office/drawing/2014/main" id="{38596998-D7A2-4543-8877-3F5DB3779B61}"/>
              </a:ext>
            </a:extLst>
          </p:cNvPr>
          <p:cNvSpPr>
            <a:spLocks xmlns:a="http://schemas.openxmlformats.org/drawingml/2006/main" noGrp="1"/>
          </p:cNvSpPr>
          <p:nvPr/>
        </p:nvSpPr>
        <p:spPr>
          <a:xfrm xmlns:a="http://schemas.openxmlformats.org/drawingml/2006/main">
            <a:off x="3581400" y="24574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p xmlns:a="http://schemas.openxmlformats.org/drawingml/2006/main">
            <a:pPr algn="l">
              <a:buNone/>
              <a:defRPr sz="975" b="0">
                <a:solidFill>
                  <a:srgbClr val="536D81"/>
                </a:solidFill>
                <a:latin typeface="Arial"/>
                <a:ea typeface="Arial"/>
                <a:cs typeface="Arial"/>
              </a:defRPr>
            </a:pPr>
            <a:r>
              <a:rPr sz="975" b="0">
                <a:solidFill>
                  <a:srgbClr val="536D81"/>
                </a:solidFill>
                <a:latin typeface="Arial"/>
                <a:ea typeface="Arial"/>
                <a:cs typeface="Arial"/>
              </a:rPr>
              <a:t>Organization PPTX</a:t>
            </a:r>
          </a:p>
        </p:txBody>
      </p:sp>
      <p:sp>
        <p:nvSpPr>
          <p:cNvPr id="12" name="">
            <a:extLst xmlns:a="http://schemas.openxmlformats.org/drawingml/2006/main">
              <a:ext uri="{FF2B5EF4-FFF2-40B4-BE49-F238E27FC236}">
                <a16:creationId xmlns:a16="http://schemas.microsoft.com/office/drawing/2014/main" id="{FF40293B-4378-4FF4-8DBC-6CFB7DC12B27}"/>
              </a:ext>
            </a:extLst>
          </p:cNvPr>
          <p:cNvSpPr>
            <a:spLocks xmlns:a="http://schemas.openxmlformats.org/drawingml/2006/main" noGrp="1"/>
          </p:cNvSpPr>
          <p:nvPr/>
        </p:nvSpPr>
        <p:spPr>
          <a:xfrm xmlns:a="http://schemas.openxmlformats.org/drawingml/2006/main">
            <a:off x="6096000" y="1524000"/>
            <a:ext cx="2476500" cy="1295400"/>
          </a:xfrm>
          <a:prstGeom xmlns:a="http://schemas.openxmlformats.org/drawingml/2006/main" prst="roundRect">
            <a:avLst>
              <a:gd name="adj" fmla="val 8824"/>
            </a:avLst>
          </a:prstGeom>
          <a:solidFill xmlns:a="http://schemas.openxmlformats.org/drawingml/2006/main">
            <a:srgbClr val="FFFFFF"/>
          </a:solidFill>
          <a:ln xmlns:a="http://schemas.openxmlformats.org/drawingml/2006/main" w="11430">
            <a:solidFill>
              <a:srgbClr val="D5E0E7"/>
            </a:solidFill>
            <a:prstDash val="solid"/>
          </a:ln>
        </p:spPr>
      </p:sp>
      <p:sp>
        <p:nvSpPr>
          <p:cNvPr id="13" name="">
            <a:extLst xmlns:a="http://schemas.openxmlformats.org/drawingml/2006/main">
              <a:ext uri="{FF2B5EF4-FFF2-40B4-BE49-F238E27FC236}">
                <a16:creationId xmlns:a16="http://schemas.microsoft.com/office/drawing/2014/main" id="{6DAC94E2-4E1E-48BA-B33C-BF39F5CD4A1C}"/>
              </a:ext>
            </a:extLst>
          </p:cNvPr>
          <p:cNvSpPr>
            <a:spLocks xmlns:a="http://schemas.openxmlformats.org/drawingml/2006/main" noGrp="1"/>
          </p:cNvSpPr>
          <p:nvPr/>
        </p:nvSpPr>
        <p:spPr>
          <a:xfrm xmlns:a="http://schemas.openxmlformats.org/drawingml/2006/main">
            <a:off x="6286500" y="165735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982"/>
          </a:bodyPr>
          <a:lstStyle xmlns:a="http://schemas.openxmlformats.org/drawingml/2006/main"/>
          <a:p xmlns:a="http://schemas.openxmlformats.org/drawingml/2006/main">
            <a:pPr algn="l">
              <a:buNone/>
              <a:defRPr sz="2850" b="1">
                <a:solidFill>
                  <a:srgbClr val="187A83"/>
                </a:solidFill>
                <a:latin typeface="Arial"/>
                <a:ea typeface="Arial"/>
                <a:cs typeface="Arial"/>
              </a:defRPr>
            </a:pPr>
            <a:r>
              <a:rPr sz="2850" b="1">
                <a:solidFill>
                  <a:srgbClr val="187A83"/>
                </a:solidFill>
                <a:latin typeface="Arial"/>
                <a:ea typeface="Arial"/>
                <a:cs typeface="Arial"/>
              </a:rPr>
              <a:t>16</a:t>
            </a:r>
          </a:p>
        </p:txBody>
      </p:sp>
      <p:sp>
        <p:nvSpPr>
          <p:cNvPr id="14" name="">
            <a:extLst xmlns:a="http://schemas.openxmlformats.org/drawingml/2006/main">
              <a:ext uri="{FF2B5EF4-FFF2-40B4-BE49-F238E27FC236}">
                <a16:creationId xmlns:a16="http://schemas.microsoft.com/office/drawing/2014/main" id="{ACA90494-23CA-4715-9FF7-18F68340839B}"/>
              </a:ext>
            </a:extLst>
          </p:cNvPr>
          <p:cNvSpPr>
            <a:spLocks xmlns:a="http://schemas.openxmlformats.org/drawingml/2006/main" noGrp="1"/>
          </p:cNvSpPr>
          <p:nvPr/>
        </p:nvSpPr>
        <p:spPr>
          <a:xfrm xmlns:a="http://schemas.openxmlformats.org/drawingml/2006/main">
            <a:off x="6286500" y="2181225"/>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208"/>
          </a:bodyPr>
          <a:lstStyle xmlns:a="http://schemas.openxmlformats.org/drawingml/2006/main"/>
          <a:p xmlns:a="http://schemas.openxmlformats.org/drawingml/2006/main">
            <a:pPr algn="l">
              <a:buNone/>
              <a:defRPr sz="1200" b="1">
                <a:solidFill>
                  <a:srgbClr val="102C49"/>
                </a:solidFill>
                <a:latin typeface="Arial"/>
                <a:ea typeface="Arial"/>
                <a:cs typeface="Arial"/>
              </a:defRPr>
            </a:pPr>
            <a:r>
              <a:rPr sz="1200" b="1">
                <a:solidFill>
                  <a:srgbClr val="102C49"/>
                </a:solidFill>
                <a:latin typeface="Arial"/>
                <a:ea typeface="Arial"/>
                <a:cs typeface="Arial"/>
              </a:rPr>
              <a:t>distinct role-holder names</a:t>
            </a:r>
          </a:p>
        </p:txBody>
      </p:sp>
      <p:sp>
        <p:nvSpPr>
          <p:cNvPr id="15" name="">
            <a:extLst xmlns:a="http://schemas.openxmlformats.org/drawingml/2006/main">
              <a:ext uri="{FF2B5EF4-FFF2-40B4-BE49-F238E27FC236}">
                <a16:creationId xmlns:a16="http://schemas.microsoft.com/office/drawing/2014/main" id="{D98E0088-A6F5-4DC8-AF58-499FCC4795ED}"/>
              </a:ext>
            </a:extLst>
          </p:cNvPr>
          <p:cNvSpPr>
            <a:spLocks xmlns:a="http://schemas.openxmlformats.org/drawingml/2006/main" noGrp="1"/>
          </p:cNvSpPr>
          <p:nvPr/>
        </p:nvSpPr>
        <p:spPr>
          <a:xfrm xmlns:a="http://schemas.openxmlformats.org/drawingml/2006/main">
            <a:off x="6286500" y="24574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p xmlns:a="http://schemas.openxmlformats.org/drawingml/2006/main">
            <a:pPr algn="l">
              <a:buNone/>
              <a:defRPr sz="975" b="0">
                <a:solidFill>
                  <a:srgbClr val="536D81"/>
                </a:solidFill>
                <a:latin typeface="Arial"/>
                <a:ea typeface="Arial"/>
                <a:cs typeface="Arial"/>
              </a:defRPr>
            </a:pPr>
            <a:r>
              <a:rPr sz="975" b="0">
                <a:solidFill>
                  <a:srgbClr val="536D81"/>
                </a:solidFill>
                <a:latin typeface="Arial"/>
                <a:ea typeface="Arial"/>
                <a:cs typeface="Arial"/>
              </a:rPr>
              <a:t>Organization PPTX</a:t>
            </a:r>
          </a:p>
        </p:txBody>
      </p:sp>
      <p:sp>
        <p:nvSpPr>
          <p:cNvPr id="16" name="">
            <a:extLst xmlns:a="http://schemas.openxmlformats.org/drawingml/2006/main">
              <a:ext uri="{FF2B5EF4-FFF2-40B4-BE49-F238E27FC236}">
                <a16:creationId xmlns:a16="http://schemas.microsoft.com/office/drawing/2014/main" id="{C0C71E51-7B77-4DFE-9FC3-EAFB757B7514}"/>
              </a:ext>
            </a:extLst>
          </p:cNvPr>
          <p:cNvSpPr>
            <a:spLocks xmlns:a="http://schemas.openxmlformats.org/drawingml/2006/main" noGrp="1"/>
          </p:cNvSpPr>
          <p:nvPr/>
        </p:nvSpPr>
        <p:spPr>
          <a:xfrm xmlns:a="http://schemas.openxmlformats.org/drawingml/2006/main">
            <a:off x="8801100" y="1524000"/>
            <a:ext cx="2476500" cy="1295400"/>
          </a:xfrm>
          <a:prstGeom xmlns:a="http://schemas.openxmlformats.org/drawingml/2006/main" prst="roundRect">
            <a:avLst>
              <a:gd name="adj" fmla="val 8824"/>
            </a:avLst>
          </a:prstGeom>
          <a:solidFill xmlns:a="http://schemas.openxmlformats.org/drawingml/2006/main">
            <a:srgbClr val="FFFFFF"/>
          </a:solidFill>
          <a:ln xmlns:a="http://schemas.openxmlformats.org/drawingml/2006/main" w="11430">
            <a:solidFill>
              <a:srgbClr val="D5E0E7"/>
            </a:solidFill>
            <a:prstDash val="solid"/>
          </a:ln>
        </p:spPr>
      </p:sp>
      <p:sp>
        <p:nvSpPr>
          <p:cNvPr id="17" name="">
            <a:extLst xmlns:a="http://schemas.openxmlformats.org/drawingml/2006/main">
              <a:ext uri="{FF2B5EF4-FFF2-40B4-BE49-F238E27FC236}">
                <a16:creationId xmlns:a16="http://schemas.microsoft.com/office/drawing/2014/main" id="{9D29B48D-B8D8-4A3F-8B98-CD045EFD7FD9}"/>
              </a:ext>
            </a:extLst>
          </p:cNvPr>
          <p:cNvSpPr>
            <a:spLocks xmlns:a="http://schemas.openxmlformats.org/drawingml/2006/main" noGrp="1"/>
          </p:cNvSpPr>
          <p:nvPr/>
        </p:nvSpPr>
        <p:spPr>
          <a:xfrm xmlns:a="http://schemas.openxmlformats.org/drawingml/2006/main">
            <a:off x="8991600" y="165735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982"/>
          </a:bodyPr>
          <a:lstStyle xmlns:a="http://schemas.openxmlformats.org/drawingml/2006/main"/>
          <a:p xmlns:a="http://schemas.openxmlformats.org/drawingml/2006/main">
            <a:pPr algn="l">
              <a:buNone/>
              <a:defRPr sz="2850" b="1">
                <a:solidFill>
                  <a:srgbClr val="D6AA4B"/>
                </a:solidFill>
                <a:latin typeface="Arial"/>
                <a:ea typeface="Arial"/>
                <a:cs typeface="Arial"/>
              </a:defRPr>
            </a:pPr>
            <a:r>
              <a:rPr sz="2850" b="1">
                <a:solidFill>
                  <a:srgbClr val="D6AA4B"/>
                </a:solidFill>
                <a:latin typeface="Arial"/>
                <a:ea typeface="Arial"/>
                <a:cs typeface="Arial"/>
              </a:rPr>
              <a:t>35</a:t>
            </a:r>
          </a:p>
        </p:txBody>
      </p:sp>
      <p:sp>
        <p:nvSpPr>
          <p:cNvPr id="18" name="">
            <a:extLst xmlns:a="http://schemas.openxmlformats.org/drawingml/2006/main">
              <a:ext uri="{FF2B5EF4-FFF2-40B4-BE49-F238E27FC236}">
                <a16:creationId xmlns:a16="http://schemas.microsoft.com/office/drawing/2014/main" id="{1F623E82-8B0E-4953-8C9A-4668A2B2D475}"/>
              </a:ext>
            </a:extLst>
          </p:cNvPr>
          <p:cNvSpPr>
            <a:spLocks xmlns:a="http://schemas.openxmlformats.org/drawingml/2006/main" noGrp="1"/>
          </p:cNvSpPr>
          <p:nvPr/>
        </p:nvSpPr>
        <p:spPr>
          <a:xfrm xmlns:a="http://schemas.openxmlformats.org/drawingml/2006/main">
            <a:off x="8991600" y="2181225"/>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208"/>
          </a:bodyPr>
          <a:lstStyle xmlns:a="http://schemas.openxmlformats.org/drawingml/2006/main"/>
          <a:p xmlns:a="http://schemas.openxmlformats.org/drawingml/2006/main">
            <a:pPr algn="l">
              <a:buNone/>
              <a:defRPr sz="1200" b="1">
                <a:solidFill>
                  <a:srgbClr val="102C49"/>
                </a:solidFill>
                <a:latin typeface="Arial"/>
                <a:ea typeface="Arial"/>
                <a:cs typeface="Arial"/>
              </a:defRPr>
            </a:pPr>
            <a:r>
              <a:rPr sz="1200" b="1">
                <a:solidFill>
                  <a:srgbClr val="102C49"/>
                </a:solidFill>
                <a:latin typeface="Arial"/>
                <a:ea typeface="Arial"/>
                <a:cs typeface="Arial"/>
              </a:rPr>
              <a:t>scanned pages</a:t>
            </a:r>
          </a:p>
        </p:txBody>
      </p:sp>
      <p:sp>
        <p:nvSpPr>
          <p:cNvPr id="19" name="">
            <a:extLst xmlns:a="http://schemas.openxmlformats.org/drawingml/2006/main">
              <a:ext uri="{FF2B5EF4-FFF2-40B4-BE49-F238E27FC236}">
                <a16:creationId xmlns:a16="http://schemas.microsoft.com/office/drawing/2014/main" id="{04DC38C3-6E69-4A56-82EF-04CA051F688A}"/>
              </a:ext>
            </a:extLst>
          </p:cNvPr>
          <p:cNvSpPr>
            <a:spLocks xmlns:a="http://schemas.openxmlformats.org/drawingml/2006/main" noGrp="1"/>
          </p:cNvSpPr>
          <p:nvPr/>
        </p:nvSpPr>
        <p:spPr>
          <a:xfrm xmlns:a="http://schemas.openxmlformats.org/drawingml/2006/main">
            <a:off x="8991600" y="24574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p xmlns:a="http://schemas.openxmlformats.org/drawingml/2006/main">
            <a:pPr algn="l">
              <a:buNone/>
              <a:defRPr sz="975" b="0">
                <a:solidFill>
                  <a:srgbClr val="536D81"/>
                </a:solidFill>
                <a:latin typeface="Arial"/>
                <a:ea typeface="Arial"/>
                <a:cs typeface="Arial"/>
              </a:defRPr>
            </a:pPr>
            <a:r>
              <a:rPr sz="975" b="0">
                <a:solidFill>
                  <a:srgbClr val="536D81"/>
                </a:solidFill>
                <a:latin typeface="Arial"/>
                <a:ea typeface="Arial"/>
                <a:cs typeface="Arial"/>
              </a:rPr>
              <a:t>Risk policy PDF</a:t>
            </a:r>
          </a:p>
        </p:txBody>
      </p:sp>
      <p:sp>
        <p:nvSpPr>
          <p:cNvPr id="20" name="">
            <a:extLst xmlns:a="http://schemas.openxmlformats.org/drawingml/2006/main">
              <a:ext uri="{FF2B5EF4-FFF2-40B4-BE49-F238E27FC236}">
                <a16:creationId xmlns:a16="http://schemas.microsoft.com/office/drawing/2014/main" id="{39A0F0EF-F3F0-4598-8531-6F14620867A4}"/>
              </a:ext>
            </a:extLst>
          </p:cNvPr>
          <p:cNvSpPr>
            <a:spLocks xmlns:a="http://schemas.openxmlformats.org/drawingml/2006/main" noGrp="1"/>
          </p:cNvSpPr>
          <p:nvPr/>
        </p:nvSpPr>
        <p:spPr>
          <a:xfrm xmlns:a="http://schemas.openxmlformats.org/drawingml/2006/main">
            <a:off x="685800" y="3181350"/>
            <a:ext cx="5105400" cy="2000250"/>
          </a:xfrm>
          <a:prstGeom xmlns:a="http://schemas.openxmlformats.org/drawingml/2006/main" prst="roundRect">
            <a:avLst>
              <a:gd name="adj" fmla="val 5714"/>
            </a:avLst>
          </a:prstGeom>
          <a:solidFill xmlns:a="http://schemas.openxmlformats.org/drawingml/2006/main">
            <a:srgbClr val="E8F0F5"/>
          </a:solidFill>
          <a:ln xmlns:a="http://schemas.openxmlformats.org/drawingml/2006/main" w="11430">
            <a:solidFill>
              <a:srgbClr val="E8F0F5"/>
            </a:solidFill>
            <a:prstDash val="solid"/>
          </a:ln>
        </p:spPr>
      </p:sp>
      <p:sp>
        <p:nvSpPr>
          <p:cNvPr id="21" name="">
            <a:extLst xmlns:a="http://schemas.openxmlformats.org/drawingml/2006/main">
              <a:ext uri="{FF2B5EF4-FFF2-40B4-BE49-F238E27FC236}">
                <a16:creationId xmlns:a16="http://schemas.microsoft.com/office/drawing/2014/main" id="{FB7F1D12-30A5-46EC-979B-A689A0396205}"/>
              </a:ext>
            </a:extLst>
          </p:cNvPr>
          <p:cNvSpPr>
            <a:spLocks xmlns:a="http://schemas.openxmlformats.org/drawingml/2006/main" noGrp="1"/>
          </p:cNvSpPr>
          <p:nvPr/>
        </p:nvSpPr>
        <p:spPr>
          <a:xfrm xmlns:a="http://schemas.openxmlformats.org/drawingml/2006/main">
            <a:off x="914400" y="3362325"/>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p xmlns:a="http://schemas.openxmlformats.org/drawingml/2006/main">
            <a:pPr algn="l">
              <a:buNone/>
              <a:defRPr sz="1500" b="1">
                <a:solidFill>
                  <a:srgbClr val="102C49"/>
                </a:solidFill>
                <a:latin typeface="Arial"/>
                <a:ea typeface="Arial"/>
                <a:cs typeface="Arial"/>
              </a:defRPr>
            </a:pPr>
            <a:r>
              <a:rPr sz="1500" b="1">
                <a:solidFill>
                  <a:srgbClr val="102C49"/>
                </a:solidFill>
                <a:latin typeface="Arial"/>
                <a:ea typeface="Arial"/>
                <a:cs typeface="Arial"/>
              </a:rPr>
              <a:t>PPTX and DOCX</a:t>
            </a:r>
          </a:p>
        </p:txBody>
      </p:sp>
      <p:sp>
        <p:nvSpPr>
          <p:cNvPr id="22" name="">
            <a:extLst xmlns:a="http://schemas.openxmlformats.org/drawingml/2006/main">
              <a:ext uri="{FF2B5EF4-FFF2-40B4-BE49-F238E27FC236}">
                <a16:creationId xmlns:a16="http://schemas.microsoft.com/office/drawing/2014/main" id="{BD830A68-8401-42E2-A583-41A3225335AB}"/>
              </a:ext>
            </a:extLst>
          </p:cNvPr>
          <p:cNvSpPr>
            <a:spLocks xmlns:a="http://schemas.openxmlformats.org/drawingml/2006/main" noGrp="1"/>
          </p:cNvSpPr>
          <p:nvPr/>
        </p:nvSpPr>
        <p:spPr>
          <a:xfrm xmlns:a="http://schemas.openxmlformats.org/drawingml/2006/main">
            <a:off x="914400" y="3762375"/>
            <a:ext cx="4572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725"/>
          </a:bodyPr>
          <a:lstStyle xmlns:a="http://schemas.openxmlformats.org/drawingml/2006/main"/>
          <a:p xmlns:a="http://schemas.openxmlformats.org/drawingml/2006/main">
            <a:pPr algn="l">
              <a:buNone/>
              <a:defRPr sz="1350" b="0">
                <a:solidFill>
                  <a:srgbClr val="17334B"/>
                </a:solidFill>
                <a:latin typeface="Arial"/>
                <a:ea typeface="Arial"/>
                <a:cs typeface="Arial"/>
              </a:defRPr>
            </a:pPr>
            <a:r>
              <a:rPr sz="1350" b="0">
                <a:solidFill>
                  <a:srgbClr val="17334B"/>
                </a:solidFill>
                <a:latin typeface="Arial"/>
                <a:ea typeface="Arial"/>
                <a:cs typeface="Arial"/>
              </a:rPr>
              <a:t>PPTX: email and phone values recur across directory slides.</a:t>
            </a:r>
          </a:p>
          <a:p xmlns:a="http://schemas.openxmlformats.org/drawingml/2006/main">
            <a:r>
              <a:t/>
            </a:r>
          </a:p>
          <a:p xmlns:a="http://schemas.openxmlformats.org/drawingml/2006/main">
            <a:pPr algn="l">
              <a:buNone/>
              <a:defRPr sz="1350" b="0">
                <a:solidFill>
                  <a:srgbClr val="17334B"/>
                </a:solidFill>
                <a:latin typeface="Arial"/>
                <a:ea typeface="Arial"/>
                <a:cs typeface="Arial"/>
              </a:defRPr>
            </a:pPr>
            <a:r>
              <a:rPr sz="1350" b="0">
                <a:solidFill>
                  <a:srgbClr val="17334B"/>
                </a:solidFill>
                <a:latin typeface="Arial"/>
                <a:ea typeface="Arial"/>
                <a:cs typeface="Arial"/>
              </a:rPr>
              <a:t>DOCX: four names appear in document-control/footer metadata; 402 paragraphs and 221 table rows preserve workflow context.</a:t>
            </a:r>
          </a:p>
        </p:txBody>
      </p:sp>
      <p:sp>
        <p:nvSpPr>
          <p:cNvPr id="23" name="">
            <a:extLst xmlns:a="http://schemas.openxmlformats.org/drawingml/2006/main">
              <a:ext uri="{FF2B5EF4-FFF2-40B4-BE49-F238E27FC236}">
                <a16:creationId xmlns:a16="http://schemas.microsoft.com/office/drawing/2014/main" id="{DCB2F87C-DF5D-47BF-80C7-457CE9F9BB6F}"/>
              </a:ext>
            </a:extLst>
          </p:cNvPr>
          <p:cNvSpPr>
            <a:spLocks xmlns:a="http://schemas.openxmlformats.org/drawingml/2006/main" noGrp="1"/>
          </p:cNvSpPr>
          <p:nvPr/>
        </p:nvSpPr>
        <p:spPr>
          <a:xfrm xmlns:a="http://schemas.openxmlformats.org/drawingml/2006/main">
            <a:off x="6191250" y="3181350"/>
            <a:ext cx="5314950" cy="2000250"/>
          </a:xfrm>
          <a:prstGeom xmlns:a="http://schemas.openxmlformats.org/drawingml/2006/main" prst="roundRect">
            <a:avLst>
              <a:gd name="adj" fmla="val 5714"/>
            </a:avLst>
          </a:prstGeom>
          <a:solidFill xmlns:a="http://schemas.openxmlformats.org/drawingml/2006/main">
            <a:srgbClr val="F9F1DF"/>
          </a:solidFill>
          <a:ln xmlns:a="http://schemas.openxmlformats.org/drawingml/2006/main" w="11430">
            <a:solidFill>
              <a:srgbClr val="F9F1DF"/>
            </a:solidFill>
            <a:prstDash val="solid"/>
          </a:ln>
        </p:spPr>
      </p:sp>
      <p:sp>
        <p:nvSpPr>
          <p:cNvPr id="24" name="">
            <a:extLst xmlns:a="http://schemas.openxmlformats.org/drawingml/2006/main">
              <a:ext uri="{FF2B5EF4-FFF2-40B4-BE49-F238E27FC236}">
                <a16:creationId xmlns:a16="http://schemas.microsoft.com/office/drawing/2014/main" id="{290176E1-8732-43EA-ACC0-8674808E4569}"/>
              </a:ext>
            </a:extLst>
          </p:cNvPr>
          <p:cNvSpPr>
            <a:spLocks xmlns:a="http://schemas.openxmlformats.org/drawingml/2006/main" noGrp="1"/>
          </p:cNvSpPr>
          <p:nvPr/>
        </p:nvSpPr>
        <p:spPr>
          <a:xfrm xmlns:a="http://schemas.openxmlformats.org/drawingml/2006/main">
            <a:off x="6419850" y="3362325"/>
            <a:ext cx="466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p xmlns:a="http://schemas.openxmlformats.org/drawingml/2006/main">
            <a:pPr algn="l">
              <a:buNone/>
              <a:defRPr sz="1500" b="1">
                <a:solidFill>
                  <a:srgbClr val="102C49"/>
                </a:solidFill>
                <a:latin typeface="Arial"/>
                <a:ea typeface="Arial"/>
                <a:cs typeface="Arial"/>
              </a:defRPr>
            </a:pPr>
            <a:r>
              <a:rPr sz="1500" b="1">
                <a:solidFill>
                  <a:srgbClr val="102C49"/>
                </a:solidFill>
                <a:latin typeface="Arial"/>
                <a:ea typeface="Arial"/>
                <a:cs typeface="Arial"/>
              </a:rPr>
              <a:t>Scanned PDF</a:t>
            </a:r>
          </a:p>
        </p:txBody>
      </p:sp>
      <p:sp>
        <p:nvSpPr>
          <p:cNvPr id="25" name="">
            <a:extLst xmlns:a="http://schemas.openxmlformats.org/drawingml/2006/main">
              <a:ext uri="{FF2B5EF4-FFF2-40B4-BE49-F238E27FC236}">
                <a16:creationId xmlns:a16="http://schemas.microsoft.com/office/drawing/2014/main" id="{B63662C2-6CE1-4177-BD8F-0800D5B03FD9}"/>
              </a:ext>
            </a:extLst>
          </p:cNvPr>
          <p:cNvSpPr>
            <a:spLocks xmlns:a="http://schemas.openxmlformats.org/drawingml/2006/main" noGrp="1"/>
          </p:cNvSpPr>
          <p:nvPr/>
        </p:nvSpPr>
        <p:spPr>
          <a:xfrm xmlns:a="http://schemas.openxmlformats.org/drawingml/2006/main">
            <a:off x="6419850" y="3762375"/>
            <a:ext cx="4762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a:solidFill>
                  <a:srgbClr val="17334B"/>
                </a:solidFill>
                <a:latin typeface="Arial"/>
                <a:ea typeface="Arial"/>
                <a:cs typeface="Arial"/>
              </a:defRPr>
            </a:pPr>
            <a:r>
              <a:rPr sz="1350" b="0">
                <a:solidFill>
                  <a:srgbClr val="17334B"/>
                </a:solidFill>
                <a:latin typeface="Arial"/>
                <a:ea typeface="Arial"/>
                <a:cs typeface="Arial"/>
              </a:rPr>
              <a:t>The rendered cover visibly contains names, employee IDs, email addresses, phone numbers and a postal address. Text extraction returned no usable layer, so full-document counts remain unknown pending OCR.</a:t>
            </a:r>
          </a:p>
        </p:txBody>
      </p:sp>
      <p:sp>
        <p:nvSpPr>
          <p:cNvPr id="26" name="">
            <a:extLst xmlns:a="http://schemas.openxmlformats.org/drawingml/2006/main">
              <a:ext uri="{FF2B5EF4-FFF2-40B4-BE49-F238E27FC236}">
                <a16:creationId xmlns:a16="http://schemas.microsoft.com/office/drawing/2014/main" id="{5A389A8F-0A20-403B-BB9F-7294085FE683}"/>
              </a:ext>
            </a:extLst>
          </p:cNvPr>
          <p:cNvSpPr>
            <a:spLocks xmlns:a="http://schemas.openxmlformats.org/drawingml/2006/main" noGrp="1"/>
          </p:cNvSpPr>
          <p:nvPr/>
        </p:nvSpPr>
        <p:spPr>
          <a:xfrm xmlns:a="http://schemas.openxmlformats.org/drawingml/2006/main">
            <a:off x="685800" y="56388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75" b="0">
                <a:solidFill>
                  <a:srgbClr val="536D81"/>
                </a:solidFill>
                <a:latin typeface="Arial"/>
                <a:ea typeface="Arial"/>
                <a:cs typeface="Arial"/>
              </a:defRPr>
            </a:pPr>
            <a:r>
              <a:rPr sz="1275" b="0">
                <a:solidFill>
                  <a:srgbClr val="536D81"/>
                </a:solidFill>
                <a:latin typeface="Arial"/>
                <a:ea typeface="Arial"/>
                <a:cs typeface="Arial"/>
              </a:rPr>
              <a:t>Counts are observed pattern occurrences, not a recall score. The supplied materials label the sample identities as synthetic.</a:t>
            </a:r>
          </a:p>
        </p:txBody>
      </p:sp>
      <p:sp>
        <p:nvSpPr>
          <p:cNvPr id="27" name="">
            <a:extLst xmlns:a="http://schemas.openxmlformats.org/drawingml/2006/main">
              <a:ext uri="{FF2B5EF4-FFF2-40B4-BE49-F238E27FC236}">
                <a16:creationId xmlns:a16="http://schemas.microsoft.com/office/drawing/2014/main" id="{39496515-DB46-4812-AA35-0A86A757AFF9}"/>
              </a:ext>
            </a:extLst>
          </p:cNvPr>
          <p:cNvSpPr>
            <a:spLocks xmlns:a="http://schemas.openxmlformats.org/drawingml/2006/main" noGrp="1"/>
          </p:cNvSpPr>
          <p:nvPr/>
        </p:nvSpPr>
        <p:spPr>
          <a:xfrm xmlns:a="http://schemas.openxmlformats.org/drawingml/2006/main">
            <a:off x="685800" y="655320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48485"/>
          </a:bodyPr>
          <a:lstStyle xmlns:a="http://schemas.openxmlformats.org/drawingml/2006/main"/>
          <a:p xmlns:a="http://schemas.openxmlformats.org/drawingml/2006/main">
            <a:pPr algn="l">
              <a:buNone/>
              <a:defRPr sz="825" b="0">
                <a:solidFill>
                  <a:srgbClr val="536D81"/>
                </a:solidFill>
                <a:latin typeface="Arial"/>
                <a:ea typeface="Arial"/>
                <a:cs typeface="Arial"/>
              </a:defRPr>
            </a:pPr>
            <a:r>
              <a:rPr sz="825" b="0">
                <a:solidFill>
                  <a:srgbClr val="536D81"/>
                </a:solidFill>
                <a:latin typeface="Arial"/>
                <a:ea typeface="Arial"/>
                <a:cs typeface="Arial"/>
              </a:rPr>
              <a:t>OPTIV  ·  VIT 2026  |  CASE STUDY 2  |  09</a:t>
            </a:r>
          </a:p>
        </p:txBody>
      </p:sp>
    </p:spTree>
    <p:extLst>
      <p:ext uri="{BB962C8B-B14F-4D97-AF65-F5344CB8AC3E}">
        <p14:creationId xmlns:p14="http://schemas.microsoft.com/office/powerpoint/2010/main" val="1789586604"/>
      </p:ext>
    </p:extLst>
  </p:cSld>
</p:sld>
</file>

<file path=ppt/slides/slide10.xml><?xml version="1.0" encoding="utf-8"?>
<p:sld xmlns:p="http://schemas.openxmlformats.org/presentationml/2006/main">
  <p:cSld>
    <p:bg>
      <p:bgPr>
        <a:solidFill xmlns:a="http://schemas.openxmlformats.org/drawingml/2006/main">
          <a:srgbClr val="F3F6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38C52EC-BEFE-481D-9B5F-6DEF7B6C5BEA}"/>
              </a:ext>
            </a:extLst>
          </p:cNvPr>
          <p:cNvSpPr>
            <a:spLocks xmlns:a="http://schemas.openxmlformats.org/drawingml/2006/main" noGrp="1"/>
          </p:cNvSpPr>
          <p:nvPr/>
        </p:nvSpPr>
        <p:spPr>
          <a:xfrm xmlns:a="http://schemas.openxmlformats.org/drawingml/2006/main">
            <a:off x="685800" y="20955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762"/>
          </a:bodyPr>
          <a:lstStyle xmlns:a="http://schemas.openxmlformats.org/drawingml/2006/main"/>
          <a:p xmlns:a="http://schemas.openxmlformats.org/drawingml/2006/main">
            <a:pPr algn="l">
              <a:buNone/>
              <a:defRPr sz="1050" b="1">
                <a:solidFill>
                  <a:srgbClr val="187A83"/>
                </a:solidFill>
                <a:latin typeface="Arial"/>
                <a:ea typeface="Arial"/>
                <a:cs typeface="Arial"/>
              </a:defRPr>
            </a:pPr>
            <a:r>
              <a:rPr sz="1050" b="1">
                <a:solidFill>
                  <a:srgbClr val="187A83"/>
                </a:solidFill>
                <a:latin typeface="Arial"/>
                <a:ea typeface="Arial"/>
                <a:cs typeface="Arial"/>
              </a:rPr>
              <a:t>CASE STUDY 2  /  CADENCE</a:t>
            </a:r>
          </a:p>
        </p:txBody>
      </p:sp>
      <p:sp>
        <p:nvSpPr>
          <p:cNvPr id="2" name="">
            <a:extLst xmlns:a="http://schemas.openxmlformats.org/drawingml/2006/main">
              <a:ext uri="{FF2B5EF4-FFF2-40B4-BE49-F238E27FC236}">
                <a16:creationId xmlns:a16="http://schemas.microsoft.com/office/drawing/2014/main" id="{7A3FB10B-BDF7-4D51-863B-A73C93EBDCEC}"/>
              </a:ext>
            </a:extLst>
          </p:cNvPr>
          <p:cNvSpPr>
            <a:spLocks xmlns:a="http://schemas.openxmlformats.org/drawingml/2006/main" noGrp="1"/>
          </p:cNvSpPr>
          <p:nvPr/>
        </p:nvSpPr>
        <p:spPr>
          <a:xfrm xmlns:a="http://schemas.openxmlformats.org/drawingml/2006/main">
            <a:off x="685800" y="4953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850" b="1">
                <a:solidFill>
                  <a:srgbClr val="102C49"/>
                </a:solidFill>
                <a:latin typeface="Arial"/>
                <a:ea typeface="Arial"/>
                <a:cs typeface="Arial"/>
              </a:defRPr>
            </a:pPr>
            <a:r>
              <a:rPr sz="2850" b="1">
                <a:solidFill>
                  <a:srgbClr val="102C49"/>
                </a:solidFill>
                <a:latin typeface="Arial"/>
                <a:ea typeface="Arial"/>
                <a:cs typeface="Arial"/>
              </a:rPr>
              <a:t>Redaction example | preserve context, remove the value</a:t>
            </a:r>
          </a:p>
        </p:txBody>
      </p:sp>
      <p:sp>
        <p:nvSpPr>
          <p:cNvPr id="3" name="">
            <a:extLst xmlns:a="http://schemas.openxmlformats.org/drawingml/2006/main">
              <a:ext uri="{FF2B5EF4-FFF2-40B4-BE49-F238E27FC236}">
                <a16:creationId xmlns:a16="http://schemas.microsoft.com/office/drawing/2014/main" id="{5593C641-D121-4F48-AA55-F5BF3088727F}"/>
              </a:ext>
            </a:extLst>
          </p:cNvPr>
          <p:cNvSpPr>
            <a:spLocks xmlns:a="http://schemas.openxmlformats.org/drawingml/2006/main" noGrp="1"/>
          </p:cNvSpPr>
          <p:nvPr/>
        </p:nvSpPr>
        <p:spPr>
          <a:xfrm xmlns:a="http://schemas.openxmlformats.org/drawingml/2006/main">
            <a:off x="685800" y="1162050"/>
            <a:ext cx="10820400" cy="0"/>
          </a:xfrm>
          <a:prstGeom xmlns:a="http://schemas.openxmlformats.org/drawingml/2006/main" prst="line">
            <a:avLst/>
          </a:prstGeom>
          <a:noFill xmlns:a="http://schemas.openxmlformats.org/drawingml/2006/main"/>
          <a:ln xmlns:a="http://schemas.openxmlformats.org/drawingml/2006/main" w="11430">
            <a:solidFill>
              <a:srgbClr val="D5E0E7"/>
            </a:solidFill>
            <a:prstDash val="solid"/>
          </a:ln>
        </p:spPr>
      </p:sp>
      <p:sp>
        <p:nvSpPr>
          <p:cNvPr id="4" name="">
            <a:extLst xmlns:a="http://schemas.openxmlformats.org/drawingml/2006/main">
              <a:ext uri="{FF2B5EF4-FFF2-40B4-BE49-F238E27FC236}">
                <a16:creationId xmlns:a16="http://schemas.microsoft.com/office/drawing/2014/main" id="{95F6AB22-1339-4476-924B-92D8B8F4B9C5}"/>
              </a:ext>
            </a:extLst>
          </p:cNvPr>
          <p:cNvSpPr>
            <a:spLocks xmlns:a="http://schemas.openxmlformats.org/drawingml/2006/main" noGrp="1"/>
          </p:cNvSpPr>
          <p:nvPr/>
        </p:nvSpPr>
        <p:spPr>
          <a:xfrm xmlns:a="http://schemas.openxmlformats.org/drawingml/2006/main">
            <a:off x="685800" y="1619250"/>
            <a:ext cx="4905375" cy="3295650"/>
          </a:xfrm>
          <a:prstGeom xmlns:a="http://schemas.openxmlformats.org/drawingml/2006/main" prst="roundRect">
            <a:avLst>
              <a:gd name="adj" fmla="val 3468"/>
            </a:avLst>
          </a:prstGeom>
          <a:solidFill xmlns:a="http://schemas.openxmlformats.org/drawingml/2006/main">
            <a:srgbClr val="FFFFFF"/>
          </a:solidFill>
          <a:ln xmlns:a="http://schemas.openxmlformats.org/drawingml/2006/main" w="11430">
            <a:solidFill>
              <a:srgbClr val="D5E0E7"/>
            </a:solidFill>
            <a:prstDash val="solid"/>
          </a:ln>
        </p:spPr>
      </p:sp>
      <p:sp>
        <p:nvSpPr>
          <p:cNvPr id="5" name="">
            <a:extLst xmlns:a="http://schemas.openxmlformats.org/drawingml/2006/main">
              <a:ext uri="{FF2B5EF4-FFF2-40B4-BE49-F238E27FC236}">
                <a16:creationId xmlns:a16="http://schemas.microsoft.com/office/drawing/2014/main" id="{88F28DBF-000D-4BD2-81B2-D0DD95C4A993}"/>
              </a:ext>
            </a:extLst>
          </p:cNvPr>
          <p:cNvSpPr>
            <a:spLocks xmlns:a="http://schemas.openxmlformats.org/drawingml/2006/main" noGrp="1"/>
          </p:cNvSpPr>
          <p:nvPr/>
        </p:nvSpPr>
        <p:spPr>
          <a:xfrm xmlns:a="http://schemas.openxmlformats.org/drawingml/2006/main">
            <a:off x="914400" y="180975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1">
                <a:solidFill>
                  <a:srgbClr val="536D81"/>
                </a:solidFill>
                <a:latin typeface="Arial"/>
                <a:ea typeface="Arial"/>
                <a:cs typeface="Arial"/>
              </a:defRPr>
            </a:pPr>
            <a:r>
              <a:rPr sz="1125" b="1">
                <a:solidFill>
                  <a:srgbClr val="536D81"/>
                </a:solidFill>
                <a:latin typeface="Arial"/>
                <a:ea typeface="Arial"/>
                <a:cs typeface="Arial"/>
              </a:rPr>
              <a:t>EXTRACTED BLOCK</a:t>
            </a:r>
          </a:p>
        </p:txBody>
      </p:sp>
      <p:sp>
        <p:nvSpPr>
          <p:cNvPr id="6" name="">
            <a:extLst xmlns:a="http://schemas.openxmlformats.org/drawingml/2006/main">
              <a:ext uri="{FF2B5EF4-FFF2-40B4-BE49-F238E27FC236}">
                <a16:creationId xmlns:a16="http://schemas.microsoft.com/office/drawing/2014/main" id="{E66E20A1-ED79-47D4-AB9A-18AAA06F33CD}"/>
              </a:ext>
            </a:extLst>
          </p:cNvPr>
          <p:cNvSpPr>
            <a:spLocks xmlns:a="http://schemas.openxmlformats.org/drawingml/2006/main" noGrp="1"/>
          </p:cNvSpPr>
          <p:nvPr/>
        </p:nvSpPr>
        <p:spPr>
          <a:xfrm xmlns:a="http://schemas.openxmlformats.org/drawingml/2006/main">
            <a:off x="914400" y="2324100"/>
            <a:ext cx="4429125" cy="2143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a:solidFill>
                  <a:srgbClr val="17334B"/>
                </a:solidFill>
                <a:latin typeface="Arial"/>
                <a:ea typeface="Arial"/>
                <a:cs typeface="Arial"/>
              </a:defRPr>
            </a:pPr>
            <a:r>
              <a:rPr sz="1425" b="0">
                <a:solidFill>
                  <a:srgbClr val="17334B"/>
                </a:solidFill>
                <a:latin typeface="Arial"/>
                <a:ea typeface="Arial"/>
                <a:cs typeface="Arial"/>
              </a:rPr>
              <a:t>[PAGE 1]  Policy owner: &lt;person&gt; (&lt;employee ID&gt;)</a:t>
            </a:r>
          </a:p>
          <a:p xmlns:a="http://schemas.openxmlformats.org/drawingml/2006/main">
            <a:pPr algn="l">
              <a:buNone/>
              <a:defRPr sz="1425" b="0">
                <a:solidFill>
                  <a:srgbClr val="17334B"/>
                </a:solidFill>
                <a:latin typeface="Arial"/>
                <a:ea typeface="Arial"/>
                <a:cs typeface="Arial"/>
              </a:defRPr>
            </a:pPr>
            <a:r>
              <a:rPr sz="1425" b="0">
                <a:solidFill>
                  <a:srgbClr val="17334B"/>
                </a:solidFill>
                <a:latin typeface="Arial"/>
                <a:ea typeface="Arial"/>
                <a:cs typeface="Arial"/>
              </a:rPr>
              <a:t>Contact: &lt;email&gt;  |  &lt;phone&gt;</a:t>
            </a:r>
          </a:p>
          <a:p xmlns:a="http://schemas.openxmlformats.org/drawingml/2006/main">
            <a:pPr algn="l">
              <a:buNone/>
              <a:defRPr sz="1425" b="0">
                <a:solidFill>
                  <a:srgbClr val="17334B"/>
                </a:solidFill>
                <a:latin typeface="Arial"/>
                <a:ea typeface="Arial"/>
                <a:cs typeface="Arial"/>
              </a:defRPr>
            </a:pPr>
            <a:r>
              <a:rPr sz="1425" b="0">
                <a:solidFill>
                  <a:srgbClr val="17334B"/>
                </a:solidFill>
                <a:latin typeface="Arial"/>
                <a:ea typeface="Arial"/>
                <a:cs typeface="Arial"/>
              </a:rPr>
              <a:t>Office: &lt;postal address&gt;</a:t>
            </a:r>
          </a:p>
          <a:p xmlns:a="http://schemas.openxmlformats.org/drawingml/2006/main">
            <a:r>
              <a:t/>
            </a:r>
          </a:p>
          <a:p xmlns:a="http://schemas.openxmlformats.org/drawingml/2006/main">
            <a:pPr algn="l">
              <a:buNone/>
              <a:defRPr sz="1425" b="0">
                <a:solidFill>
                  <a:srgbClr val="17334B"/>
                </a:solidFill>
                <a:latin typeface="Arial"/>
                <a:ea typeface="Arial"/>
                <a:cs typeface="Arial"/>
              </a:defRPr>
            </a:pPr>
            <a:r>
              <a:rPr sz="1425" b="0">
                <a:solidFill>
                  <a:srgbClr val="17334B"/>
                </a:solidFill>
                <a:latin typeface="Arial"/>
                <a:ea typeface="Arial"/>
                <a:cs typeface="Arial"/>
              </a:rPr>
              <a:t>[SLIDE 3]  &lt;person&gt;  |  Chief Risk Officer</a:t>
            </a:r>
          </a:p>
          <a:p xmlns:a="http://schemas.openxmlformats.org/drawingml/2006/main">
            <a:pPr algn="l">
              <a:buNone/>
              <a:defRPr sz="1425" b="0">
                <a:solidFill>
                  <a:srgbClr val="17334B"/>
                </a:solidFill>
                <a:latin typeface="Arial"/>
                <a:ea typeface="Arial"/>
                <a:cs typeface="Arial"/>
              </a:defRPr>
            </a:pPr>
            <a:r>
              <a:rPr sz="1425" b="0">
                <a:solidFill>
                  <a:srgbClr val="17334B"/>
                </a:solidFill>
                <a:latin typeface="Arial"/>
                <a:ea typeface="Arial"/>
                <a:cs typeface="Arial"/>
              </a:rPr>
              <a:t>Contact: &lt;email&gt;  |  &lt;phone&gt;</a:t>
            </a:r>
          </a:p>
          <a:p xmlns:a="http://schemas.openxmlformats.org/drawingml/2006/main">
            <a:r>
              <a:t/>
            </a:r>
          </a:p>
          <a:p xmlns:a="http://schemas.openxmlformats.org/drawingml/2006/main">
            <a:pPr algn="l">
              <a:buNone/>
              <a:defRPr sz="1425" b="0">
                <a:solidFill>
                  <a:srgbClr val="17334B"/>
                </a:solidFill>
                <a:latin typeface="Arial"/>
                <a:ea typeface="Arial"/>
                <a:cs typeface="Arial"/>
              </a:defRPr>
            </a:pPr>
            <a:r>
              <a:rPr sz="1425" b="0">
                <a:solidFill>
                  <a:srgbClr val="17334B"/>
                </a:solidFill>
                <a:latin typeface="Arial"/>
                <a:ea typeface="Arial"/>
                <a:cs typeface="Arial"/>
              </a:rPr>
              <a:t>[TABLE 2 ROW 1]  Role holder | &lt;person&gt; | &lt;email&gt;</a:t>
            </a:r>
          </a:p>
        </p:txBody>
      </p:sp>
      <p:sp>
        <p:nvSpPr>
          <p:cNvPr id="7" name="">
            <a:extLst xmlns:a="http://schemas.openxmlformats.org/drawingml/2006/main">
              <a:ext uri="{FF2B5EF4-FFF2-40B4-BE49-F238E27FC236}">
                <a16:creationId xmlns:a16="http://schemas.microsoft.com/office/drawing/2014/main" id="{7C71F4A3-D3E1-47B7-B843-C76DC4468EB5}"/>
              </a:ext>
            </a:extLst>
          </p:cNvPr>
          <p:cNvSpPr>
            <a:spLocks xmlns:a="http://schemas.openxmlformats.org/drawingml/2006/main" noGrp="1"/>
          </p:cNvSpPr>
          <p:nvPr/>
        </p:nvSpPr>
        <p:spPr>
          <a:xfrm xmlns:a="http://schemas.openxmlformats.org/drawingml/2006/main">
            <a:off x="5695950" y="3009900"/>
            <a:ext cx="647700" cy="323850"/>
          </a:xfrm>
          <a:prstGeom xmlns:a="http://schemas.openxmlformats.org/drawingml/2006/main" prst="rightArrow">
            <a:avLst/>
          </a:prstGeom>
          <a:solidFill xmlns:a="http://schemas.openxmlformats.org/drawingml/2006/main">
            <a:srgbClr val="D6AA4B"/>
          </a:solidFill>
          <a:ln xmlns:a="http://schemas.openxmlformats.org/drawingml/2006/main" w="0">
            <a:solidFill>
              <a:srgbClr val="D6AA4B"/>
            </a:solidFill>
            <a:prstDash val="solid"/>
          </a:ln>
        </p:spPr>
      </p:sp>
      <p:sp>
        <p:nvSpPr>
          <p:cNvPr id="8" name="">
            <a:extLst xmlns:a="http://schemas.openxmlformats.org/drawingml/2006/main">
              <a:ext uri="{FF2B5EF4-FFF2-40B4-BE49-F238E27FC236}">
                <a16:creationId xmlns:a16="http://schemas.microsoft.com/office/drawing/2014/main" id="{66879BE1-6D65-493C-B661-5703B9B570A2}"/>
              </a:ext>
            </a:extLst>
          </p:cNvPr>
          <p:cNvSpPr>
            <a:spLocks xmlns:a="http://schemas.openxmlformats.org/drawingml/2006/main" noGrp="1"/>
          </p:cNvSpPr>
          <p:nvPr/>
        </p:nvSpPr>
        <p:spPr>
          <a:xfrm xmlns:a="http://schemas.openxmlformats.org/drawingml/2006/main">
            <a:off x="6610350" y="1619250"/>
            <a:ext cx="4895850" cy="3295650"/>
          </a:xfrm>
          <a:prstGeom xmlns:a="http://schemas.openxmlformats.org/drawingml/2006/main" prst="roundRect">
            <a:avLst>
              <a:gd name="adj" fmla="val 3468"/>
            </a:avLst>
          </a:prstGeom>
          <a:solidFill xmlns:a="http://schemas.openxmlformats.org/drawingml/2006/main">
            <a:srgbClr val="E2F1EE"/>
          </a:solidFill>
          <a:ln xmlns:a="http://schemas.openxmlformats.org/drawingml/2006/main" w="11430">
            <a:solidFill>
              <a:srgbClr val="E2F1EE"/>
            </a:solidFill>
            <a:prstDash val="solid"/>
          </a:ln>
        </p:spPr>
      </p:sp>
      <p:sp>
        <p:nvSpPr>
          <p:cNvPr id="9" name="">
            <a:extLst xmlns:a="http://schemas.openxmlformats.org/drawingml/2006/main">
              <a:ext uri="{FF2B5EF4-FFF2-40B4-BE49-F238E27FC236}">
                <a16:creationId xmlns:a16="http://schemas.microsoft.com/office/drawing/2014/main" id="{DD1BBD0F-6C70-432B-8BED-F88D91E2E49F}"/>
              </a:ext>
            </a:extLst>
          </p:cNvPr>
          <p:cNvSpPr>
            <a:spLocks xmlns:a="http://schemas.openxmlformats.org/drawingml/2006/main" noGrp="1"/>
          </p:cNvSpPr>
          <p:nvPr/>
        </p:nvSpPr>
        <p:spPr>
          <a:xfrm xmlns:a="http://schemas.openxmlformats.org/drawingml/2006/main">
            <a:off x="6838950" y="180975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1">
                <a:solidFill>
                  <a:srgbClr val="187A83"/>
                </a:solidFill>
                <a:latin typeface="Arial"/>
                <a:ea typeface="Arial"/>
                <a:cs typeface="Arial"/>
              </a:defRPr>
            </a:pPr>
            <a:r>
              <a:rPr sz="1125" b="1">
                <a:solidFill>
                  <a:srgbClr val="187A83"/>
                </a:solidFill>
                <a:latin typeface="Arial"/>
                <a:ea typeface="Arial"/>
                <a:cs typeface="Arial"/>
              </a:rPr>
              <a:t>TAGGED REDACTED BLOCK</a:t>
            </a:r>
          </a:p>
        </p:txBody>
      </p:sp>
      <p:sp>
        <p:nvSpPr>
          <p:cNvPr id="10" name="">
            <a:extLst xmlns:a="http://schemas.openxmlformats.org/drawingml/2006/main">
              <a:ext uri="{FF2B5EF4-FFF2-40B4-BE49-F238E27FC236}">
                <a16:creationId xmlns:a16="http://schemas.microsoft.com/office/drawing/2014/main" id="{C6D81F97-3A53-48E9-9565-0C1A134FC042}"/>
              </a:ext>
            </a:extLst>
          </p:cNvPr>
          <p:cNvSpPr>
            <a:spLocks xmlns:a="http://schemas.openxmlformats.org/drawingml/2006/main" noGrp="1"/>
          </p:cNvSpPr>
          <p:nvPr/>
        </p:nvSpPr>
        <p:spPr>
          <a:xfrm xmlns:a="http://schemas.openxmlformats.org/drawingml/2006/main">
            <a:off x="6838950" y="2324100"/>
            <a:ext cx="4400550" cy="2143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657"/>
          </a:bodyPr>
          <a:lstStyle xmlns:a="http://schemas.openxmlformats.org/drawingml/2006/main"/>
          <a:p xmlns:a="http://schemas.openxmlformats.org/drawingml/2006/main">
            <a:pPr algn="l">
              <a:buNone/>
              <a:defRPr sz="1350" b="0">
                <a:solidFill>
                  <a:srgbClr val="17334B"/>
                </a:solidFill>
                <a:latin typeface="Arial"/>
                <a:ea typeface="Arial"/>
                <a:cs typeface="Arial"/>
              </a:defRPr>
            </a:pPr>
            <a:r>
              <a:rPr sz="1350" b="0">
                <a:solidFill>
                  <a:srgbClr val="17334B"/>
                </a:solidFill>
                <a:latin typeface="Arial"/>
                <a:ea typeface="Arial"/>
                <a:cs typeface="Arial"/>
              </a:rPr>
              <a:t>[PAGE 1]  Policy owner: [REDACTED:PERSON_NAME] ([REDACTED:EMPLOYEE_ID])</a:t>
            </a:r>
          </a:p>
          <a:p xmlns:a="http://schemas.openxmlformats.org/drawingml/2006/main">
            <a:pPr algn="l">
              <a:buNone/>
              <a:defRPr sz="1350" b="0">
                <a:solidFill>
                  <a:srgbClr val="17334B"/>
                </a:solidFill>
                <a:latin typeface="Arial"/>
                <a:ea typeface="Arial"/>
                <a:cs typeface="Arial"/>
              </a:defRPr>
            </a:pPr>
            <a:r>
              <a:rPr sz="1350" b="0">
                <a:solidFill>
                  <a:srgbClr val="17334B"/>
                </a:solidFill>
                <a:latin typeface="Arial"/>
                <a:ea typeface="Arial"/>
                <a:cs typeface="Arial"/>
              </a:rPr>
              <a:t>Contact: [REDACTED:EMAIL]  |  [REDACTED:PHONE]</a:t>
            </a:r>
          </a:p>
          <a:p xmlns:a="http://schemas.openxmlformats.org/drawingml/2006/main">
            <a:pPr algn="l">
              <a:buNone/>
              <a:defRPr sz="1350" b="0">
                <a:solidFill>
                  <a:srgbClr val="17334B"/>
                </a:solidFill>
                <a:latin typeface="Arial"/>
                <a:ea typeface="Arial"/>
                <a:cs typeface="Arial"/>
              </a:defRPr>
            </a:pPr>
            <a:r>
              <a:rPr sz="1350" b="0">
                <a:solidFill>
                  <a:srgbClr val="17334B"/>
                </a:solidFill>
                <a:latin typeface="Arial"/>
                <a:ea typeface="Arial"/>
                <a:cs typeface="Arial"/>
              </a:rPr>
              <a:t>Office: [REDACTED:ADDRESS]</a:t>
            </a:r>
          </a:p>
          <a:p xmlns:a="http://schemas.openxmlformats.org/drawingml/2006/main">
            <a:r>
              <a:t/>
            </a:r>
          </a:p>
          <a:p xmlns:a="http://schemas.openxmlformats.org/drawingml/2006/main">
            <a:pPr algn="l">
              <a:buNone/>
              <a:defRPr sz="1350" b="0">
                <a:solidFill>
                  <a:srgbClr val="17334B"/>
                </a:solidFill>
                <a:latin typeface="Arial"/>
                <a:ea typeface="Arial"/>
                <a:cs typeface="Arial"/>
              </a:defRPr>
            </a:pPr>
            <a:r>
              <a:rPr sz="1350" b="0">
                <a:solidFill>
                  <a:srgbClr val="17334B"/>
                </a:solidFill>
                <a:latin typeface="Arial"/>
                <a:ea typeface="Arial"/>
                <a:cs typeface="Arial"/>
              </a:rPr>
              <a:t>[SLIDE 3]  [REDACTED:PERSON_NAME]  |  Chief Risk Officer</a:t>
            </a:r>
          </a:p>
          <a:p xmlns:a="http://schemas.openxmlformats.org/drawingml/2006/main">
            <a:pPr algn="l">
              <a:buNone/>
              <a:defRPr sz="1350" b="0">
                <a:solidFill>
                  <a:srgbClr val="17334B"/>
                </a:solidFill>
                <a:latin typeface="Arial"/>
                <a:ea typeface="Arial"/>
                <a:cs typeface="Arial"/>
              </a:defRPr>
            </a:pPr>
            <a:r>
              <a:rPr sz="1350" b="0">
                <a:solidFill>
                  <a:srgbClr val="17334B"/>
                </a:solidFill>
                <a:latin typeface="Arial"/>
                <a:ea typeface="Arial"/>
                <a:cs typeface="Arial"/>
              </a:rPr>
              <a:t>Contact: [REDACTED:EMAIL]  |  [REDACTED:PHONE]</a:t>
            </a:r>
          </a:p>
          <a:p xmlns:a="http://schemas.openxmlformats.org/drawingml/2006/main">
            <a:r>
              <a:t/>
            </a:r>
          </a:p>
          <a:p xmlns:a="http://schemas.openxmlformats.org/drawingml/2006/main">
            <a:pPr algn="l">
              <a:buNone/>
              <a:defRPr sz="1350" b="0">
                <a:solidFill>
                  <a:srgbClr val="17334B"/>
                </a:solidFill>
                <a:latin typeface="Arial"/>
                <a:ea typeface="Arial"/>
                <a:cs typeface="Arial"/>
              </a:defRPr>
            </a:pPr>
            <a:r>
              <a:rPr sz="1350" b="0">
                <a:solidFill>
                  <a:srgbClr val="17334B"/>
                </a:solidFill>
                <a:latin typeface="Arial"/>
                <a:ea typeface="Arial"/>
                <a:cs typeface="Arial"/>
              </a:rPr>
              <a:t>[TABLE 2 ROW 1]  Role holder | [REDACTED:PERSON_NAME] | [REDACTED:EMAIL]</a:t>
            </a:r>
          </a:p>
        </p:txBody>
      </p:sp>
      <p:sp>
        <p:nvSpPr>
          <p:cNvPr id="11" name="">
            <a:extLst xmlns:a="http://schemas.openxmlformats.org/drawingml/2006/main">
              <a:ext uri="{FF2B5EF4-FFF2-40B4-BE49-F238E27FC236}">
                <a16:creationId xmlns:a16="http://schemas.microsoft.com/office/drawing/2014/main" id="{BDCB83E8-BD7C-44F1-8FB1-924CB8F35EA7}"/>
              </a:ext>
            </a:extLst>
          </p:cNvPr>
          <p:cNvSpPr>
            <a:spLocks xmlns:a="http://schemas.openxmlformats.org/drawingml/2006/main" noGrp="1"/>
          </p:cNvSpPr>
          <p:nvPr/>
        </p:nvSpPr>
        <p:spPr>
          <a:xfrm xmlns:a="http://schemas.openxmlformats.org/drawingml/2006/main">
            <a:off x="685800" y="5476875"/>
            <a:ext cx="108204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350" b="1">
                <a:solidFill>
                  <a:srgbClr val="187A83"/>
                </a:solidFill>
                <a:latin typeface="Arial"/>
                <a:ea typeface="Arial"/>
                <a:cs typeface="Arial"/>
              </a:defRPr>
            </a:pPr>
            <a:r>
              <a:rPr sz="1350" b="1">
                <a:solidFill>
                  <a:srgbClr val="187A83"/>
                </a:solidFill>
                <a:latin typeface="Arial"/>
                <a:ea typeface="Arial"/>
                <a:cs typeface="Arial"/>
              </a:rPr>
              <a:t>The output keeps page, slide and table context; only identified spans are replaced.</a:t>
            </a:r>
          </a:p>
        </p:txBody>
      </p:sp>
      <p:sp>
        <p:nvSpPr>
          <p:cNvPr id="12" name="">
            <a:extLst xmlns:a="http://schemas.openxmlformats.org/drawingml/2006/main">
              <a:ext uri="{FF2B5EF4-FFF2-40B4-BE49-F238E27FC236}">
                <a16:creationId xmlns:a16="http://schemas.microsoft.com/office/drawing/2014/main" id="{1F7FE6AA-8882-46CD-8E8E-A605A5101035}"/>
              </a:ext>
            </a:extLst>
          </p:cNvPr>
          <p:cNvSpPr>
            <a:spLocks xmlns:a="http://schemas.openxmlformats.org/drawingml/2006/main" noGrp="1"/>
          </p:cNvSpPr>
          <p:nvPr/>
        </p:nvSpPr>
        <p:spPr>
          <a:xfrm xmlns:a="http://schemas.openxmlformats.org/drawingml/2006/main">
            <a:off x="685800" y="655320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48485"/>
          </a:bodyPr>
          <a:lstStyle xmlns:a="http://schemas.openxmlformats.org/drawingml/2006/main"/>
          <a:p xmlns:a="http://schemas.openxmlformats.org/drawingml/2006/main">
            <a:pPr algn="l">
              <a:buNone/>
              <a:defRPr sz="825" b="0">
                <a:solidFill>
                  <a:srgbClr val="536D81"/>
                </a:solidFill>
                <a:latin typeface="Arial"/>
                <a:ea typeface="Arial"/>
                <a:cs typeface="Arial"/>
              </a:defRPr>
            </a:pPr>
            <a:r>
              <a:rPr sz="825" b="0">
                <a:solidFill>
                  <a:srgbClr val="536D81"/>
                </a:solidFill>
                <a:latin typeface="Arial"/>
                <a:ea typeface="Arial"/>
                <a:cs typeface="Arial"/>
              </a:rPr>
              <a:t>OPTIV  ·  VIT 2026  |  CASE STUDY 2  |  10</a:t>
            </a:r>
          </a:p>
        </p:txBody>
      </p:sp>
    </p:spTree>
    <p:extLst>
      <p:ext uri="{BB962C8B-B14F-4D97-AF65-F5344CB8AC3E}">
        <p14:creationId xmlns:p14="http://schemas.microsoft.com/office/powerpoint/2010/main" val="1273692021"/>
      </p:ext>
    </p:extLst>
  </p:cSld>
</p:sld>
</file>

<file path=ppt/slides/slide11.xml><?xml version="1.0" encoding="utf-8"?>
<p:sld xmlns:p="http://schemas.openxmlformats.org/presentationml/2006/main">
  <p:cSld>
    <p:bg>
      <p:bgPr>
        <a:solidFill xmlns:a="http://schemas.openxmlformats.org/drawingml/2006/main">
          <a:srgbClr val="F3F6F8"/>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8A3321F6-8B72-42FE-8493-23F3ED060FB7}"/>
              </a:ext>
            </a:extLst>
          </p:cNvPr>
          <p:cNvSpPr>
            <a:spLocks xmlns:a="http://schemas.openxmlformats.org/drawingml/2006/main" noGrp="1"/>
          </p:cNvSpPr>
          <p:nvPr/>
        </p:nvSpPr>
        <p:spPr>
          <a:xfrm xmlns:a="http://schemas.openxmlformats.org/drawingml/2006/main">
            <a:off x="685800" y="20955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762"/>
          </a:bodyPr>
          <a:lstStyle xmlns:a="http://schemas.openxmlformats.org/drawingml/2006/main"/>
          <a:p xmlns:a="http://schemas.openxmlformats.org/drawingml/2006/main">
            <a:pPr algn="l">
              <a:buNone/>
              <a:defRPr sz="1050" b="1">
                <a:solidFill>
                  <a:srgbClr val="187A83"/>
                </a:solidFill>
                <a:latin typeface="Arial"/>
                <a:ea typeface="Arial"/>
                <a:cs typeface="Arial"/>
              </a:defRPr>
            </a:pPr>
            <a:r>
              <a:rPr sz="1050" b="1">
                <a:solidFill>
                  <a:srgbClr val="187A83"/>
                </a:solidFill>
                <a:latin typeface="Arial"/>
                <a:ea typeface="Arial"/>
                <a:cs typeface="Arial"/>
              </a:rPr>
              <a:t>CASE STUDY 2  /  CADENCE</a:t>
            </a:r>
          </a:p>
        </p:txBody>
      </p:sp>
      <p:sp>
        <p:nvSpPr>
          <p:cNvPr id="2" name="">
            <a:extLst xmlns:a="http://schemas.openxmlformats.org/drawingml/2006/main">
              <a:ext uri="{FF2B5EF4-FFF2-40B4-BE49-F238E27FC236}">
                <a16:creationId xmlns:a16="http://schemas.microsoft.com/office/drawing/2014/main" id="{7B1C2364-4078-4232-8B01-EEEB3AE61486}"/>
              </a:ext>
            </a:extLst>
          </p:cNvPr>
          <p:cNvSpPr>
            <a:spLocks xmlns:a="http://schemas.openxmlformats.org/drawingml/2006/main" noGrp="1"/>
          </p:cNvSpPr>
          <p:nvPr/>
        </p:nvSpPr>
        <p:spPr>
          <a:xfrm xmlns:a="http://schemas.openxmlformats.org/drawingml/2006/main">
            <a:off x="685800" y="4953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850" b="1">
                <a:solidFill>
                  <a:srgbClr val="102C49"/>
                </a:solidFill>
                <a:latin typeface="Arial"/>
                <a:ea typeface="Arial"/>
                <a:cs typeface="Arial"/>
              </a:defRPr>
            </a:pPr>
            <a:r>
              <a:rPr sz="2850" b="1">
                <a:solidFill>
                  <a:srgbClr val="102C49"/>
                </a:solidFill>
                <a:latin typeface="Arial"/>
                <a:ea typeface="Arial"/>
                <a:cs typeface="Arial"/>
              </a:rPr>
              <a:t>Reliability plan | measure before claiming coverage</a:t>
            </a:r>
          </a:p>
        </p:txBody>
      </p:sp>
      <p:sp>
        <p:nvSpPr>
          <p:cNvPr id="3" name="">
            <a:extLst xmlns:a="http://schemas.openxmlformats.org/drawingml/2006/main">
              <a:ext uri="{FF2B5EF4-FFF2-40B4-BE49-F238E27FC236}">
                <a16:creationId xmlns:a16="http://schemas.microsoft.com/office/drawing/2014/main" id="{850B2EC3-E803-4BBF-A3E8-7C18824E1CC7}"/>
              </a:ext>
            </a:extLst>
          </p:cNvPr>
          <p:cNvSpPr>
            <a:spLocks xmlns:a="http://schemas.openxmlformats.org/drawingml/2006/main" noGrp="1"/>
          </p:cNvSpPr>
          <p:nvPr/>
        </p:nvSpPr>
        <p:spPr>
          <a:xfrm xmlns:a="http://schemas.openxmlformats.org/drawingml/2006/main">
            <a:off x="685800" y="1162050"/>
            <a:ext cx="10820400" cy="0"/>
          </a:xfrm>
          <a:prstGeom xmlns:a="http://schemas.openxmlformats.org/drawingml/2006/main" prst="line">
            <a:avLst/>
          </a:prstGeom>
          <a:noFill xmlns:a="http://schemas.openxmlformats.org/drawingml/2006/main"/>
          <a:ln xmlns:a="http://schemas.openxmlformats.org/drawingml/2006/main" w="11430">
            <a:solidFill>
              <a:srgbClr val="D5E0E7"/>
            </a:solidFill>
            <a:prstDash val="solid"/>
          </a:ln>
        </p:spPr>
      </p:sp>
      <p:sp>
        <p:nvSpPr>
          <p:cNvPr id="4" name="">
            <a:extLst xmlns:a="http://schemas.openxmlformats.org/drawingml/2006/main">
              <a:ext uri="{FF2B5EF4-FFF2-40B4-BE49-F238E27FC236}">
                <a16:creationId xmlns:a16="http://schemas.microsoft.com/office/drawing/2014/main" id="{29CB8D7E-610F-484D-AFFB-87903EDB5D5B}"/>
              </a:ext>
            </a:extLst>
          </p:cNvPr>
          <p:cNvSpPr>
            <a:spLocks xmlns:a="http://schemas.openxmlformats.org/drawingml/2006/main" noGrp="1"/>
          </p:cNvSpPr>
          <p:nvPr/>
        </p:nvSpPr>
        <p:spPr>
          <a:xfrm xmlns:a="http://schemas.openxmlformats.org/drawingml/2006/main">
            <a:off x="685800" y="1466850"/>
            <a:ext cx="108204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1430">
            <a:solidFill>
              <a:srgbClr val="D5E0E7"/>
            </a:solidFill>
            <a:prstDash val="solid"/>
          </a:ln>
        </p:spPr>
      </p:sp>
      <p:sp>
        <p:nvSpPr>
          <p:cNvPr id="5" name="">
            <a:extLst xmlns:a="http://schemas.openxmlformats.org/drawingml/2006/main">
              <a:ext uri="{FF2B5EF4-FFF2-40B4-BE49-F238E27FC236}">
                <a16:creationId xmlns:a16="http://schemas.microsoft.com/office/drawing/2014/main" id="{80450405-D6E6-4355-A1B5-7CCD2F56400E}"/>
              </a:ext>
            </a:extLst>
          </p:cNvPr>
          <p:cNvSpPr>
            <a:spLocks xmlns:a="http://schemas.openxmlformats.org/drawingml/2006/main" noGrp="1"/>
          </p:cNvSpPr>
          <p:nvPr/>
        </p:nvSpPr>
        <p:spPr>
          <a:xfrm xmlns:a="http://schemas.openxmlformats.org/drawingml/2006/main">
            <a:off x="914400" y="157162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p xmlns:a="http://schemas.openxmlformats.org/drawingml/2006/main">
            <a:pPr algn="l">
              <a:buNone/>
              <a:defRPr sz="1350" b="1">
                <a:solidFill>
                  <a:srgbClr val="187A83"/>
                </a:solidFill>
                <a:latin typeface="Arial"/>
                <a:ea typeface="Arial"/>
                <a:cs typeface="Arial"/>
              </a:defRPr>
            </a:pPr>
            <a:r>
              <a:rPr sz="1350" b="1">
                <a:solidFill>
                  <a:srgbClr val="187A83"/>
                </a:solidFill>
                <a:latin typeface="Arial"/>
                <a:ea typeface="Arial"/>
                <a:cs typeface="Arial"/>
              </a:rPr>
              <a:t>01  Labeled corpus</a:t>
            </a:r>
          </a:p>
        </p:txBody>
      </p:sp>
      <p:sp>
        <p:nvSpPr>
          <p:cNvPr id="6" name="">
            <a:extLst xmlns:a="http://schemas.openxmlformats.org/drawingml/2006/main">
              <a:ext uri="{FF2B5EF4-FFF2-40B4-BE49-F238E27FC236}">
                <a16:creationId xmlns:a16="http://schemas.microsoft.com/office/drawing/2014/main" id="{EAE35B22-C5E1-4954-8533-EF722FC33304}"/>
              </a:ext>
            </a:extLst>
          </p:cNvPr>
          <p:cNvSpPr>
            <a:spLocks xmlns:a="http://schemas.openxmlformats.org/drawingml/2006/main" noGrp="1"/>
          </p:cNvSpPr>
          <p:nvPr/>
        </p:nvSpPr>
        <p:spPr>
          <a:xfrm xmlns:a="http://schemas.openxmlformats.org/drawingml/2006/main">
            <a:off x="3486150" y="1562100"/>
            <a:ext cx="7715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a:solidFill>
                  <a:srgbClr val="17334B"/>
                </a:solidFill>
                <a:latin typeface="Arial"/>
                <a:ea typeface="Arial"/>
                <a:cs typeface="Arial"/>
              </a:defRPr>
            </a:pPr>
            <a:r>
              <a:rPr sz="1350" b="0">
                <a:solidFill>
                  <a:srgbClr val="17334B"/>
                </a:solidFill>
                <a:latin typeface="Arial"/>
                <a:ea typeface="Arial"/>
                <a:cs typeface="Arial"/>
              </a:rPr>
              <a:t>Manually label entities and source spans by format and PII class.</a:t>
            </a:r>
          </a:p>
        </p:txBody>
      </p:sp>
      <p:sp>
        <p:nvSpPr>
          <p:cNvPr id="7" name="">
            <a:extLst xmlns:a="http://schemas.openxmlformats.org/drawingml/2006/main">
              <a:ext uri="{FF2B5EF4-FFF2-40B4-BE49-F238E27FC236}">
                <a16:creationId xmlns:a16="http://schemas.microsoft.com/office/drawing/2014/main" id="{58B187DE-C118-405F-BB32-84E52DC9C569}"/>
              </a:ext>
            </a:extLst>
          </p:cNvPr>
          <p:cNvSpPr>
            <a:spLocks xmlns:a="http://schemas.openxmlformats.org/drawingml/2006/main" noGrp="1"/>
          </p:cNvSpPr>
          <p:nvPr/>
        </p:nvSpPr>
        <p:spPr>
          <a:xfrm xmlns:a="http://schemas.openxmlformats.org/drawingml/2006/main">
            <a:off x="685800" y="2333625"/>
            <a:ext cx="108204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1430">
            <a:solidFill>
              <a:srgbClr val="D5E0E7"/>
            </a:solidFill>
            <a:prstDash val="solid"/>
          </a:ln>
        </p:spPr>
      </p:sp>
      <p:sp>
        <p:nvSpPr>
          <p:cNvPr id="8" name="">
            <a:extLst xmlns:a="http://schemas.openxmlformats.org/drawingml/2006/main">
              <a:ext uri="{FF2B5EF4-FFF2-40B4-BE49-F238E27FC236}">
                <a16:creationId xmlns:a16="http://schemas.microsoft.com/office/drawing/2014/main" id="{54099466-33FB-4950-966E-8F89B130E98D}"/>
              </a:ext>
            </a:extLst>
          </p:cNvPr>
          <p:cNvSpPr>
            <a:spLocks xmlns:a="http://schemas.openxmlformats.org/drawingml/2006/main" noGrp="1"/>
          </p:cNvSpPr>
          <p:nvPr/>
        </p:nvSpPr>
        <p:spPr>
          <a:xfrm xmlns:a="http://schemas.openxmlformats.org/drawingml/2006/main">
            <a:off x="914400" y="24384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p xmlns:a="http://schemas.openxmlformats.org/drawingml/2006/main">
            <a:pPr algn="l">
              <a:buNone/>
              <a:defRPr sz="1350" b="1">
                <a:solidFill>
                  <a:srgbClr val="187A83"/>
                </a:solidFill>
                <a:latin typeface="Arial"/>
                <a:ea typeface="Arial"/>
                <a:cs typeface="Arial"/>
              </a:defRPr>
            </a:pPr>
            <a:r>
              <a:rPr sz="1350" b="1">
                <a:solidFill>
                  <a:srgbClr val="187A83"/>
                </a:solidFill>
                <a:latin typeface="Arial"/>
                <a:ea typeface="Arial"/>
                <a:cs typeface="Arial"/>
              </a:rPr>
              <a:t>02  Extraction score</a:t>
            </a:r>
          </a:p>
        </p:txBody>
      </p:sp>
      <p:sp>
        <p:nvSpPr>
          <p:cNvPr id="9" name="">
            <a:extLst xmlns:a="http://schemas.openxmlformats.org/drawingml/2006/main">
              <a:ext uri="{FF2B5EF4-FFF2-40B4-BE49-F238E27FC236}">
                <a16:creationId xmlns:a16="http://schemas.microsoft.com/office/drawing/2014/main" id="{9F978CE2-A4B6-4EA4-BD66-4391C586649C}"/>
              </a:ext>
            </a:extLst>
          </p:cNvPr>
          <p:cNvSpPr>
            <a:spLocks xmlns:a="http://schemas.openxmlformats.org/drawingml/2006/main" noGrp="1"/>
          </p:cNvSpPr>
          <p:nvPr/>
        </p:nvSpPr>
        <p:spPr>
          <a:xfrm xmlns:a="http://schemas.openxmlformats.org/drawingml/2006/main">
            <a:off x="3486150" y="2428875"/>
            <a:ext cx="7715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a:solidFill>
                  <a:srgbClr val="17334B"/>
                </a:solidFill>
                <a:latin typeface="Arial"/>
                <a:ea typeface="Arial"/>
                <a:cs typeface="Arial"/>
              </a:defRPr>
            </a:pPr>
            <a:r>
              <a:rPr sz="1350" b="0">
                <a:solidFill>
                  <a:srgbClr val="17334B"/>
                </a:solidFill>
                <a:latin typeface="Arial"/>
                <a:ea typeface="Arial"/>
                <a:cs typeface="Arial"/>
              </a:rPr>
              <a:t>Measure page/slide/paragraph/table retention and OCR confidence.</a:t>
            </a:r>
          </a:p>
        </p:txBody>
      </p:sp>
      <p:sp>
        <p:nvSpPr>
          <p:cNvPr id="10" name="">
            <a:extLst xmlns:a="http://schemas.openxmlformats.org/drawingml/2006/main">
              <a:ext uri="{FF2B5EF4-FFF2-40B4-BE49-F238E27FC236}">
                <a16:creationId xmlns:a16="http://schemas.microsoft.com/office/drawing/2014/main" id="{6D690962-7E21-47D1-BF11-CD116F6E570C}"/>
              </a:ext>
            </a:extLst>
          </p:cNvPr>
          <p:cNvSpPr>
            <a:spLocks xmlns:a="http://schemas.openxmlformats.org/drawingml/2006/main" noGrp="1"/>
          </p:cNvSpPr>
          <p:nvPr/>
        </p:nvSpPr>
        <p:spPr>
          <a:xfrm xmlns:a="http://schemas.openxmlformats.org/drawingml/2006/main">
            <a:off x="685800" y="3200400"/>
            <a:ext cx="108204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1430">
            <a:solidFill>
              <a:srgbClr val="D5E0E7"/>
            </a:solidFill>
            <a:prstDash val="solid"/>
          </a:ln>
        </p:spPr>
      </p:sp>
      <p:sp>
        <p:nvSpPr>
          <p:cNvPr id="11" name="">
            <a:extLst xmlns:a="http://schemas.openxmlformats.org/drawingml/2006/main">
              <a:ext uri="{FF2B5EF4-FFF2-40B4-BE49-F238E27FC236}">
                <a16:creationId xmlns:a16="http://schemas.microsoft.com/office/drawing/2014/main" id="{7D8A813F-EFA4-4406-BC50-1172E4D71D7A}"/>
              </a:ext>
            </a:extLst>
          </p:cNvPr>
          <p:cNvSpPr>
            <a:spLocks xmlns:a="http://schemas.openxmlformats.org/drawingml/2006/main" noGrp="1"/>
          </p:cNvSpPr>
          <p:nvPr/>
        </p:nvSpPr>
        <p:spPr>
          <a:xfrm xmlns:a="http://schemas.openxmlformats.org/drawingml/2006/main">
            <a:off x="914400" y="330517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p xmlns:a="http://schemas.openxmlformats.org/drawingml/2006/main">
            <a:pPr algn="l">
              <a:buNone/>
              <a:defRPr sz="1350" b="1">
                <a:solidFill>
                  <a:srgbClr val="187A83"/>
                </a:solidFill>
                <a:latin typeface="Arial"/>
                <a:ea typeface="Arial"/>
                <a:cs typeface="Arial"/>
              </a:defRPr>
            </a:pPr>
            <a:r>
              <a:rPr sz="1350" b="1">
                <a:solidFill>
                  <a:srgbClr val="187A83"/>
                </a:solidFill>
                <a:latin typeface="Arial"/>
                <a:ea typeface="Arial"/>
                <a:cs typeface="Arial"/>
              </a:rPr>
              <a:t>03  Detection score</a:t>
            </a:r>
          </a:p>
        </p:txBody>
      </p:sp>
      <p:sp>
        <p:nvSpPr>
          <p:cNvPr id="12" name="">
            <a:extLst xmlns:a="http://schemas.openxmlformats.org/drawingml/2006/main">
              <a:ext uri="{FF2B5EF4-FFF2-40B4-BE49-F238E27FC236}">
                <a16:creationId xmlns:a16="http://schemas.microsoft.com/office/drawing/2014/main" id="{FA688889-3CEF-42FC-A38B-E0158F32BF38}"/>
              </a:ext>
            </a:extLst>
          </p:cNvPr>
          <p:cNvSpPr>
            <a:spLocks xmlns:a="http://schemas.openxmlformats.org/drawingml/2006/main" noGrp="1"/>
          </p:cNvSpPr>
          <p:nvPr/>
        </p:nvSpPr>
        <p:spPr>
          <a:xfrm xmlns:a="http://schemas.openxmlformats.org/drawingml/2006/main">
            <a:off x="3486150" y="3295650"/>
            <a:ext cx="7715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a:solidFill>
                  <a:srgbClr val="17334B"/>
                </a:solidFill>
                <a:latin typeface="Arial"/>
                <a:ea typeface="Arial"/>
                <a:cs typeface="Arial"/>
              </a:defRPr>
            </a:pPr>
            <a:r>
              <a:rPr sz="1350" b="0">
                <a:solidFill>
                  <a:srgbClr val="17334B"/>
                </a:solidFill>
                <a:latin typeface="Arial"/>
                <a:ea typeface="Arial"/>
                <a:cs typeface="Arial"/>
              </a:rPr>
              <a:t>Report recall, precision and false negatives for every entity class.</a:t>
            </a:r>
          </a:p>
        </p:txBody>
      </p:sp>
      <p:sp>
        <p:nvSpPr>
          <p:cNvPr id="13" name="">
            <a:extLst xmlns:a="http://schemas.openxmlformats.org/drawingml/2006/main">
              <a:ext uri="{FF2B5EF4-FFF2-40B4-BE49-F238E27FC236}">
                <a16:creationId xmlns:a16="http://schemas.microsoft.com/office/drawing/2014/main" id="{45B3B67B-CB16-4936-AD54-C393DDBDDBB3}"/>
              </a:ext>
            </a:extLst>
          </p:cNvPr>
          <p:cNvSpPr>
            <a:spLocks xmlns:a="http://schemas.openxmlformats.org/drawingml/2006/main" noGrp="1"/>
          </p:cNvSpPr>
          <p:nvPr/>
        </p:nvSpPr>
        <p:spPr>
          <a:xfrm xmlns:a="http://schemas.openxmlformats.org/drawingml/2006/main">
            <a:off x="685800" y="4067175"/>
            <a:ext cx="108204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1430">
            <a:solidFill>
              <a:srgbClr val="D5E0E7"/>
            </a:solidFill>
            <a:prstDash val="solid"/>
          </a:ln>
        </p:spPr>
      </p:sp>
      <p:sp>
        <p:nvSpPr>
          <p:cNvPr id="14" name="">
            <a:extLst xmlns:a="http://schemas.openxmlformats.org/drawingml/2006/main">
              <a:ext uri="{FF2B5EF4-FFF2-40B4-BE49-F238E27FC236}">
                <a16:creationId xmlns:a16="http://schemas.microsoft.com/office/drawing/2014/main" id="{AABF3B9F-17AF-4DEC-91BB-118FAC2EE38C}"/>
              </a:ext>
            </a:extLst>
          </p:cNvPr>
          <p:cNvSpPr>
            <a:spLocks xmlns:a="http://schemas.openxmlformats.org/drawingml/2006/main" noGrp="1"/>
          </p:cNvSpPr>
          <p:nvPr/>
        </p:nvSpPr>
        <p:spPr>
          <a:xfrm xmlns:a="http://schemas.openxmlformats.org/drawingml/2006/main">
            <a:off x="914400" y="41719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p xmlns:a="http://schemas.openxmlformats.org/drawingml/2006/main">
            <a:pPr algn="l">
              <a:buNone/>
              <a:defRPr sz="1350" b="1">
                <a:solidFill>
                  <a:srgbClr val="A14338"/>
                </a:solidFill>
                <a:latin typeface="Arial"/>
                <a:ea typeface="Arial"/>
                <a:cs typeface="Arial"/>
              </a:defRPr>
            </a:pPr>
            <a:r>
              <a:rPr sz="1350" b="1">
                <a:solidFill>
                  <a:srgbClr val="A14338"/>
                </a:solidFill>
                <a:latin typeface="Arial"/>
                <a:ea typeface="Arial"/>
                <a:cs typeface="Arial"/>
              </a:rPr>
              <a:t>04  Release gate</a:t>
            </a:r>
          </a:p>
        </p:txBody>
      </p:sp>
      <p:sp>
        <p:nvSpPr>
          <p:cNvPr id="15" name="">
            <a:extLst xmlns:a="http://schemas.openxmlformats.org/drawingml/2006/main">
              <a:ext uri="{FF2B5EF4-FFF2-40B4-BE49-F238E27FC236}">
                <a16:creationId xmlns:a16="http://schemas.microsoft.com/office/drawing/2014/main" id="{1D2E6AC7-5AD0-4526-9E99-3D881289CF7E}"/>
              </a:ext>
            </a:extLst>
          </p:cNvPr>
          <p:cNvSpPr>
            <a:spLocks xmlns:a="http://schemas.openxmlformats.org/drawingml/2006/main" noGrp="1"/>
          </p:cNvSpPr>
          <p:nvPr/>
        </p:nvSpPr>
        <p:spPr>
          <a:xfrm xmlns:a="http://schemas.openxmlformats.org/drawingml/2006/main">
            <a:off x="3486150" y="4162425"/>
            <a:ext cx="7715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a:solidFill>
                  <a:srgbClr val="17334B"/>
                </a:solidFill>
                <a:latin typeface="Arial"/>
                <a:ea typeface="Arial"/>
                <a:cs typeface="Arial"/>
              </a:defRPr>
            </a:pPr>
            <a:r>
              <a:rPr sz="1350" b="0">
                <a:solidFill>
                  <a:srgbClr val="17334B"/>
                </a:solidFill>
                <a:latin typeface="Arial"/>
                <a:ea typeface="Arial"/>
                <a:cs typeface="Arial"/>
              </a:rPr>
              <a:t>Block low-confidence OCR, unresolved spans and any parser gaps.</a:t>
            </a:r>
          </a:p>
        </p:txBody>
      </p:sp>
      <p:sp>
        <p:nvSpPr>
          <p:cNvPr id="16" name="">
            <a:extLst xmlns:a="http://schemas.openxmlformats.org/drawingml/2006/main">
              <a:ext uri="{FF2B5EF4-FFF2-40B4-BE49-F238E27FC236}">
                <a16:creationId xmlns:a16="http://schemas.microsoft.com/office/drawing/2014/main" id="{A23D31AF-A0F8-4B92-A0B3-05D196D8A2C0}"/>
              </a:ext>
            </a:extLst>
          </p:cNvPr>
          <p:cNvSpPr>
            <a:spLocks xmlns:a="http://schemas.openxmlformats.org/drawingml/2006/main" noGrp="1"/>
          </p:cNvSpPr>
          <p:nvPr/>
        </p:nvSpPr>
        <p:spPr>
          <a:xfrm xmlns:a="http://schemas.openxmlformats.org/drawingml/2006/main">
            <a:off x="685800" y="4933950"/>
            <a:ext cx="108204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1430">
            <a:solidFill>
              <a:srgbClr val="D5E0E7"/>
            </a:solidFill>
            <a:prstDash val="solid"/>
          </a:ln>
        </p:spPr>
      </p:sp>
      <p:sp>
        <p:nvSpPr>
          <p:cNvPr id="17" name="">
            <a:extLst xmlns:a="http://schemas.openxmlformats.org/drawingml/2006/main">
              <a:ext uri="{FF2B5EF4-FFF2-40B4-BE49-F238E27FC236}">
                <a16:creationId xmlns:a16="http://schemas.microsoft.com/office/drawing/2014/main" id="{5DC18706-6A59-439B-95AA-B257FF5ED4FE}"/>
              </a:ext>
            </a:extLst>
          </p:cNvPr>
          <p:cNvSpPr>
            <a:spLocks xmlns:a="http://schemas.openxmlformats.org/drawingml/2006/main" noGrp="1"/>
          </p:cNvSpPr>
          <p:nvPr/>
        </p:nvSpPr>
        <p:spPr>
          <a:xfrm xmlns:a="http://schemas.openxmlformats.org/drawingml/2006/main">
            <a:off x="914400" y="503872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p xmlns:a="http://schemas.openxmlformats.org/drawingml/2006/main">
            <a:pPr algn="l">
              <a:buNone/>
              <a:defRPr sz="1350" b="1">
                <a:solidFill>
                  <a:srgbClr val="187A83"/>
                </a:solidFill>
                <a:latin typeface="Arial"/>
                <a:ea typeface="Arial"/>
                <a:cs typeface="Arial"/>
              </a:defRPr>
            </a:pPr>
            <a:r>
              <a:rPr sz="1350" b="1">
                <a:solidFill>
                  <a:srgbClr val="187A83"/>
                </a:solidFill>
                <a:latin typeface="Arial"/>
                <a:ea typeface="Arial"/>
                <a:cs typeface="Arial"/>
              </a:rPr>
              <a:t>05  Human review</a:t>
            </a:r>
          </a:p>
        </p:txBody>
      </p:sp>
      <p:sp>
        <p:nvSpPr>
          <p:cNvPr id="18" name="">
            <a:extLst xmlns:a="http://schemas.openxmlformats.org/drawingml/2006/main">
              <a:ext uri="{FF2B5EF4-FFF2-40B4-BE49-F238E27FC236}">
                <a16:creationId xmlns:a16="http://schemas.microsoft.com/office/drawing/2014/main" id="{4C66B29A-93CF-40BF-8D1F-8454852DB140}"/>
              </a:ext>
            </a:extLst>
          </p:cNvPr>
          <p:cNvSpPr>
            <a:spLocks xmlns:a="http://schemas.openxmlformats.org/drawingml/2006/main" noGrp="1"/>
          </p:cNvSpPr>
          <p:nvPr/>
        </p:nvSpPr>
        <p:spPr>
          <a:xfrm xmlns:a="http://schemas.openxmlformats.org/drawingml/2006/main">
            <a:off x="3486150" y="5029200"/>
            <a:ext cx="7715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a:solidFill>
                  <a:srgbClr val="17334B"/>
                </a:solidFill>
                <a:latin typeface="Arial"/>
                <a:ea typeface="Arial"/>
                <a:cs typeface="Arial"/>
              </a:defRPr>
            </a:pPr>
            <a:r>
              <a:rPr sz="1350" b="0">
                <a:solidFill>
                  <a:srgbClr val="17334B"/>
                </a:solidFill>
                <a:latin typeface="Arial"/>
                <a:ea typeface="Arial"/>
                <a:cs typeface="Arial"/>
              </a:rPr>
              <a:t>Sample high-risk files; reconcile misses; version rules and seed data.</a:t>
            </a:r>
          </a:p>
        </p:txBody>
      </p:sp>
      <p:sp>
        <p:nvSpPr>
          <p:cNvPr id="19" name="">
            <a:extLst xmlns:a="http://schemas.openxmlformats.org/drawingml/2006/main">
              <a:ext uri="{FF2B5EF4-FFF2-40B4-BE49-F238E27FC236}">
                <a16:creationId xmlns:a16="http://schemas.microsoft.com/office/drawing/2014/main" id="{0305046E-B45E-4676-893E-EB7778C6CD05}"/>
              </a:ext>
            </a:extLst>
          </p:cNvPr>
          <p:cNvSpPr>
            <a:spLocks xmlns:a="http://schemas.openxmlformats.org/drawingml/2006/main" noGrp="1"/>
          </p:cNvSpPr>
          <p:nvPr/>
        </p:nvSpPr>
        <p:spPr>
          <a:xfrm xmlns:a="http://schemas.openxmlformats.org/drawingml/2006/main">
            <a:off x="685800" y="5962650"/>
            <a:ext cx="10820400" cy="352425"/>
          </a:xfrm>
          <a:prstGeom xmlns:a="http://schemas.openxmlformats.org/drawingml/2006/main" prst="roundRect">
            <a:avLst>
              <a:gd name="adj" fmla="val 32432"/>
            </a:avLst>
          </a:prstGeom>
          <a:solidFill xmlns:a="http://schemas.openxmlformats.org/drawingml/2006/main">
            <a:srgbClr val="F8EAE7"/>
          </a:solidFill>
          <a:ln xmlns:a="http://schemas.openxmlformats.org/drawingml/2006/main" w="11430">
            <a:solidFill>
              <a:srgbClr val="F8EAE7"/>
            </a:solidFill>
            <a:prstDash val="solid"/>
          </a:ln>
        </p:spPr>
      </p:sp>
      <p:sp>
        <p:nvSpPr>
          <p:cNvPr id="20" name="">
            <a:extLst xmlns:a="http://schemas.openxmlformats.org/drawingml/2006/main">
              <a:ext uri="{FF2B5EF4-FFF2-40B4-BE49-F238E27FC236}">
                <a16:creationId xmlns:a16="http://schemas.microsoft.com/office/drawing/2014/main" id="{03C224E1-3AC1-4424-B2C0-D8FFD920D51D}"/>
              </a:ext>
            </a:extLst>
          </p:cNvPr>
          <p:cNvSpPr>
            <a:spLocks xmlns:a="http://schemas.openxmlformats.org/drawingml/2006/main" noGrp="1"/>
          </p:cNvSpPr>
          <p:nvPr/>
        </p:nvSpPr>
        <p:spPr>
          <a:xfrm xmlns:a="http://schemas.openxmlformats.org/drawingml/2006/main">
            <a:off x="857250" y="6000750"/>
            <a:ext cx="1047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p xmlns:a="http://schemas.openxmlformats.org/drawingml/2006/main">
            <a:pPr algn="l">
              <a:buNone/>
              <a:defRPr sz="1275" b="1">
                <a:solidFill>
                  <a:srgbClr val="A14338"/>
                </a:solidFill>
                <a:latin typeface="Arial"/>
                <a:ea typeface="Arial"/>
                <a:cs typeface="Arial"/>
              </a:defRPr>
            </a:pPr>
            <a:r>
              <a:rPr sz="1275" b="1">
                <a:solidFill>
                  <a:srgbClr val="A14338"/>
                </a:solidFill>
                <a:latin typeface="Arial"/>
                <a:ea typeface="Arial"/>
                <a:cs typeface="Arial"/>
              </a:rPr>
              <a:t>Current status: prototype only; the ≥80% retention and near-100% detection targets remain unverified.</a:t>
            </a:r>
          </a:p>
        </p:txBody>
      </p:sp>
      <p:sp>
        <p:nvSpPr>
          <p:cNvPr id="21" name="">
            <a:extLst xmlns:a="http://schemas.openxmlformats.org/drawingml/2006/main">
              <a:ext uri="{FF2B5EF4-FFF2-40B4-BE49-F238E27FC236}">
                <a16:creationId xmlns:a16="http://schemas.microsoft.com/office/drawing/2014/main" id="{28B405E3-9FAD-42EC-BFCC-7F0278BA4AF4}"/>
              </a:ext>
            </a:extLst>
          </p:cNvPr>
          <p:cNvSpPr>
            <a:spLocks xmlns:a="http://schemas.openxmlformats.org/drawingml/2006/main" noGrp="1"/>
          </p:cNvSpPr>
          <p:nvPr/>
        </p:nvSpPr>
        <p:spPr>
          <a:xfrm xmlns:a="http://schemas.openxmlformats.org/drawingml/2006/main">
            <a:off x="685800" y="655320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48485"/>
          </a:bodyPr>
          <a:lstStyle xmlns:a="http://schemas.openxmlformats.org/drawingml/2006/main"/>
          <a:p xmlns:a="http://schemas.openxmlformats.org/drawingml/2006/main">
            <a:pPr algn="l">
              <a:buNone/>
              <a:defRPr sz="825" b="0">
                <a:solidFill>
                  <a:srgbClr val="536D81"/>
                </a:solidFill>
                <a:latin typeface="Arial"/>
                <a:ea typeface="Arial"/>
                <a:cs typeface="Arial"/>
              </a:defRPr>
            </a:pPr>
            <a:r>
              <a:rPr sz="825" b="0">
                <a:solidFill>
                  <a:srgbClr val="536D81"/>
                </a:solidFill>
                <a:latin typeface="Arial"/>
                <a:ea typeface="Arial"/>
                <a:cs typeface="Arial"/>
              </a:rPr>
              <a:t>OPTIV  ·  VIT 2026  |  CASE STUDY 2  |  11</a:t>
            </a:r>
          </a:p>
        </p:txBody>
      </p:sp>
    </p:spTree>
    <p:extLst>
      <p:ext uri="{BB962C8B-B14F-4D97-AF65-F5344CB8AC3E}">
        <p14:creationId xmlns:p14="http://schemas.microsoft.com/office/powerpoint/2010/main" val="1134067141"/>
      </p:ext>
    </p:extLst>
  </p:cSld>
</p:sld>
</file>

<file path=ppt/slides/slide12.xml><?xml version="1.0" encoding="utf-8"?>
<p:sld xmlns:p="http://schemas.openxmlformats.org/presentationml/2006/main">
  <p:cSld>
    <p:bg>
      <p:bgPr>
        <a:solidFill xmlns:a="http://schemas.openxmlformats.org/drawingml/2006/main">
          <a:srgbClr val="F3F6F8"/>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F7B0BB72-08A5-4FBC-B4AB-2D4293C841A1}"/>
              </a:ext>
            </a:extLst>
          </p:cNvPr>
          <p:cNvSpPr>
            <a:spLocks xmlns:a="http://schemas.openxmlformats.org/drawingml/2006/main" noGrp="1"/>
          </p:cNvSpPr>
          <p:nvPr/>
        </p:nvSpPr>
        <p:spPr>
          <a:xfrm xmlns:a="http://schemas.openxmlformats.org/drawingml/2006/main">
            <a:off x="685800" y="20955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762"/>
          </a:bodyPr>
          <a:lstStyle xmlns:a="http://schemas.openxmlformats.org/drawingml/2006/main"/>
          <a:p xmlns:a="http://schemas.openxmlformats.org/drawingml/2006/main">
            <a:pPr algn="l">
              <a:buNone/>
              <a:defRPr sz="1050" b="1">
                <a:solidFill>
                  <a:srgbClr val="187A83"/>
                </a:solidFill>
                <a:latin typeface="Arial"/>
                <a:ea typeface="Arial"/>
                <a:cs typeface="Arial"/>
              </a:defRPr>
            </a:pPr>
            <a:r>
              <a:rPr sz="1050" b="1">
                <a:solidFill>
                  <a:srgbClr val="187A83"/>
                </a:solidFill>
                <a:latin typeface="Arial"/>
                <a:ea typeface="Arial"/>
                <a:cs typeface="Arial"/>
              </a:rPr>
              <a:t>CASE STUDY 2  /  CADENCE</a:t>
            </a:r>
          </a:p>
        </p:txBody>
      </p:sp>
      <p:sp>
        <p:nvSpPr>
          <p:cNvPr id="2" name="">
            <a:extLst xmlns:a="http://schemas.openxmlformats.org/drawingml/2006/main">
              <a:ext uri="{FF2B5EF4-FFF2-40B4-BE49-F238E27FC236}">
                <a16:creationId xmlns:a16="http://schemas.microsoft.com/office/drawing/2014/main" id="{908F489B-1BD2-4BD6-9616-EA2F204D41C2}"/>
              </a:ext>
            </a:extLst>
          </p:cNvPr>
          <p:cNvSpPr>
            <a:spLocks xmlns:a="http://schemas.openxmlformats.org/drawingml/2006/main" noGrp="1"/>
          </p:cNvSpPr>
          <p:nvPr/>
        </p:nvSpPr>
        <p:spPr>
          <a:xfrm xmlns:a="http://schemas.openxmlformats.org/drawingml/2006/main">
            <a:off x="685800" y="4953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850" b="1">
                <a:solidFill>
                  <a:srgbClr val="102C49"/>
                </a:solidFill>
                <a:latin typeface="Arial"/>
                <a:ea typeface="Arial"/>
                <a:cs typeface="Arial"/>
              </a:defRPr>
            </a:pPr>
            <a:r>
              <a:rPr sz="2850" b="1">
                <a:solidFill>
                  <a:srgbClr val="102C49"/>
                </a:solidFill>
                <a:latin typeface="Arial"/>
                <a:ea typeface="Arial"/>
                <a:cs typeface="Arial"/>
              </a:rPr>
              <a:t>Live walkthrough | a repeatable reviewer journey</a:t>
            </a:r>
          </a:p>
        </p:txBody>
      </p:sp>
      <p:sp>
        <p:nvSpPr>
          <p:cNvPr id="3" name="">
            <a:extLst xmlns:a="http://schemas.openxmlformats.org/drawingml/2006/main">
              <a:ext uri="{FF2B5EF4-FFF2-40B4-BE49-F238E27FC236}">
                <a16:creationId xmlns:a16="http://schemas.microsoft.com/office/drawing/2014/main" id="{1D0CB75B-11D7-4473-9082-5308208C6E93}"/>
              </a:ext>
            </a:extLst>
          </p:cNvPr>
          <p:cNvSpPr>
            <a:spLocks xmlns:a="http://schemas.openxmlformats.org/drawingml/2006/main" noGrp="1"/>
          </p:cNvSpPr>
          <p:nvPr/>
        </p:nvSpPr>
        <p:spPr>
          <a:xfrm xmlns:a="http://schemas.openxmlformats.org/drawingml/2006/main">
            <a:off x="685800" y="1162050"/>
            <a:ext cx="10820400" cy="0"/>
          </a:xfrm>
          <a:prstGeom xmlns:a="http://schemas.openxmlformats.org/drawingml/2006/main" prst="line">
            <a:avLst/>
          </a:prstGeom>
          <a:noFill xmlns:a="http://schemas.openxmlformats.org/drawingml/2006/main"/>
          <a:ln xmlns:a="http://schemas.openxmlformats.org/drawingml/2006/main" w="11430">
            <a:solidFill>
              <a:srgbClr val="D5E0E7"/>
            </a:solidFill>
            <a:prstDash val="solid"/>
          </a:ln>
        </p:spPr>
      </p:sp>
      <p:sp>
        <p:nvSpPr>
          <p:cNvPr id="4" name="">
            <a:extLst xmlns:a="http://schemas.openxmlformats.org/drawingml/2006/main">
              <a:ext uri="{FF2B5EF4-FFF2-40B4-BE49-F238E27FC236}">
                <a16:creationId xmlns:a16="http://schemas.microsoft.com/office/drawing/2014/main" id="{6D6A0807-4826-4EA9-ADB6-38E3E60C2FDD}"/>
              </a:ext>
            </a:extLst>
          </p:cNvPr>
          <p:cNvSpPr>
            <a:spLocks xmlns:a="http://schemas.openxmlformats.org/drawingml/2006/main" noGrp="1"/>
          </p:cNvSpPr>
          <p:nvPr/>
        </p:nvSpPr>
        <p:spPr>
          <a:xfrm xmlns:a="http://schemas.openxmlformats.org/drawingml/2006/main">
            <a:off x="685800" y="1438275"/>
            <a:ext cx="108204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1430">
            <a:solidFill>
              <a:srgbClr val="D5E0E7"/>
            </a:solidFill>
            <a:prstDash val="solid"/>
          </a:ln>
        </p:spPr>
      </p:sp>
      <p:sp>
        <p:nvSpPr>
          <p:cNvPr id="5" name="">
            <a:extLst xmlns:a="http://schemas.openxmlformats.org/drawingml/2006/main">
              <a:ext uri="{FF2B5EF4-FFF2-40B4-BE49-F238E27FC236}">
                <a16:creationId xmlns:a16="http://schemas.microsoft.com/office/drawing/2014/main" id="{785F13BD-94B5-41DE-95DF-117329ACCBCE}"/>
              </a:ext>
            </a:extLst>
          </p:cNvPr>
          <p:cNvSpPr>
            <a:spLocks xmlns:a="http://schemas.openxmlformats.org/drawingml/2006/main" noGrp="1"/>
          </p:cNvSpPr>
          <p:nvPr/>
        </p:nvSpPr>
        <p:spPr>
          <a:xfrm xmlns:a="http://schemas.openxmlformats.org/drawingml/2006/main">
            <a:off x="876300" y="1609725"/>
            <a:ext cx="381000" cy="285750"/>
          </a:xfrm>
          <a:prstGeom xmlns:a="http://schemas.openxmlformats.org/drawingml/2006/main" prst="roundRect">
            <a:avLst>
              <a:gd name="adj" fmla="val 40000"/>
            </a:avLst>
          </a:prstGeom>
          <a:solidFill xmlns:a="http://schemas.openxmlformats.org/drawingml/2006/main">
            <a:srgbClr val="102C49"/>
          </a:solidFill>
          <a:ln xmlns:a="http://schemas.openxmlformats.org/drawingml/2006/main" w="11430">
            <a:solidFill>
              <a:srgbClr val="102C49"/>
            </a:solidFill>
            <a:prstDash val="solid"/>
          </a:ln>
        </p:spPr>
      </p:sp>
      <p:sp>
        <p:nvSpPr>
          <p:cNvPr id="6" name="">
            <a:extLst xmlns:a="http://schemas.openxmlformats.org/drawingml/2006/main">
              <a:ext uri="{FF2B5EF4-FFF2-40B4-BE49-F238E27FC236}">
                <a16:creationId xmlns:a16="http://schemas.microsoft.com/office/drawing/2014/main" id="{3F780FDF-F093-4A3C-A578-52989E134ABB}"/>
              </a:ext>
            </a:extLst>
          </p:cNvPr>
          <p:cNvSpPr>
            <a:spLocks xmlns:a="http://schemas.openxmlformats.org/drawingml/2006/main" noGrp="1"/>
          </p:cNvSpPr>
          <p:nvPr/>
        </p:nvSpPr>
        <p:spPr>
          <a:xfrm xmlns:a="http://schemas.openxmlformats.org/drawingml/2006/main">
            <a:off x="933450" y="1619250"/>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619"/>
          </a:bodyPr>
          <a:lstStyle xmlns:a="http://schemas.openxmlformats.org/drawingml/2006/main"/>
          <a:p xmlns:a="http://schemas.openxmlformats.org/drawingml/2006/main">
            <a:pPr algn="ctr">
              <a:buNone/>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C93AFDF8-3E94-42DD-B1BE-EDB5878C78AF}"/>
              </a:ext>
            </a:extLst>
          </p:cNvPr>
          <p:cNvSpPr>
            <a:spLocks xmlns:a="http://schemas.openxmlformats.org/drawingml/2006/main" noGrp="1"/>
          </p:cNvSpPr>
          <p:nvPr/>
        </p:nvSpPr>
        <p:spPr>
          <a:xfrm xmlns:a="http://schemas.openxmlformats.org/drawingml/2006/main">
            <a:off x="1466850" y="155257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474"/>
          </a:bodyPr>
          <a:lstStyle xmlns:a="http://schemas.openxmlformats.org/drawingml/2006/main"/>
          <a:p xmlns:a="http://schemas.openxmlformats.org/drawingml/2006/main">
            <a:pPr algn="l">
              <a:buNone/>
              <a:defRPr sz="1425" b="1">
                <a:solidFill>
                  <a:srgbClr val="102C49"/>
                </a:solidFill>
                <a:latin typeface="Arial"/>
                <a:ea typeface="Arial"/>
                <a:cs typeface="Arial"/>
              </a:defRPr>
            </a:pPr>
            <a:r>
              <a:rPr sz="1425" b="1">
                <a:solidFill>
                  <a:srgbClr val="102C49"/>
                </a:solidFill>
                <a:latin typeface="Arial"/>
                <a:ea typeface="Arial"/>
                <a:cs typeface="Arial"/>
              </a:rPr>
              <a:t>Launch</a:t>
            </a:r>
          </a:p>
        </p:txBody>
      </p:sp>
      <p:sp>
        <p:nvSpPr>
          <p:cNvPr id="8" name="">
            <a:extLst xmlns:a="http://schemas.openxmlformats.org/drawingml/2006/main">
              <a:ext uri="{FF2B5EF4-FFF2-40B4-BE49-F238E27FC236}">
                <a16:creationId xmlns:a16="http://schemas.microsoft.com/office/drawing/2014/main" id="{2A01E0CD-5716-4B3B-87B9-9515281031CF}"/>
              </a:ext>
            </a:extLst>
          </p:cNvPr>
          <p:cNvSpPr>
            <a:spLocks xmlns:a="http://schemas.openxmlformats.org/drawingml/2006/main" noGrp="1"/>
          </p:cNvSpPr>
          <p:nvPr/>
        </p:nvSpPr>
        <p:spPr>
          <a:xfrm xmlns:a="http://schemas.openxmlformats.org/drawingml/2006/main">
            <a:off x="3086100" y="15335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a:solidFill>
                  <a:srgbClr val="17334B"/>
                </a:solidFill>
                <a:latin typeface="Arial"/>
                <a:ea typeface="Arial"/>
                <a:cs typeface="Arial"/>
              </a:defRPr>
            </a:pPr>
            <a:r>
              <a:rPr sz="1350" b="0">
                <a:solidFill>
                  <a:srgbClr val="17334B"/>
                </a:solidFill>
                <a:latin typeface="Arial"/>
                <a:ea typeface="Arial"/>
                <a:cs typeface="Arial"/>
              </a:rPr>
              <a:t>Run the local launcher; open localhost:8765.</a:t>
            </a:r>
          </a:p>
        </p:txBody>
      </p:sp>
      <p:sp>
        <p:nvSpPr>
          <p:cNvPr id="9" name="">
            <a:extLst xmlns:a="http://schemas.openxmlformats.org/drawingml/2006/main">
              <a:ext uri="{FF2B5EF4-FFF2-40B4-BE49-F238E27FC236}">
                <a16:creationId xmlns:a16="http://schemas.microsoft.com/office/drawing/2014/main" id="{9CE95A93-59B3-4E40-8D83-224E203940F5}"/>
              </a:ext>
            </a:extLst>
          </p:cNvPr>
          <p:cNvSpPr>
            <a:spLocks xmlns:a="http://schemas.openxmlformats.org/drawingml/2006/main" noGrp="1"/>
          </p:cNvSpPr>
          <p:nvPr/>
        </p:nvSpPr>
        <p:spPr>
          <a:xfrm xmlns:a="http://schemas.openxmlformats.org/drawingml/2006/main">
            <a:off x="685800" y="2286000"/>
            <a:ext cx="108204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1430">
            <a:solidFill>
              <a:srgbClr val="D5E0E7"/>
            </a:solidFill>
            <a:prstDash val="solid"/>
          </a:ln>
        </p:spPr>
      </p:sp>
      <p:sp>
        <p:nvSpPr>
          <p:cNvPr id="10" name="">
            <a:extLst xmlns:a="http://schemas.openxmlformats.org/drawingml/2006/main">
              <a:ext uri="{FF2B5EF4-FFF2-40B4-BE49-F238E27FC236}">
                <a16:creationId xmlns:a16="http://schemas.microsoft.com/office/drawing/2014/main" id="{811DD625-F59B-406D-B892-01F19C1E7407}"/>
              </a:ext>
            </a:extLst>
          </p:cNvPr>
          <p:cNvSpPr>
            <a:spLocks xmlns:a="http://schemas.openxmlformats.org/drawingml/2006/main" noGrp="1"/>
          </p:cNvSpPr>
          <p:nvPr/>
        </p:nvSpPr>
        <p:spPr>
          <a:xfrm xmlns:a="http://schemas.openxmlformats.org/drawingml/2006/main">
            <a:off x="876300" y="2457450"/>
            <a:ext cx="381000" cy="285750"/>
          </a:xfrm>
          <a:prstGeom xmlns:a="http://schemas.openxmlformats.org/drawingml/2006/main" prst="roundRect">
            <a:avLst>
              <a:gd name="adj" fmla="val 40000"/>
            </a:avLst>
          </a:prstGeom>
          <a:solidFill xmlns:a="http://schemas.openxmlformats.org/drawingml/2006/main">
            <a:srgbClr val="102C49"/>
          </a:solidFill>
          <a:ln xmlns:a="http://schemas.openxmlformats.org/drawingml/2006/main" w="11430">
            <a:solidFill>
              <a:srgbClr val="102C49"/>
            </a:solidFill>
            <a:prstDash val="solid"/>
          </a:ln>
        </p:spPr>
      </p:sp>
      <p:sp>
        <p:nvSpPr>
          <p:cNvPr id="11" name="">
            <a:extLst xmlns:a="http://schemas.openxmlformats.org/drawingml/2006/main">
              <a:ext uri="{FF2B5EF4-FFF2-40B4-BE49-F238E27FC236}">
                <a16:creationId xmlns:a16="http://schemas.microsoft.com/office/drawing/2014/main" id="{22A059AE-328E-401F-810E-0FC8499A78D8}"/>
              </a:ext>
            </a:extLst>
          </p:cNvPr>
          <p:cNvSpPr>
            <a:spLocks xmlns:a="http://schemas.openxmlformats.org/drawingml/2006/main" noGrp="1"/>
          </p:cNvSpPr>
          <p:nvPr/>
        </p:nvSpPr>
        <p:spPr>
          <a:xfrm xmlns:a="http://schemas.openxmlformats.org/drawingml/2006/main">
            <a:off x="933450" y="246697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619"/>
          </a:bodyPr>
          <a:lstStyle xmlns:a="http://schemas.openxmlformats.org/drawingml/2006/main"/>
          <a:p xmlns:a="http://schemas.openxmlformats.org/drawingml/2006/main">
            <a:pPr algn="ctr">
              <a:buNone/>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880C8FC0-D17E-4F5B-B080-0DE3FB4CD892}"/>
              </a:ext>
            </a:extLst>
          </p:cNvPr>
          <p:cNvSpPr>
            <a:spLocks xmlns:a="http://schemas.openxmlformats.org/drawingml/2006/main" noGrp="1"/>
          </p:cNvSpPr>
          <p:nvPr/>
        </p:nvSpPr>
        <p:spPr>
          <a:xfrm xmlns:a="http://schemas.openxmlformats.org/drawingml/2006/main">
            <a:off x="1466850" y="24003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474"/>
          </a:bodyPr>
          <a:lstStyle xmlns:a="http://schemas.openxmlformats.org/drawingml/2006/main"/>
          <a:p xmlns:a="http://schemas.openxmlformats.org/drawingml/2006/main">
            <a:pPr algn="l">
              <a:buNone/>
              <a:defRPr sz="1425" b="1">
                <a:solidFill>
                  <a:srgbClr val="102C49"/>
                </a:solidFill>
                <a:latin typeface="Arial"/>
                <a:ea typeface="Arial"/>
                <a:cs typeface="Arial"/>
              </a:defRPr>
            </a:pPr>
            <a:r>
              <a:rPr sz="1425" b="1">
                <a:solidFill>
                  <a:srgbClr val="102C49"/>
                </a:solidFill>
                <a:latin typeface="Arial"/>
                <a:ea typeface="Arial"/>
                <a:cs typeface="Arial"/>
              </a:rPr>
              <a:t>Upload</a:t>
            </a:r>
          </a:p>
        </p:txBody>
      </p:sp>
      <p:sp>
        <p:nvSpPr>
          <p:cNvPr id="13" name="">
            <a:extLst xmlns:a="http://schemas.openxmlformats.org/drawingml/2006/main">
              <a:ext uri="{FF2B5EF4-FFF2-40B4-BE49-F238E27FC236}">
                <a16:creationId xmlns:a16="http://schemas.microsoft.com/office/drawing/2014/main" id="{3799EA0D-FB32-480D-A278-6B7FE4B0ACD3}"/>
              </a:ext>
            </a:extLst>
          </p:cNvPr>
          <p:cNvSpPr>
            <a:spLocks xmlns:a="http://schemas.openxmlformats.org/drawingml/2006/main" noGrp="1"/>
          </p:cNvSpPr>
          <p:nvPr/>
        </p:nvSpPr>
        <p:spPr>
          <a:xfrm xmlns:a="http://schemas.openxmlformats.org/drawingml/2006/main">
            <a:off x="3086100" y="2381250"/>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a:solidFill>
                  <a:srgbClr val="17334B"/>
                </a:solidFill>
                <a:latin typeface="Arial"/>
                <a:ea typeface="Arial"/>
                <a:cs typeface="Arial"/>
              </a:defRPr>
            </a:pPr>
            <a:r>
              <a:rPr sz="1350" b="0">
                <a:solidFill>
                  <a:srgbClr val="17334B"/>
                </a:solidFill>
                <a:latin typeface="Arial"/>
                <a:ea typeface="Arial"/>
                <a:cs typeface="Arial"/>
              </a:rPr>
              <a:t>Select the supplied PDF, PPTX and DOCX artifacts.</a:t>
            </a:r>
          </a:p>
        </p:txBody>
      </p:sp>
      <p:sp>
        <p:nvSpPr>
          <p:cNvPr id="14" name="">
            <a:extLst xmlns:a="http://schemas.openxmlformats.org/drawingml/2006/main">
              <a:ext uri="{FF2B5EF4-FFF2-40B4-BE49-F238E27FC236}">
                <a16:creationId xmlns:a16="http://schemas.microsoft.com/office/drawing/2014/main" id="{342D5446-D1EF-4AF3-B1F6-F317D346F427}"/>
              </a:ext>
            </a:extLst>
          </p:cNvPr>
          <p:cNvSpPr>
            <a:spLocks xmlns:a="http://schemas.openxmlformats.org/drawingml/2006/main" noGrp="1"/>
          </p:cNvSpPr>
          <p:nvPr/>
        </p:nvSpPr>
        <p:spPr>
          <a:xfrm xmlns:a="http://schemas.openxmlformats.org/drawingml/2006/main">
            <a:off x="685800" y="3133725"/>
            <a:ext cx="108204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1430">
            <a:solidFill>
              <a:srgbClr val="D5E0E7"/>
            </a:solidFill>
            <a:prstDash val="solid"/>
          </a:ln>
        </p:spPr>
      </p:sp>
      <p:sp>
        <p:nvSpPr>
          <p:cNvPr id="15" name="">
            <a:extLst xmlns:a="http://schemas.openxmlformats.org/drawingml/2006/main">
              <a:ext uri="{FF2B5EF4-FFF2-40B4-BE49-F238E27FC236}">
                <a16:creationId xmlns:a16="http://schemas.microsoft.com/office/drawing/2014/main" id="{2B6848CC-9EF5-4B67-A0C8-6E4FE7129D3E}"/>
              </a:ext>
            </a:extLst>
          </p:cNvPr>
          <p:cNvSpPr>
            <a:spLocks xmlns:a="http://schemas.openxmlformats.org/drawingml/2006/main" noGrp="1"/>
          </p:cNvSpPr>
          <p:nvPr/>
        </p:nvSpPr>
        <p:spPr>
          <a:xfrm xmlns:a="http://schemas.openxmlformats.org/drawingml/2006/main">
            <a:off x="876300" y="3305175"/>
            <a:ext cx="381000" cy="285750"/>
          </a:xfrm>
          <a:prstGeom xmlns:a="http://schemas.openxmlformats.org/drawingml/2006/main" prst="roundRect">
            <a:avLst>
              <a:gd name="adj" fmla="val 40000"/>
            </a:avLst>
          </a:prstGeom>
          <a:solidFill xmlns:a="http://schemas.openxmlformats.org/drawingml/2006/main">
            <a:srgbClr val="102C49"/>
          </a:solidFill>
          <a:ln xmlns:a="http://schemas.openxmlformats.org/drawingml/2006/main" w="11430">
            <a:solidFill>
              <a:srgbClr val="102C49"/>
            </a:solidFill>
            <a:prstDash val="solid"/>
          </a:ln>
        </p:spPr>
      </p:sp>
      <p:sp>
        <p:nvSpPr>
          <p:cNvPr id="16" name="">
            <a:extLst xmlns:a="http://schemas.openxmlformats.org/drawingml/2006/main">
              <a:ext uri="{FF2B5EF4-FFF2-40B4-BE49-F238E27FC236}">
                <a16:creationId xmlns:a16="http://schemas.microsoft.com/office/drawing/2014/main" id="{37CFF8AE-00B0-437B-8CEA-451D93000236}"/>
              </a:ext>
            </a:extLst>
          </p:cNvPr>
          <p:cNvSpPr>
            <a:spLocks xmlns:a="http://schemas.openxmlformats.org/drawingml/2006/main" noGrp="1"/>
          </p:cNvSpPr>
          <p:nvPr/>
        </p:nvSpPr>
        <p:spPr>
          <a:xfrm xmlns:a="http://schemas.openxmlformats.org/drawingml/2006/main">
            <a:off x="933450" y="3314700"/>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619"/>
          </a:bodyPr>
          <a:lstStyle xmlns:a="http://schemas.openxmlformats.org/drawingml/2006/main"/>
          <a:p xmlns:a="http://schemas.openxmlformats.org/drawingml/2006/main">
            <a:pPr algn="ctr">
              <a:buNone/>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7" name="">
            <a:extLst xmlns:a="http://schemas.openxmlformats.org/drawingml/2006/main">
              <a:ext uri="{FF2B5EF4-FFF2-40B4-BE49-F238E27FC236}">
                <a16:creationId xmlns:a16="http://schemas.microsoft.com/office/drawing/2014/main" id="{C2C68CEC-D761-4324-A1C1-A3DC2F16EF39}"/>
              </a:ext>
            </a:extLst>
          </p:cNvPr>
          <p:cNvSpPr>
            <a:spLocks xmlns:a="http://schemas.openxmlformats.org/drawingml/2006/main" noGrp="1"/>
          </p:cNvSpPr>
          <p:nvPr/>
        </p:nvSpPr>
        <p:spPr>
          <a:xfrm xmlns:a="http://schemas.openxmlformats.org/drawingml/2006/main">
            <a:off x="1466850" y="324802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474"/>
          </a:bodyPr>
          <a:lstStyle xmlns:a="http://schemas.openxmlformats.org/drawingml/2006/main"/>
          <a:p xmlns:a="http://schemas.openxmlformats.org/drawingml/2006/main">
            <a:pPr algn="l">
              <a:buNone/>
              <a:defRPr sz="1425" b="1">
                <a:solidFill>
                  <a:srgbClr val="102C49"/>
                </a:solidFill>
                <a:latin typeface="Arial"/>
                <a:ea typeface="Arial"/>
                <a:cs typeface="Arial"/>
              </a:defRPr>
            </a:pPr>
            <a:r>
              <a:rPr sz="1425" b="1">
                <a:solidFill>
                  <a:srgbClr val="102C49"/>
                </a:solidFill>
                <a:latin typeface="Arial"/>
                <a:ea typeface="Arial"/>
                <a:cs typeface="Arial"/>
              </a:rPr>
              <a:t>Extract</a:t>
            </a:r>
          </a:p>
        </p:txBody>
      </p:sp>
      <p:sp>
        <p:nvSpPr>
          <p:cNvPr id="18" name="">
            <a:extLst xmlns:a="http://schemas.openxmlformats.org/drawingml/2006/main">
              <a:ext uri="{FF2B5EF4-FFF2-40B4-BE49-F238E27FC236}">
                <a16:creationId xmlns:a16="http://schemas.microsoft.com/office/drawing/2014/main" id="{F8153A11-26E7-437F-823B-63EEC064CDDD}"/>
              </a:ext>
            </a:extLst>
          </p:cNvPr>
          <p:cNvSpPr>
            <a:spLocks xmlns:a="http://schemas.openxmlformats.org/drawingml/2006/main" noGrp="1"/>
          </p:cNvSpPr>
          <p:nvPr/>
        </p:nvSpPr>
        <p:spPr>
          <a:xfrm xmlns:a="http://schemas.openxmlformats.org/drawingml/2006/main">
            <a:off x="3086100" y="322897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769"/>
          </a:bodyPr>
          <a:lstStyle xmlns:a="http://schemas.openxmlformats.org/drawingml/2006/main"/>
          <a:p xmlns:a="http://schemas.openxmlformats.org/drawingml/2006/main">
            <a:pPr algn="l">
              <a:buNone/>
              <a:defRPr sz="1350" b="0">
                <a:solidFill>
                  <a:srgbClr val="17334B"/>
                </a:solidFill>
                <a:latin typeface="Arial"/>
                <a:ea typeface="Arial"/>
                <a:cs typeface="Arial"/>
              </a:defRPr>
            </a:pPr>
            <a:r>
              <a:rPr sz="1350" b="0">
                <a:solidFill>
                  <a:srgbClr val="17334B"/>
                </a:solidFill>
                <a:latin typeface="Arial"/>
                <a:ea typeface="Arial"/>
                <a:cs typeface="Arial"/>
              </a:rPr>
              <a:t>Enable OCR for the scanned policy; review quarantine reasons. Per-page OCR scores are not shown in this UI.</a:t>
            </a:r>
          </a:p>
        </p:txBody>
      </p:sp>
      <p:sp>
        <p:nvSpPr>
          <p:cNvPr id="19" name="">
            <a:extLst xmlns:a="http://schemas.openxmlformats.org/drawingml/2006/main">
              <a:ext uri="{FF2B5EF4-FFF2-40B4-BE49-F238E27FC236}">
                <a16:creationId xmlns:a16="http://schemas.microsoft.com/office/drawing/2014/main" id="{84BE21EF-8988-4DF0-BAB3-2E77DF792EF0}"/>
              </a:ext>
            </a:extLst>
          </p:cNvPr>
          <p:cNvSpPr>
            <a:spLocks xmlns:a="http://schemas.openxmlformats.org/drawingml/2006/main" noGrp="1"/>
          </p:cNvSpPr>
          <p:nvPr/>
        </p:nvSpPr>
        <p:spPr>
          <a:xfrm xmlns:a="http://schemas.openxmlformats.org/drawingml/2006/main">
            <a:off x="685800" y="3981450"/>
            <a:ext cx="108204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1430">
            <a:solidFill>
              <a:srgbClr val="D5E0E7"/>
            </a:solidFill>
            <a:prstDash val="solid"/>
          </a:ln>
        </p:spPr>
      </p:sp>
      <p:sp>
        <p:nvSpPr>
          <p:cNvPr id="20" name="">
            <a:extLst xmlns:a="http://schemas.openxmlformats.org/drawingml/2006/main">
              <a:ext uri="{FF2B5EF4-FFF2-40B4-BE49-F238E27FC236}">
                <a16:creationId xmlns:a16="http://schemas.microsoft.com/office/drawing/2014/main" id="{263D4DB4-F4A5-4FA5-ABB6-850AAA89C2A7}"/>
              </a:ext>
            </a:extLst>
          </p:cNvPr>
          <p:cNvSpPr>
            <a:spLocks xmlns:a="http://schemas.openxmlformats.org/drawingml/2006/main" noGrp="1"/>
          </p:cNvSpPr>
          <p:nvPr/>
        </p:nvSpPr>
        <p:spPr>
          <a:xfrm xmlns:a="http://schemas.openxmlformats.org/drawingml/2006/main">
            <a:off x="876300" y="4152900"/>
            <a:ext cx="381000" cy="285750"/>
          </a:xfrm>
          <a:prstGeom xmlns:a="http://schemas.openxmlformats.org/drawingml/2006/main" prst="roundRect">
            <a:avLst>
              <a:gd name="adj" fmla="val 40000"/>
            </a:avLst>
          </a:prstGeom>
          <a:solidFill xmlns:a="http://schemas.openxmlformats.org/drawingml/2006/main">
            <a:srgbClr val="102C49"/>
          </a:solidFill>
          <a:ln xmlns:a="http://schemas.openxmlformats.org/drawingml/2006/main" w="11430">
            <a:solidFill>
              <a:srgbClr val="102C49"/>
            </a:solidFill>
            <a:prstDash val="solid"/>
          </a:ln>
        </p:spPr>
      </p:sp>
      <p:sp>
        <p:nvSpPr>
          <p:cNvPr id="21" name="">
            <a:extLst xmlns:a="http://schemas.openxmlformats.org/drawingml/2006/main">
              <a:ext uri="{FF2B5EF4-FFF2-40B4-BE49-F238E27FC236}">
                <a16:creationId xmlns:a16="http://schemas.microsoft.com/office/drawing/2014/main" id="{2ADD74B4-36DC-42D9-A2AF-38908E853723}"/>
              </a:ext>
            </a:extLst>
          </p:cNvPr>
          <p:cNvSpPr>
            <a:spLocks xmlns:a="http://schemas.openxmlformats.org/drawingml/2006/main" noGrp="1"/>
          </p:cNvSpPr>
          <p:nvPr/>
        </p:nvSpPr>
        <p:spPr>
          <a:xfrm xmlns:a="http://schemas.openxmlformats.org/drawingml/2006/main">
            <a:off x="933450" y="416242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619"/>
          </a:bodyPr>
          <a:lstStyle xmlns:a="http://schemas.openxmlformats.org/drawingml/2006/main"/>
          <a:p xmlns:a="http://schemas.openxmlformats.org/drawingml/2006/main">
            <a:pPr algn="ctr">
              <a:buNone/>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2" name="">
            <a:extLst xmlns:a="http://schemas.openxmlformats.org/drawingml/2006/main">
              <a:ext uri="{FF2B5EF4-FFF2-40B4-BE49-F238E27FC236}">
                <a16:creationId xmlns:a16="http://schemas.microsoft.com/office/drawing/2014/main" id="{DD009434-6E93-4E98-BF9D-114A8220C95C}"/>
              </a:ext>
            </a:extLst>
          </p:cNvPr>
          <p:cNvSpPr>
            <a:spLocks xmlns:a="http://schemas.openxmlformats.org/drawingml/2006/main" noGrp="1"/>
          </p:cNvSpPr>
          <p:nvPr/>
        </p:nvSpPr>
        <p:spPr>
          <a:xfrm xmlns:a="http://schemas.openxmlformats.org/drawingml/2006/main">
            <a:off x="1466850" y="4095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474"/>
          </a:bodyPr>
          <a:lstStyle xmlns:a="http://schemas.openxmlformats.org/drawingml/2006/main"/>
          <a:p xmlns:a="http://schemas.openxmlformats.org/drawingml/2006/main">
            <a:pPr algn="l">
              <a:buNone/>
              <a:defRPr sz="1425" b="1">
                <a:solidFill>
                  <a:srgbClr val="102C49"/>
                </a:solidFill>
                <a:latin typeface="Arial"/>
                <a:ea typeface="Arial"/>
                <a:cs typeface="Arial"/>
              </a:defRPr>
            </a:pPr>
            <a:r>
              <a:rPr sz="1425" b="1">
                <a:solidFill>
                  <a:srgbClr val="102C49"/>
                </a:solidFill>
                <a:latin typeface="Arial"/>
                <a:ea typeface="Arial"/>
                <a:cs typeface="Arial"/>
              </a:rPr>
              <a:t>Review</a:t>
            </a:r>
          </a:p>
        </p:txBody>
      </p:sp>
      <p:sp>
        <p:nvSpPr>
          <p:cNvPr id="23" name="">
            <a:extLst xmlns:a="http://schemas.openxmlformats.org/drawingml/2006/main">
              <a:ext uri="{FF2B5EF4-FFF2-40B4-BE49-F238E27FC236}">
                <a16:creationId xmlns:a16="http://schemas.microsoft.com/office/drawing/2014/main" id="{E707E7A0-427E-40A5-B23C-3BE5D506F8F4}"/>
              </a:ext>
            </a:extLst>
          </p:cNvPr>
          <p:cNvSpPr>
            <a:spLocks xmlns:a="http://schemas.openxmlformats.org/drawingml/2006/main" noGrp="1"/>
          </p:cNvSpPr>
          <p:nvPr/>
        </p:nvSpPr>
        <p:spPr>
          <a:xfrm xmlns:a="http://schemas.openxmlformats.org/drawingml/2006/main">
            <a:off x="3086100" y="4076700"/>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a:solidFill>
                  <a:srgbClr val="17334B"/>
                </a:solidFill>
                <a:latin typeface="Arial"/>
                <a:ea typeface="Arial"/>
                <a:cs typeface="Arial"/>
              </a:defRPr>
            </a:pPr>
            <a:r>
              <a:rPr sz="1350" b="0">
                <a:solidFill>
                  <a:srgbClr val="17334B"/>
                </a:solidFill>
                <a:latin typeface="Arial"/>
                <a:ea typeface="Arial"/>
                <a:cs typeface="Arial"/>
              </a:rPr>
              <a:t>Check tagged counts, source locations and redacted text.</a:t>
            </a:r>
          </a:p>
        </p:txBody>
      </p:sp>
      <p:sp>
        <p:nvSpPr>
          <p:cNvPr id="24" name="">
            <a:extLst xmlns:a="http://schemas.openxmlformats.org/drawingml/2006/main">
              <a:ext uri="{FF2B5EF4-FFF2-40B4-BE49-F238E27FC236}">
                <a16:creationId xmlns:a16="http://schemas.microsoft.com/office/drawing/2014/main" id="{191D1815-C706-4444-94D7-DA37D646BFDB}"/>
              </a:ext>
            </a:extLst>
          </p:cNvPr>
          <p:cNvSpPr>
            <a:spLocks xmlns:a="http://schemas.openxmlformats.org/drawingml/2006/main" noGrp="1"/>
          </p:cNvSpPr>
          <p:nvPr/>
        </p:nvSpPr>
        <p:spPr>
          <a:xfrm xmlns:a="http://schemas.openxmlformats.org/drawingml/2006/main">
            <a:off x="685800" y="4829175"/>
            <a:ext cx="108204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1430">
            <a:solidFill>
              <a:srgbClr val="D5E0E7"/>
            </a:solidFill>
            <a:prstDash val="solid"/>
          </a:ln>
        </p:spPr>
      </p:sp>
      <p:sp>
        <p:nvSpPr>
          <p:cNvPr id="25" name="">
            <a:extLst xmlns:a="http://schemas.openxmlformats.org/drawingml/2006/main">
              <a:ext uri="{FF2B5EF4-FFF2-40B4-BE49-F238E27FC236}">
                <a16:creationId xmlns:a16="http://schemas.microsoft.com/office/drawing/2014/main" id="{50D4C324-198D-4A8C-B80E-34ADA4F122FA}"/>
              </a:ext>
            </a:extLst>
          </p:cNvPr>
          <p:cNvSpPr>
            <a:spLocks xmlns:a="http://schemas.openxmlformats.org/drawingml/2006/main" noGrp="1"/>
          </p:cNvSpPr>
          <p:nvPr/>
        </p:nvSpPr>
        <p:spPr>
          <a:xfrm xmlns:a="http://schemas.openxmlformats.org/drawingml/2006/main">
            <a:off x="876300" y="5000625"/>
            <a:ext cx="381000" cy="285750"/>
          </a:xfrm>
          <a:prstGeom xmlns:a="http://schemas.openxmlformats.org/drawingml/2006/main" prst="roundRect">
            <a:avLst>
              <a:gd name="adj" fmla="val 40000"/>
            </a:avLst>
          </a:prstGeom>
          <a:solidFill xmlns:a="http://schemas.openxmlformats.org/drawingml/2006/main">
            <a:srgbClr val="102C49"/>
          </a:solidFill>
          <a:ln xmlns:a="http://schemas.openxmlformats.org/drawingml/2006/main" w="11430">
            <a:solidFill>
              <a:srgbClr val="102C49"/>
            </a:solidFill>
            <a:prstDash val="solid"/>
          </a:ln>
        </p:spPr>
      </p:sp>
      <p:sp>
        <p:nvSpPr>
          <p:cNvPr id="26" name="">
            <a:extLst xmlns:a="http://schemas.openxmlformats.org/drawingml/2006/main">
              <a:ext uri="{FF2B5EF4-FFF2-40B4-BE49-F238E27FC236}">
                <a16:creationId xmlns:a16="http://schemas.microsoft.com/office/drawing/2014/main" id="{E262479C-B899-426B-A16B-5E6ECDA5EB7C}"/>
              </a:ext>
            </a:extLst>
          </p:cNvPr>
          <p:cNvSpPr>
            <a:spLocks xmlns:a="http://schemas.openxmlformats.org/drawingml/2006/main" noGrp="1"/>
          </p:cNvSpPr>
          <p:nvPr/>
        </p:nvSpPr>
        <p:spPr>
          <a:xfrm xmlns:a="http://schemas.openxmlformats.org/drawingml/2006/main">
            <a:off x="933450" y="5010150"/>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619"/>
          </a:bodyPr>
          <a:lstStyle xmlns:a="http://schemas.openxmlformats.org/drawingml/2006/main"/>
          <a:p xmlns:a="http://schemas.openxmlformats.org/drawingml/2006/main">
            <a:pPr algn="ctr">
              <a:buNone/>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27" name="">
            <a:extLst xmlns:a="http://schemas.openxmlformats.org/drawingml/2006/main">
              <a:ext uri="{FF2B5EF4-FFF2-40B4-BE49-F238E27FC236}">
                <a16:creationId xmlns:a16="http://schemas.microsoft.com/office/drawing/2014/main" id="{647101FD-074C-465D-894B-EBE4B12A5466}"/>
              </a:ext>
            </a:extLst>
          </p:cNvPr>
          <p:cNvSpPr>
            <a:spLocks xmlns:a="http://schemas.openxmlformats.org/drawingml/2006/main" noGrp="1"/>
          </p:cNvSpPr>
          <p:nvPr/>
        </p:nvSpPr>
        <p:spPr>
          <a:xfrm xmlns:a="http://schemas.openxmlformats.org/drawingml/2006/main">
            <a:off x="1466850" y="494347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474"/>
          </a:bodyPr>
          <a:lstStyle xmlns:a="http://schemas.openxmlformats.org/drawingml/2006/main"/>
          <a:p xmlns:a="http://schemas.openxmlformats.org/drawingml/2006/main">
            <a:pPr algn="l">
              <a:buNone/>
              <a:defRPr sz="1425" b="1">
                <a:solidFill>
                  <a:srgbClr val="102C49"/>
                </a:solidFill>
                <a:latin typeface="Arial"/>
                <a:ea typeface="Arial"/>
                <a:cs typeface="Arial"/>
              </a:defRPr>
            </a:pPr>
            <a:r>
              <a:rPr sz="1425" b="1">
                <a:solidFill>
                  <a:srgbClr val="102C49"/>
                </a:solidFill>
                <a:latin typeface="Arial"/>
                <a:ea typeface="Arial"/>
                <a:cs typeface="Arial"/>
              </a:rPr>
              <a:t>Release</a:t>
            </a:r>
          </a:p>
        </p:txBody>
      </p:sp>
      <p:sp>
        <p:nvSpPr>
          <p:cNvPr id="28" name="">
            <a:extLst xmlns:a="http://schemas.openxmlformats.org/drawingml/2006/main">
              <a:ext uri="{FF2B5EF4-FFF2-40B4-BE49-F238E27FC236}">
                <a16:creationId xmlns:a16="http://schemas.microsoft.com/office/drawing/2014/main" id="{CB795EB0-E06C-4DB0-B15E-60B7194018A8}"/>
              </a:ext>
            </a:extLst>
          </p:cNvPr>
          <p:cNvSpPr>
            <a:spLocks xmlns:a="http://schemas.openxmlformats.org/drawingml/2006/main" noGrp="1"/>
          </p:cNvSpPr>
          <p:nvPr/>
        </p:nvSpPr>
        <p:spPr>
          <a:xfrm xmlns:a="http://schemas.openxmlformats.org/drawingml/2006/main">
            <a:off x="3086100" y="49244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a:solidFill>
                  <a:srgbClr val="17334B"/>
                </a:solidFill>
                <a:latin typeface="Arial"/>
                <a:ea typeface="Arial"/>
                <a:cs typeface="Arial"/>
              </a:defRPr>
            </a:pPr>
            <a:r>
              <a:rPr sz="1350" b="0">
                <a:solidFill>
                  <a:srgbClr val="17334B"/>
                </a:solidFill>
                <a:latin typeface="Arial"/>
                <a:ea typeface="Arial"/>
                <a:cs typeface="Arial"/>
              </a:rPr>
              <a:t>Approve reviewed output before download; quarantined files stay blocked.</a:t>
            </a:r>
          </a:p>
        </p:txBody>
      </p:sp>
      <p:sp>
        <p:nvSpPr>
          <p:cNvPr id="29" name="">
            <a:extLst xmlns:a="http://schemas.openxmlformats.org/drawingml/2006/main">
              <a:ext uri="{FF2B5EF4-FFF2-40B4-BE49-F238E27FC236}">
                <a16:creationId xmlns:a16="http://schemas.microsoft.com/office/drawing/2014/main" id="{569B0FBF-8740-46E9-8B73-A1BA6E2717F7}"/>
              </a:ext>
            </a:extLst>
          </p:cNvPr>
          <p:cNvSpPr>
            <a:spLocks xmlns:a="http://schemas.openxmlformats.org/drawingml/2006/main" noGrp="1"/>
          </p:cNvSpPr>
          <p:nvPr/>
        </p:nvSpPr>
        <p:spPr>
          <a:xfrm xmlns:a="http://schemas.openxmlformats.org/drawingml/2006/main">
            <a:off x="685800" y="592455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75" b="1">
                <a:solidFill>
                  <a:srgbClr val="187A83"/>
                </a:solidFill>
                <a:latin typeface="Arial"/>
                <a:ea typeface="Arial"/>
                <a:cs typeface="Arial"/>
              </a:defRPr>
            </a:pPr>
            <a:r>
              <a:rPr sz="1275" b="1">
                <a:solidFill>
                  <a:srgbClr val="187A83"/>
                </a:solidFill>
                <a:latin typeface="Arial"/>
                <a:ea typeface="Arial"/>
                <a:cs typeface="Arial"/>
              </a:rPr>
              <a:t>No external service is called. A reviewer remains responsible for approving any downstream use.</a:t>
            </a:r>
          </a:p>
        </p:txBody>
      </p:sp>
      <p:sp>
        <p:nvSpPr>
          <p:cNvPr id="30" name="">
            <a:extLst xmlns:a="http://schemas.openxmlformats.org/drawingml/2006/main">
              <a:ext uri="{FF2B5EF4-FFF2-40B4-BE49-F238E27FC236}">
                <a16:creationId xmlns:a16="http://schemas.microsoft.com/office/drawing/2014/main" id="{017FF418-EC0C-4583-9701-B7FA52E5D160}"/>
              </a:ext>
            </a:extLst>
          </p:cNvPr>
          <p:cNvSpPr>
            <a:spLocks xmlns:a="http://schemas.openxmlformats.org/drawingml/2006/main" noGrp="1"/>
          </p:cNvSpPr>
          <p:nvPr/>
        </p:nvSpPr>
        <p:spPr>
          <a:xfrm xmlns:a="http://schemas.openxmlformats.org/drawingml/2006/main">
            <a:off x="685800" y="655320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48485"/>
          </a:bodyPr>
          <a:lstStyle xmlns:a="http://schemas.openxmlformats.org/drawingml/2006/main"/>
          <a:p xmlns:a="http://schemas.openxmlformats.org/drawingml/2006/main">
            <a:pPr algn="l">
              <a:buNone/>
              <a:defRPr sz="825" b="0">
                <a:solidFill>
                  <a:srgbClr val="536D81"/>
                </a:solidFill>
                <a:latin typeface="Arial"/>
                <a:ea typeface="Arial"/>
                <a:cs typeface="Arial"/>
              </a:defRPr>
            </a:pPr>
            <a:r>
              <a:rPr sz="825" b="0">
                <a:solidFill>
                  <a:srgbClr val="536D81"/>
                </a:solidFill>
                <a:latin typeface="Arial"/>
                <a:ea typeface="Arial"/>
                <a:cs typeface="Arial"/>
              </a:rPr>
              <a:t>OPTIV  ·  VIT 2026  |  CASE STUDY 2  |  12</a:t>
            </a:r>
          </a:p>
        </p:txBody>
      </p:sp>
    </p:spTree>
    <p:extLst>
      <p:ext uri="{BB962C8B-B14F-4D97-AF65-F5344CB8AC3E}">
        <p14:creationId xmlns:p14="http://schemas.microsoft.com/office/powerpoint/2010/main" val="1854247885"/>
      </p:ext>
    </p:extLst>
  </p:cSld>
</p:sld>
</file>

<file path=ppt/slides/slide13.xml><?xml version="1.0" encoding="utf-8"?>
<p:sld xmlns:p="http://schemas.openxmlformats.org/presentationml/2006/main">
  <p:cSld>
    <p:bg>
      <p:bgPr>
        <a:solidFill xmlns:a="http://schemas.openxmlformats.org/drawingml/2006/main">
          <a:srgbClr val="F3F6F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6A55277B-55F3-4609-B4F1-31D5B5A8C700}"/>
              </a:ext>
            </a:extLst>
          </p:cNvPr>
          <p:cNvSpPr>
            <a:spLocks xmlns:a="http://schemas.openxmlformats.org/drawingml/2006/main" noGrp="1"/>
          </p:cNvSpPr>
          <p:nvPr/>
        </p:nvSpPr>
        <p:spPr>
          <a:xfrm xmlns:a="http://schemas.openxmlformats.org/drawingml/2006/main">
            <a:off x="685800" y="20955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762"/>
          </a:bodyPr>
          <a:lstStyle xmlns:a="http://schemas.openxmlformats.org/drawingml/2006/main"/>
          <a:p xmlns:a="http://schemas.openxmlformats.org/drawingml/2006/main">
            <a:pPr algn="l">
              <a:buNone/>
              <a:defRPr sz="1050" b="1">
                <a:solidFill>
                  <a:srgbClr val="187A83"/>
                </a:solidFill>
                <a:latin typeface="Arial"/>
                <a:ea typeface="Arial"/>
                <a:cs typeface="Arial"/>
              </a:defRPr>
            </a:pPr>
            <a:r>
              <a:rPr sz="1050" b="1">
                <a:solidFill>
                  <a:srgbClr val="187A83"/>
                </a:solidFill>
                <a:latin typeface="Arial"/>
                <a:ea typeface="Arial"/>
                <a:cs typeface="Arial"/>
              </a:rPr>
              <a:t>CASE STUDY 2  /  CADENCE</a:t>
            </a:r>
          </a:p>
        </p:txBody>
      </p:sp>
      <p:sp>
        <p:nvSpPr>
          <p:cNvPr id="2" name="">
            <a:extLst xmlns:a="http://schemas.openxmlformats.org/drawingml/2006/main">
              <a:ext uri="{FF2B5EF4-FFF2-40B4-BE49-F238E27FC236}">
                <a16:creationId xmlns:a16="http://schemas.microsoft.com/office/drawing/2014/main" id="{948F0A16-6F26-4EF3-A404-9B06694622D5}"/>
              </a:ext>
            </a:extLst>
          </p:cNvPr>
          <p:cNvSpPr>
            <a:spLocks xmlns:a="http://schemas.openxmlformats.org/drawingml/2006/main" noGrp="1"/>
          </p:cNvSpPr>
          <p:nvPr/>
        </p:nvSpPr>
        <p:spPr>
          <a:xfrm xmlns:a="http://schemas.openxmlformats.org/drawingml/2006/main">
            <a:off x="685800" y="4953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850" b="1">
                <a:solidFill>
                  <a:srgbClr val="102C49"/>
                </a:solidFill>
                <a:latin typeface="Arial"/>
                <a:ea typeface="Arial"/>
                <a:cs typeface="Arial"/>
              </a:defRPr>
            </a:pPr>
            <a:r>
              <a:rPr sz="2850" b="1">
                <a:solidFill>
                  <a:srgbClr val="102C49"/>
                </a:solidFill>
                <a:latin typeface="Arial"/>
                <a:ea typeface="Arial"/>
                <a:cs typeface="Arial"/>
              </a:rPr>
              <a:t>Expected outcomes | acceptance gates and evidence</a:t>
            </a:r>
          </a:p>
        </p:txBody>
      </p:sp>
      <p:sp>
        <p:nvSpPr>
          <p:cNvPr id="3" name="">
            <a:extLst xmlns:a="http://schemas.openxmlformats.org/drawingml/2006/main">
              <a:ext uri="{FF2B5EF4-FFF2-40B4-BE49-F238E27FC236}">
                <a16:creationId xmlns:a16="http://schemas.microsoft.com/office/drawing/2014/main" id="{F5B694AB-D412-4EA2-804D-E00B542D4B44}"/>
              </a:ext>
            </a:extLst>
          </p:cNvPr>
          <p:cNvSpPr>
            <a:spLocks xmlns:a="http://schemas.openxmlformats.org/drawingml/2006/main" noGrp="1"/>
          </p:cNvSpPr>
          <p:nvPr/>
        </p:nvSpPr>
        <p:spPr>
          <a:xfrm xmlns:a="http://schemas.openxmlformats.org/drawingml/2006/main">
            <a:off x="685800" y="1162050"/>
            <a:ext cx="10820400" cy="0"/>
          </a:xfrm>
          <a:prstGeom xmlns:a="http://schemas.openxmlformats.org/drawingml/2006/main" prst="line">
            <a:avLst/>
          </a:prstGeom>
          <a:noFill xmlns:a="http://schemas.openxmlformats.org/drawingml/2006/main"/>
          <a:ln xmlns:a="http://schemas.openxmlformats.org/drawingml/2006/main" w="11430">
            <a:solidFill>
              <a:srgbClr val="D5E0E7"/>
            </a:solidFill>
            <a:prstDash val="solid"/>
          </a:ln>
        </p:spPr>
      </p:sp>
      <p:sp>
        <p:nvSpPr>
          <p:cNvPr id="4" name="">
            <a:extLst xmlns:a="http://schemas.openxmlformats.org/drawingml/2006/main">
              <a:ext uri="{FF2B5EF4-FFF2-40B4-BE49-F238E27FC236}">
                <a16:creationId xmlns:a16="http://schemas.microsoft.com/office/drawing/2014/main" id="{42CDC1FB-C803-4928-995A-010AAF3FCDDE}"/>
              </a:ext>
            </a:extLst>
          </p:cNvPr>
          <p:cNvSpPr>
            <a:spLocks xmlns:a="http://schemas.openxmlformats.org/drawingml/2006/main" noGrp="1"/>
          </p:cNvSpPr>
          <p:nvPr/>
        </p:nvSpPr>
        <p:spPr>
          <a:xfrm xmlns:a="http://schemas.openxmlformats.org/drawingml/2006/main">
            <a:off x="876300" y="13049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p xmlns:a="http://schemas.openxmlformats.org/drawingml/2006/main">
            <a:pPr algn="l">
              <a:buNone/>
              <a:defRPr sz="975" b="1">
                <a:solidFill>
                  <a:srgbClr val="187A83"/>
                </a:solidFill>
                <a:latin typeface="Arial"/>
                <a:ea typeface="Arial"/>
                <a:cs typeface="Arial"/>
              </a:defRPr>
            </a:pPr>
            <a:r>
              <a:rPr sz="975" b="1">
                <a:solidFill>
                  <a:srgbClr val="187A83"/>
                </a:solidFill>
                <a:latin typeface="Arial"/>
                <a:ea typeface="Arial"/>
                <a:cs typeface="Arial"/>
              </a:rPr>
              <a:t>OUTCOME</a:t>
            </a:r>
          </a:p>
        </p:txBody>
      </p:sp>
      <p:sp>
        <p:nvSpPr>
          <p:cNvPr id="5" name="">
            <a:extLst xmlns:a="http://schemas.openxmlformats.org/drawingml/2006/main">
              <a:ext uri="{FF2B5EF4-FFF2-40B4-BE49-F238E27FC236}">
                <a16:creationId xmlns:a16="http://schemas.microsoft.com/office/drawing/2014/main" id="{C5B2503D-3376-4AB6-880B-C0782A829AE9}"/>
              </a:ext>
            </a:extLst>
          </p:cNvPr>
          <p:cNvSpPr>
            <a:spLocks xmlns:a="http://schemas.openxmlformats.org/drawingml/2006/main" noGrp="1"/>
          </p:cNvSpPr>
          <p:nvPr/>
        </p:nvSpPr>
        <p:spPr>
          <a:xfrm xmlns:a="http://schemas.openxmlformats.org/drawingml/2006/main">
            <a:off x="2857500" y="1304925"/>
            <a:ext cx="426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p xmlns:a="http://schemas.openxmlformats.org/drawingml/2006/main">
            <a:pPr algn="l">
              <a:buNone/>
              <a:defRPr sz="975" b="1">
                <a:solidFill>
                  <a:srgbClr val="187A83"/>
                </a:solidFill>
                <a:latin typeface="Arial"/>
                <a:ea typeface="Arial"/>
                <a:cs typeface="Arial"/>
              </a:defRPr>
            </a:pPr>
            <a:r>
              <a:rPr sz="975" b="1">
                <a:solidFill>
                  <a:srgbClr val="187A83"/>
                </a:solidFill>
                <a:latin typeface="Arial"/>
                <a:ea typeface="Arial"/>
                <a:cs typeface="Arial"/>
              </a:rPr>
              <a:t>MEASURABLE ACCEPTANCE CHECK</a:t>
            </a:r>
          </a:p>
        </p:txBody>
      </p:sp>
      <p:sp>
        <p:nvSpPr>
          <p:cNvPr id="6" name="">
            <a:extLst xmlns:a="http://schemas.openxmlformats.org/drawingml/2006/main">
              <a:ext uri="{FF2B5EF4-FFF2-40B4-BE49-F238E27FC236}">
                <a16:creationId xmlns:a16="http://schemas.microsoft.com/office/drawing/2014/main" id="{8975D8DA-118F-4844-85E3-B7E93B4E9254}"/>
              </a:ext>
            </a:extLst>
          </p:cNvPr>
          <p:cNvSpPr>
            <a:spLocks xmlns:a="http://schemas.openxmlformats.org/drawingml/2006/main" noGrp="1"/>
          </p:cNvSpPr>
          <p:nvPr/>
        </p:nvSpPr>
        <p:spPr>
          <a:xfrm xmlns:a="http://schemas.openxmlformats.org/drawingml/2006/main">
            <a:off x="7410450" y="1304925"/>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p xmlns:a="http://schemas.openxmlformats.org/drawingml/2006/main">
            <a:pPr algn="l">
              <a:buNone/>
              <a:defRPr sz="975" b="1">
                <a:solidFill>
                  <a:srgbClr val="187A83"/>
                </a:solidFill>
                <a:latin typeface="Arial"/>
                <a:ea typeface="Arial"/>
                <a:cs typeface="Arial"/>
              </a:defRPr>
            </a:pPr>
            <a:r>
              <a:rPr sz="975" b="1">
                <a:solidFill>
                  <a:srgbClr val="187A83"/>
                </a:solidFill>
                <a:latin typeface="Arial"/>
                <a:ea typeface="Arial"/>
                <a:cs typeface="Arial"/>
              </a:rPr>
              <a:t>CURRENT EVIDENCE</a:t>
            </a:r>
          </a:p>
        </p:txBody>
      </p:sp>
      <p:sp>
        <p:nvSpPr>
          <p:cNvPr id="7" name="">
            <a:extLst xmlns:a="http://schemas.openxmlformats.org/drawingml/2006/main">
              <a:ext uri="{FF2B5EF4-FFF2-40B4-BE49-F238E27FC236}">
                <a16:creationId xmlns:a16="http://schemas.microsoft.com/office/drawing/2014/main" id="{793E6E30-A3F0-438C-A7DB-1B1AB78FBF3C}"/>
              </a:ext>
            </a:extLst>
          </p:cNvPr>
          <p:cNvSpPr>
            <a:spLocks xmlns:a="http://schemas.openxmlformats.org/drawingml/2006/main" noGrp="1"/>
          </p:cNvSpPr>
          <p:nvPr/>
        </p:nvSpPr>
        <p:spPr>
          <a:xfrm xmlns:a="http://schemas.openxmlformats.org/drawingml/2006/main">
            <a:off x="685800" y="1562100"/>
            <a:ext cx="10820400" cy="876300"/>
          </a:xfrm>
          <a:prstGeom xmlns:a="http://schemas.openxmlformats.org/drawingml/2006/main" prst="roundRect">
            <a:avLst>
              <a:gd name="adj" fmla="val 13043"/>
            </a:avLst>
          </a:prstGeom>
          <a:solidFill xmlns:a="http://schemas.openxmlformats.org/drawingml/2006/main">
            <a:srgbClr val="FFFFFF"/>
          </a:solidFill>
          <a:ln xmlns:a="http://schemas.openxmlformats.org/drawingml/2006/main" w="11430">
            <a:solidFill>
              <a:srgbClr val="D5E0E7"/>
            </a:solidFill>
            <a:prstDash val="solid"/>
          </a:ln>
        </p:spPr>
      </p:sp>
      <p:sp>
        <p:nvSpPr>
          <p:cNvPr id="8" name="">
            <a:extLst xmlns:a="http://schemas.openxmlformats.org/drawingml/2006/main">
              <a:ext uri="{FF2B5EF4-FFF2-40B4-BE49-F238E27FC236}">
                <a16:creationId xmlns:a16="http://schemas.microsoft.com/office/drawing/2014/main" id="{12F2E8D7-EA91-4E88-9863-A0ADA713FF1F}"/>
              </a:ext>
            </a:extLst>
          </p:cNvPr>
          <p:cNvSpPr>
            <a:spLocks xmlns:a="http://schemas.openxmlformats.org/drawingml/2006/main" noGrp="1"/>
          </p:cNvSpPr>
          <p:nvPr/>
        </p:nvSpPr>
        <p:spPr>
          <a:xfrm xmlns:a="http://schemas.openxmlformats.org/drawingml/2006/main">
            <a:off x="876300" y="1676400"/>
            <a:ext cx="1809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75" b="1">
                <a:solidFill>
                  <a:srgbClr val="102C49"/>
                </a:solidFill>
                <a:latin typeface="Arial"/>
                <a:ea typeface="Arial"/>
                <a:cs typeface="Arial"/>
              </a:defRPr>
            </a:pPr>
            <a:r>
              <a:rPr sz="1275" b="1">
                <a:solidFill>
                  <a:srgbClr val="102C49"/>
                </a:solidFill>
                <a:latin typeface="Arial"/>
                <a:ea typeface="Arial"/>
                <a:cs typeface="Arial"/>
              </a:rPr>
              <a:t>Structure retention</a:t>
            </a:r>
          </a:p>
        </p:txBody>
      </p:sp>
      <p:sp>
        <p:nvSpPr>
          <p:cNvPr id="9" name="">
            <a:extLst xmlns:a="http://schemas.openxmlformats.org/drawingml/2006/main">
              <a:ext uri="{FF2B5EF4-FFF2-40B4-BE49-F238E27FC236}">
                <a16:creationId xmlns:a16="http://schemas.microsoft.com/office/drawing/2014/main" id="{8979D746-7612-47E6-BD0C-A0A9BB884955}"/>
              </a:ext>
            </a:extLst>
          </p:cNvPr>
          <p:cNvSpPr>
            <a:spLocks xmlns:a="http://schemas.openxmlformats.org/drawingml/2006/main" noGrp="1"/>
          </p:cNvSpPr>
          <p:nvPr/>
        </p:nvSpPr>
        <p:spPr>
          <a:xfrm xmlns:a="http://schemas.openxmlformats.org/drawingml/2006/main">
            <a:off x="2857500" y="1657350"/>
            <a:ext cx="4267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17334B"/>
                </a:solidFill>
                <a:latin typeface="Arial"/>
                <a:ea typeface="Arial"/>
                <a:cs typeface="Arial"/>
              </a:defRPr>
            </a:pPr>
            <a:r>
              <a:rPr sz="1125" b="0">
                <a:solidFill>
                  <a:srgbClr val="17334B"/>
                </a:solidFill>
                <a:latin typeface="Arial"/>
                <a:ea typeface="Arial"/>
                <a:cs typeface="Arial"/>
              </a:rPr>
              <a:t>Target: ≥80% of labeled source structure units extracted with source locations; score pages, slides, paragraphs and table rows by format.</a:t>
            </a:r>
          </a:p>
        </p:txBody>
      </p:sp>
      <p:sp>
        <p:nvSpPr>
          <p:cNvPr id="10" name="">
            <a:extLst xmlns:a="http://schemas.openxmlformats.org/drawingml/2006/main">
              <a:ext uri="{FF2B5EF4-FFF2-40B4-BE49-F238E27FC236}">
                <a16:creationId xmlns:a16="http://schemas.microsoft.com/office/drawing/2014/main" id="{3B466162-6930-4C9A-BB57-A4CD60FACF5C}"/>
              </a:ext>
            </a:extLst>
          </p:cNvPr>
          <p:cNvSpPr>
            <a:spLocks xmlns:a="http://schemas.openxmlformats.org/drawingml/2006/main" noGrp="1"/>
          </p:cNvSpPr>
          <p:nvPr/>
        </p:nvSpPr>
        <p:spPr>
          <a:xfrm xmlns:a="http://schemas.openxmlformats.org/drawingml/2006/main">
            <a:off x="7410450" y="1657350"/>
            <a:ext cx="3867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A14338"/>
                </a:solidFill>
                <a:latin typeface="Arial"/>
                <a:ea typeface="Arial"/>
                <a:cs typeface="Arial"/>
              </a:defRPr>
            </a:pPr>
            <a:r>
              <a:rPr sz="1125" b="0">
                <a:solidFill>
                  <a:srgbClr val="A14338"/>
                </a:solidFill>
                <a:latin typeface="Arial"/>
                <a:ea typeface="Arial"/>
                <a:cs typeface="Arial"/>
              </a:rPr>
              <a:t>Not measured yet. Requires labeled structure units and a corpus run.</a:t>
            </a:r>
          </a:p>
        </p:txBody>
      </p:sp>
      <p:sp>
        <p:nvSpPr>
          <p:cNvPr id="11" name="">
            <a:extLst xmlns:a="http://schemas.openxmlformats.org/drawingml/2006/main">
              <a:ext uri="{FF2B5EF4-FFF2-40B4-BE49-F238E27FC236}">
                <a16:creationId xmlns:a16="http://schemas.microsoft.com/office/drawing/2014/main" id="{83414FBB-C09D-47CC-861E-9B51A8046F69}"/>
              </a:ext>
            </a:extLst>
          </p:cNvPr>
          <p:cNvSpPr>
            <a:spLocks xmlns:a="http://schemas.openxmlformats.org/drawingml/2006/main" noGrp="1"/>
          </p:cNvSpPr>
          <p:nvPr/>
        </p:nvSpPr>
        <p:spPr>
          <a:xfrm xmlns:a="http://schemas.openxmlformats.org/drawingml/2006/main">
            <a:off x="685800" y="2543175"/>
            <a:ext cx="10820400" cy="876300"/>
          </a:xfrm>
          <a:prstGeom xmlns:a="http://schemas.openxmlformats.org/drawingml/2006/main" prst="roundRect">
            <a:avLst>
              <a:gd name="adj" fmla="val 13043"/>
            </a:avLst>
          </a:prstGeom>
          <a:solidFill xmlns:a="http://schemas.openxmlformats.org/drawingml/2006/main">
            <a:srgbClr val="FFFFFF"/>
          </a:solidFill>
          <a:ln xmlns:a="http://schemas.openxmlformats.org/drawingml/2006/main" w="11430">
            <a:solidFill>
              <a:srgbClr val="D5E0E7"/>
            </a:solidFill>
            <a:prstDash val="solid"/>
          </a:ln>
        </p:spPr>
      </p:sp>
      <p:sp>
        <p:nvSpPr>
          <p:cNvPr id="12" name="">
            <a:extLst xmlns:a="http://schemas.openxmlformats.org/drawingml/2006/main">
              <a:ext uri="{FF2B5EF4-FFF2-40B4-BE49-F238E27FC236}">
                <a16:creationId xmlns:a16="http://schemas.microsoft.com/office/drawing/2014/main" id="{3E52E6C4-28D6-40F7-A01B-4601F13234FE}"/>
              </a:ext>
            </a:extLst>
          </p:cNvPr>
          <p:cNvSpPr>
            <a:spLocks xmlns:a="http://schemas.openxmlformats.org/drawingml/2006/main" noGrp="1"/>
          </p:cNvSpPr>
          <p:nvPr/>
        </p:nvSpPr>
        <p:spPr>
          <a:xfrm xmlns:a="http://schemas.openxmlformats.org/drawingml/2006/main">
            <a:off x="876300" y="2657475"/>
            <a:ext cx="1809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75" b="1">
                <a:solidFill>
                  <a:srgbClr val="102C49"/>
                </a:solidFill>
                <a:latin typeface="Arial"/>
                <a:ea typeface="Arial"/>
                <a:cs typeface="Arial"/>
              </a:defRPr>
            </a:pPr>
            <a:r>
              <a:rPr sz="1275" b="1">
                <a:solidFill>
                  <a:srgbClr val="102C49"/>
                </a:solidFill>
                <a:latin typeface="Arial"/>
                <a:ea typeface="Arial"/>
                <a:cs typeface="Arial"/>
              </a:rPr>
              <a:t>PII coverage</a:t>
            </a:r>
          </a:p>
        </p:txBody>
      </p:sp>
      <p:sp>
        <p:nvSpPr>
          <p:cNvPr id="13" name="">
            <a:extLst xmlns:a="http://schemas.openxmlformats.org/drawingml/2006/main">
              <a:ext uri="{FF2B5EF4-FFF2-40B4-BE49-F238E27FC236}">
                <a16:creationId xmlns:a16="http://schemas.microsoft.com/office/drawing/2014/main" id="{D35D9D4E-16C7-4FE5-9A41-949BDFBA4588}"/>
              </a:ext>
            </a:extLst>
          </p:cNvPr>
          <p:cNvSpPr>
            <a:spLocks xmlns:a="http://schemas.openxmlformats.org/drawingml/2006/main" noGrp="1"/>
          </p:cNvSpPr>
          <p:nvPr/>
        </p:nvSpPr>
        <p:spPr>
          <a:xfrm xmlns:a="http://schemas.openxmlformats.org/drawingml/2006/main">
            <a:off x="2857500" y="2638425"/>
            <a:ext cx="4267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17334B"/>
                </a:solidFill>
                <a:latin typeface="Arial"/>
                <a:ea typeface="Arial"/>
                <a:cs typeface="Arial"/>
              </a:defRPr>
            </a:pPr>
            <a:r>
              <a:rPr sz="1125" b="0">
                <a:solidFill>
                  <a:srgbClr val="17334B"/>
                </a:solidFill>
                <a:latin typeface="Arial"/>
                <a:ea typeface="Arial"/>
                <a:cs typeface="Arial"/>
              </a:rPr>
              <a:t>Target: near-100% recall against independently labeled PII spans; report misses by PII class and file type.</a:t>
            </a:r>
          </a:p>
        </p:txBody>
      </p:sp>
      <p:sp>
        <p:nvSpPr>
          <p:cNvPr id="14" name="">
            <a:extLst xmlns:a="http://schemas.openxmlformats.org/drawingml/2006/main">
              <a:ext uri="{FF2B5EF4-FFF2-40B4-BE49-F238E27FC236}">
                <a16:creationId xmlns:a16="http://schemas.microsoft.com/office/drawing/2014/main" id="{FA811393-1046-472F-8B1D-72D2CFC377B0}"/>
              </a:ext>
            </a:extLst>
          </p:cNvPr>
          <p:cNvSpPr>
            <a:spLocks xmlns:a="http://schemas.openxmlformats.org/drawingml/2006/main" noGrp="1"/>
          </p:cNvSpPr>
          <p:nvPr/>
        </p:nvSpPr>
        <p:spPr>
          <a:xfrm xmlns:a="http://schemas.openxmlformats.org/drawingml/2006/main">
            <a:off x="7410450" y="2638425"/>
            <a:ext cx="3867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A14338"/>
                </a:solidFill>
                <a:latin typeface="Arial"/>
                <a:ea typeface="Arial"/>
                <a:cs typeface="Arial"/>
              </a:defRPr>
            </a:pPr>
            <a:r>
              <a:rPr sz="1125" b="0">
                <a:solidFill>
                  <a:srgbClr val="A14338"/>
                </a:solidFill>
                <a:latin typeface="Arial"/>
                <a:ea typeface="Arial"/>
                <a:cs typeface="Arial"/>
              </a:rPr>
              <a:t>Target only. Requires double-reviewed labels and OCR evaluation.</a:t>
            </a:r>
          </a:p>
        </p:txBody>
      </p:sp>
      <p:sp>
        <p:nvSpPr>
          <p:cNvPr id="15" name="">
            <a:extLst xmlns:a="http://schemas.openxmlformats.org/drawingml/2006/main">
              <a:ext uri="{FF2B5EF4-FFF2-40B4-BE49-F238E27FC236}">
                <a16:creationId xmlns:a16="http://schemas.microsoft.com/office/drawing/2014/main" id="{229E618D-A209-40B1-9611-EE49A5986C80}"/>
              </a:ext>
            </a:extLst>
          </p:cNvPr>
          <p:cNvSpPr>
            <a:spLocks xmlns:a="http://schemas.openxmlformats.org/drawingml/2006/main" noGrp="1"/>
          </p:cNvSpPr>
          <p:nvPr/>
        </p:nvSpPr>
        <p:spPr>
          <a:xfrm xmlns:a="http://schemas.openxmlformats.org/drawingml/2006/main">
            <a:off x="685800" y="3524250"/>
            <a:ext cx="10820400" cy="876300"/>
          </a:xfrm>
          <a:prstGeom xmlns:a="http://schemas.openxmlformats.org/drawingml/2006/main" prst="roundRect">
            <a:avLst>
              <a:gd name="adj" fmla="val 13043"/>
            </a:avLst>
          </a:prstGeom>
          <a:solidFill xmlns:a="http://schemas.openxmlformats.org/drawingml/2006/main">
            <a:srgbClr val="FFFFFF"/>
          </a:solidFill>
          <a:ln xmlns:a="http://schemas.openxmlformats.org/drawingml/2006/main" w="11430">
            <a:solidFill>
              <a:srgbClr val="D5E0E7"/>
            </a:solidFill>
            <a:prstDash val="solid"/>
          </a:ln>
        </p:spPr>
      </p:sp>
      <p:sp>
        <p:nvSpPr>
          <p:cNvPr id="16" name="">
            <a:extLst xmlns:a="http://schemas.openxmlformats.org/drawingml/2006/main">
              <a:ext uri="{FF2B5EF4-FFF2-40B4-BE49-F238E27FC236}">
                <a16:creationId xmlns:a16="http://schemas.microsoft.com/office/drawing/2014/main" id="{9C6121C3-0A6F-406B-834C-4F6E86326442}"/>
              </a:ext>
            </a:extLst>
          </p:cNvPr>
          <p:cNvSpPr>
            <a:spLocks xmlns:a="http://schemas.openxmlformats.org/drawingml/2006/main" noGrp="1"/>
          </p:cNvSpPr>
          <p:nvPr/>
        </p:nvSpPr>
        <p:spPr>
          <a:xfrm xmlns:a="http://schemas.openxmlformats.org/drawingml/2006/main">
            <a:off x="876300" y="3638550"/>
            <a:ext cx="1809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75" b="1">
                <a:solidFill>
                  <a:srgbClr val="A14338"/>
                </a:solidFill>
                <a:latin typeface="Arial"/>
                <a:ea typeface="Arial"/>
                <a:cs typeface="Arial"/>
              </a:defRPr>
            </a:pPr>
            <a:r>
              <a:rPr sz="1275" b="1">
                <a:solidFill>
                  <a:srgbClr val="A14338"/>
                </a:solidFill>
                <a:latin typeface="Arial"/>
                <a:ea typeface="Arial"/>
                <a:cs typeface="Arial"/>
              </a:rPr>
              <a:t>Safe model path</a:t>
            </a:r>
          </a:p>
        </p:txBody>
      </p:sp>
      <p:sp>
        <p:nvSpPr>
          <p:cNvPr id="17" name="">
            <a:extLst xmlns:a="http://schemas.openxmlformats.org/drawingml/2006/main">
              <a:ext uri="{FF2B5EF4-FFF2-40B4-BE49-F238E27FC236}">
                <a16:creationId xmlns:a16="http://schemas.microsoft.com/office/drawing/2014/main" id="{B2EF495F-9850-4276-8A11-A73B78A7D3B0}"/>
              </a:ext>
            </a:extLst>
          </p:cNvPr>
          <p:cNvSpPr>
            <a:spLocks xmlns:a="http://schemas.openxmlformats.org/drawingml/2006/main" noGrp="1"/>
          </p:cNvSpPr>
          <p:nvPr/>
        </p:nvSpPr>
        <p:spPr>
          <a:xfrm xmlns:a="http://schemas.openxmlformats.org/drawingml/2006/main">
            <a:off x="2857500" y="3619500"/>
            <a:ext cx="4267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17334B"/>
                </a:solidFill>
                <a:latin typeface="Arial"/>
                <a:ea typeface="Arial"/>
                <a:cs typeface="Arial"/>
              </a:defRPr>
            </a:pPr>
            <a:r>
              <a:rPr sz="1125" b="0">
                <a:solidFill>
                  <a:srgbClr val="17334B"/>
                </a:solidFill>
                <a:latin typeface="Arial"/>
                <a:ea typeface="Arial"/>
                <a:cs typeface="Arial"/>
              </a:rPr>
              <a:t>Acceptance: zero raw PII in released content; fail closed on extraction gaps and require human review.</a:t>
            </a:r>
          </a:p>
        </p:txBody>
      </p:sp>
      <p:sp>
        <p:nvSpPr>
          <p:cNvPr id="18" name="">
            <a:extLst xmlns:a="http://schemas.openxmlformats.org/drawingml/2006/main">
              <a:ext uri="{FF2B5EF4-FFF2-40B4-BE49-F238E27FC236}">
                <a16:creationId xmlns:a16="http://schemas.microsoft.com/office/drawing/2014/main" id="{54DB8EB2-73A5-432D-81A1-F0A15BEED5DD}"/>
              </a:ext>
            </a:extLst>
          </p:cNvPr>
          <p:cNvSpPr>
            <a:spLocks xmlns:a="http://schemas.openxmlformats.org/drawingml/2006/main" noGrp="1"/>
          </p:cNvSpPr>
          <p:nvPr/>
        </p:nvSpPr>
        <p:spPr>
          <a:xfrm xmlns:a="http://schemas.openxmlformats.org/drawingml/2006/main">
            <a:off x="7410450" y="3619500"/>
            <a:ext cx="3867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17334B"/>
                </a:solidFill>
                <a:latin typeface="Arial"/>
                <a:ea typeface="Arial"/>
                <a:cs typeface="Arial"/>
              </a:defRPr>
            </a:pPr>
            <a:r>
              <a:rPr sz="1125" b="0">
                <a:solidFill>
                  <a:srgbClr val="17334B"/>
                </a:solidFill>
                <a:latin typeface="Arial"/>
                <a:ea typeface="Arial"/>
                <a:cs typeface="Arial"/>
              </a:rPr>
              <a:t>Local prototype shows redacted export and quarantine. No AI endpoint is implemented for end-to-end testing.</a:t>
            </a:r>
          </a:p>
        </p:txBody>
      </p:sp>
      <p:sp>
        <p:nvSpPr>
          <p:cNvPr id="19" name="">
            <a:extLst xmlns:a="http://schemas.openxmlformats.org/drawingml/2006/main">
              <a:ext uri="{FF2B5EF4-FFF2-40B4-BE49-F238E27FC236}">
                <a16:creationId xmlns:a16="http://schemas.microsoft.com/office/drawing/2014/main" id="{B1B20C05-F2EC-4F36-B2E2-F78A141BAEAE}"/>
              </a:ext>
            </a:extLst>
          </p:cNvPr>
          <p:cNvSpPr>
            <a:spLocks xmlns:a="http://schemas.openxmlformats.org/drawingml/2006/main" noGrp="1"/>
          </p:cNvSpPr>
          <p:nvPr/>
        </p:nvSpPr>
        <p:spPr>
          <a:xfrm xmlns:a="http://schemas.openxmlformats.org/drawingml/2006/main">
            <a:off x="685800" y="4505325"/>
            <a:ext cx="10820400" cy="876300"/>
          </a:xfrm>
          <a:prstGeom xmlns:a="http://schemas.openxmlformats.org/drawingml/2006/main" prst="roundRect">
            <a:avLst>
              <a:gd name="adj" fmla="val 13043"/>
            </a:avLst>
          </a:prstGeom>
          <a:solidFill xmlns:a="http://schemas.openxmlformats.org/drawingml/2006/main">
            <a:srgbClr val="FFFFFF"/>
          </a:solidFill>
          <a:ln xmlns:a="http://schemas.openxmlformats.org/drawingml/2006/main" w="11430">
            <a:solidFill>
              <a:srgbClr val="D5E0E7"/>
            </a:solidFill>
            <a:prstDash val="solid"/>
          </a:ln>
        </p:spPr>
      </p:sp>
      <p:sp>
        <p:nvSpPr>
          <p:cNvPr id="20" name="">
            <a:extLst xmlns:a="http://schemas.openxmlformats.org/drawingml/2006/main">
              <a:ext uri="{FF2B5EF4-FFF2-40B4-BE49-F238E27FC236}">
                <a16:creationId xmlns:a16="http://schemas.microsoft.com/office/drawing/2014/main" id="{7D0E9F09-43AF-41B7-A970-3BDE6358B0B7}"/>
              </a:ext>
            </a:extLst>
          </p:cNvPr>
          <p:cNvSpPr>
            <a:spLocks xmlns:a="http://schemas.openxmlformats.org/drawingml/2006/main" noGrp="1"/>
          </p:cNvSpPr>
          <p:nvPr/>
        </p:nvSpPr>
        <p:spPr>
          <a:xfrm xmlns:a="http://schemas.openxmlformats.org/drawingml/2006/main">
            <a:off x="876300" y="4619625"/>
            <a:ext cx="1809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75" b="1">
                <a:solidFill>
                  <a:srgbClr val="102C49"/>
                </a:solidFill>
                <a:latin typeface="Arial"/>
                <a:ea typeface="Arial"/>
                <a:cs typeface="Arial"/>
              </a:defRPr>
            </a:pPr>
            <a:r>
              <a:rPr sz="1275" b="1">
                <a:solidFill>
                  <a:srgbClr val="102C49"/>
                </a:solidFill>
                <a:latin typeface="Arial"/>
                <a:ea typeface="Arial"/>
                <a:cs typeface="Arial"/>
              </a:rPr>
              <a:t>Live evidence demo</a:t>
            </a:r>
          </a:p>
        </p:txBody>
      </p:sp>
      <p:sp>
        <p:nvSpPr>
          <p:cNvPr id="21" name="">
            <a:extLst xmlns:a="http://schemas.openxmlformats.org/drawingml/2006/main">
              <a:ext uri="{FF2B5EF4-FFF2-40B4-BE49-F238E27FC236}">
                <a16:creationId xmlns:a16="http://schemas.microsoft.com/office/drawing/2014/main" id="{9202E512-4287-4AA7-BC3D-BA3F6439C7AF}"/>
              </a:ext>
            </a:extLst>
          </p:cNvPr>
          <p:cNvSpPr>
            <a:spLocks xmlns:a="http://schemas.openxmlformats.org/drawingml/2006/main" noGrp="1"/>
          </p:cNvSpPr>
          <p:nvPr/>
        </p:nvSpPr>
        <p:spPr>
          <a:xfrm xmlns:a="http://schemas.openxmlformats.org/drawingml/2006/main">
            <a:off x="2857500" y="4600575"/>
            <a:ext cx="4267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17334B"/>
                </a:solidFill>
                <a:latin typeface="Arial"/>
                <a:ea typeface="Arial"/>
                <a:cs typeface="Arial"/>
              </a:defRPr>
            </a:pPr>
            <a:r>
              <a:rPr sz="1125" b="0">
                <a:solidFill>
                  <a:srgbClr val="17334B"/>
                </a:solidFill>
                <a:latin typeface="Arial"/>
                <a:ea typeface="Arial"/>
                <a:cs typeface="Arial"/>
              </a:rPr>
              <a:t>Upload the Risk PDF, Organization PPTX and TPRM DOCX; show extraction, tagged classes, locations and redacted output.</a:t>
            </a:r>
          </a:p>
        </p:txBody>
      </p:sp>
      <p:sp>
        <p:nvSpPr>
          <p:cNvPr id="22" name="">
            <a:extLst xmlns:a="http://schemas.openxmlformats.org/drawingml/2006/main">
              <a:ext uri="{FF2B5EF4-FFF2-40B4-BE49-F238E27FC236}">
                <a16:creationId xmlns:a16="http://schemas.microsoft.com/office/drawing/2014/main" id="{AD2F8F69-CC05-4502-BB98-95B5820E4E0A}"/>
              </a:ext>
            </a:extLst>
          </p:cNvPr>
          <p:cNvSpPr>
            <a:spLocks xmlns:a="http://schemas.openxmlformats.org/drawingml/2006/main" noGrp="1"/>
          </p:cNvSpPr>
          <p:nvPr/>
        </p:nvSpPr>
        <p:spPr>
          <a:xfrm xmlns:a="http://schemas.openxmlformats.org/drawingml/2006/main">
            <a:off x="7410450" y="4600575"/>
            <a:ext cx="3867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0">
                <a:solidFill>
                  <a:srgbClr val="17334B"/>
                </a:solidFill>
                <a:latin typeface="Arial"/>
                <a:ea typeface="Arial"/>
                <a:cs typeface="Arial"/>
              </a:defRPr>
            </a:pPr>
            <a:r>
              <a:rPr sz="1125" b="0">
                <a:solidFill>
                  <a:srgbClr val="17334B"/>
                </a:solidFill>
                <a:latin typeface="Arial"/>
                <a:ea typeface="Arial"/>
                <a:cs typeface="Arial"/>
              </a:rPr>
              <a:t>PPTX/DOCX are supported. Scanned PDF walkthrough requires local Tesseract + Poppler and OCR review.</a:t>
            </a:r>
          </a:p>
        </p:txBody>
      </p:sp>
      <p:sp>
        <p:nvSpPr>
          <p:cNvPr id="23" name="">
            <a:extLst xmlns:a="http://schemas.openxmlformats.org/drawingml/2006/main">
              <a:ext uri="{FF2B5EF4-FFF2-40B4-BE49-F238E27FC236}">
                <a16:creationId xmlns:a16="http://schemas.microsoft.com/office/drawing/2014/main" id="{5AE980DE-DCB9-4B30-B648-6BD0C1FCB22A}"/>
              </a:ext>
            </a:extLst>
          </p:cNvPr>
          <p:cNvSpPr>
            <a:spLocks xmlns:a="http://schemas.openxmlformats.org/drawingml/2006/main" noGrp="1"/>
          </p:cNvSpPr>
          <p:nvPr/>
        </p:nvSpPr>
        <p:spPr>
          <a:xfrm xmlns:a="http://schemas.openxmlformats.org/drawingml/2006/main">
            <a:off x="685800" y="5600700"/>
            <a:ext cx="10820400" cy="457200"/>
          </a:xfrm>
          <a:prstGeom xmlns:a="http://schemas.openxmlformats.org/drawingml/2006/main" prst="roundRect">
            <a:avLst>
              <a:gd name="adj" fmla="val 25000"/>
            </a:avLst>
          </a:prstGeom>
          <a:solidFill xmlns:a="http://schemas.openxmlformats.org/drawingml/2006/main">
            <a:srgbClr val="F8EAE7"/>
          </a:solidFill>
          <a:ln xmlns:a="http://schemas.openxmlformats.org/drawingml/2006/main" w="11430">
            <a:solidFill>
              <a:srgbClr val="F8EAE7"/>
            </a:solidFill>
            <a:prstDash val="solid"/>
          </a:ln>
        </p:spPr>
      </p:sp>
      <p:sp>
        <p:nvSpPr>
          <p:cNvPr id="24" name="">
            <a:extLst xmlns:a="http://schemas.openxmlformats.org/drawingml/2006/main">
              <a:ext uri="{FF2B5EF4-FFF2-40B4-BE49-F238E27FC236}">
                <a16:creationId xmlns:a16="http://schemas.microsoft.com/office/drawing/2014/main" id="{9941A48F-A6B5-4E5C-A521-DFB699FE09DE}"/>
              </a:ext>
            </a:extLst>
          </p:cNvPr>
          <p:cNvSpPr>
            <a:spLocks xmlns:a="http://schemas.openxmlformats.org/drawingml/2006/main" noGrp="1"/>
          </p:cNvSpPr>
          <p:nvPr/>
        </p:nvSpPr>
        <p:spPr>
          <a:xfrm xmlns:a="http://schemas.openxmlformats.org/drawingml/2006/main">
            <a:off x="876300" y="5676900"/>
            <a:ext cx="1038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75" b="1">
                <a:solidFill>
                  <a:srgbClr val="A14338"/>
                </a:solidFill>
                <a:latin typeface="Arial"/>
                <a:ea typeface="Arial"/>
                <a:cs typeface="Arial"/>
              </a:defRPr>
            </a:pPr>
            <a:r>
              <a:rPr sz="1275" b="1">
                <a:solidFill>
                  <a:srgbClr val="A14338"/>
                </a:solidFill>
                <a:latin typeface="Arial"/>
                <a:ea typeface="Arial"/>
                <a:cs typeface="Arial"/>
              </a:rPr>
              <a:t>Targets are not results: report measured scores and reviewer sign-off before claiming they are achieved.</a:t>
            </a:r>
          </a:p>
        </p:txBody>
      </p:sp>
      <p:sp>
        <p:nvSpPr>
          <p:cNvPr id="25" name="">
            <a:extLst xmlns:a="http://schemas.openxmlformats.org/drawingml/2006/main">
              <a:ext uri="{FF2B5EF4-FFF2-40B4-BE49-F238E27FC236}">
                <a16:creationId xmlns:a16="http://schemas.microsoft.com/office/drawing/2014/main" id="{20F6E5D6-4C65-48C5-9416-43320EA51849}"/>
              </a:ext>
            </a:extLst>
          </p:cNvPr>
          <p:cNvSpPr>
            <a:spLocks xmlns:a="http://schemas.openxmlformats.org/drawingml/2006/main" noGrp="1"/>
          </p:cNvSpPr>
          <p:nvPr/>
        </p:nvSpPr>
        <p:spPr>
          <a:xfrm xmlns:a="http://schemas.openxmlformats.org/drawingml/2006/main">
            <a:off x="685800" y="655320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48485"/>
          </a:bodyPr>
          <a:lstStyle xmlns:a="http://schemas.openxmlformats.org/drawingml/2006/main"/>
          <a:p xmlns:a="http://schemas.openxmlformats.org/drawingml/2006/main">
            <a:pPr algn="l">
              <a:buNone/>
              <a:defRPr sz="825" b="0">
                <a:solidFill>
                  <a:srgbClr val="536D81"/>
                </a:solidFill>
                <a:latin typeface="Arial"/>
                <a:ea typeface="Arial"/>
                <a:cs typeface="Arial"/>
              </a:defRPr>
            </a:pPr>
            <a:r>
              <a:rPr sz="825" b="0">
                <a:solidFill>
                  <a:srgbClr val="536D81"/>
                </a:solidFill>
                <a:latin typeface="Arial"/>
                <a:ea typeface="Arial"/>
                <a:cs typeface="Arial"/>
              </a:rPr>
              <a:t>OPTIV  ·  VIT 2026  |  CASE STUDY 2  |  13</a:t>
            </a:r>
          </a:p>
        </p:txBody>
      </p:sp>
    </p:spTree>
    <p:extLst>
      <p:ext uri="{BB962C8B-B14F-4D97-AF65-F5344CB8AC3E}">
        <p14:creationId xmlns:p14="http://schemas.microsoft.com/office/powerpoint/2010/main" val="47597151"/>
      </p:ext>
    </p:extLst>
  </p:cSld>
</p:sld>
</file>

<file path=ppt/slides/slide14.xml><?xml version="1.0" encoding="utf-8"?>
<p:sld xmlns:p="http://schemas.openxmlformats.org/presentationml/2006/main">
  <p:cSld>
    <p:bg>
      <p:bgPr>
        <a:solidFill xmlns:a="http://schemas.openxmlformats.org/drawingml/2006/main">
          <a:srgbClr val="F3F6F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E76AB4E2-B80D-4D01-A0B0-3F5AE758345D}"/>
              </a:ext>
            </a:extLst>
          </p:cNvPr>
          <p:cNvSpPr>
            <a:spLocks xmlns:a="http://schemas.openxmlformats.org/drawingml/2006/main" noGrp="1"/>
          </p:cNvSpPr>
          <p:nvPr/>
        </p:nvSpPr>
        <p:spPr>
          <a:xfrm xmlns:a="http://schemas.openxmlformats.org/drawingml/2006/main">
            <a:off x="685800" y="20955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762"/>
          </a:bodyPr>
          <a:lstStyle xmlns:a="http://schemas.openxmlformats.org/drawingml/2006/main"/>
          <a:p xmlns:a="http://schemas.openxmlformats.org/drawingml/2006/main">
            <a:pPr algn="l">
              <a:buNone/>
              <a:defRPr sz="1050" b="1">
                <a:solidFill>
                  <a:srgbClr val="187A83"/>
                </a:solidFill>
                <a:latin typeface="Arial"/>
                <a:ea typeface="Arial"/>
                <a:cs typeface="Arial"/>
              </a:defRPr>
            </a:pPr>
            <a:r>
              <a:rPr sz="1050" b="1">
                <a:solidFill>
                  <a:srgbClr val="187A83"/>
                </a:solidFill>
                <a:latin typeface="Arial"/>
                <a:ea typeface="Arial"/>
                <a:cs typeface="Arial"/>
              </a:rPr>
              <a:t>CASE STUDY 2  /  CADENCE</a:t>
            </a:r>
          </a:p>
        </p:txBody>
      </p:sp>
      <p:sp>
        <p:nvSpPr>
          <p:cNvPr id="2" name="">
            <a:extLst xmlns:a="http://schemas.openxmlformats.org/drawingml/2006/main">
              <a:ext uri="{FF2B5EF4-FFF2-40B4-BE49-F238E27FC236}">
                <a16:creationId xmlns:a16="http://schemas.microsoft.com/office/drawing/2014/main" id="{06FD24D8-50B8-4BF3-9E34-A20387000B7F}"/>
              </a:ext>
            </a:extLst>
          </p:cNvPr>
          <p:cNvSpPr>
            <a:spLocks xmlns:a="http://schemas.openxmlformats.org/drawingml/2006/main" noGrp="1"/>
          </p:cNvSpPr>
          <p:nvPr/>
        </p:nvSpPr>
        <p:spPr>
          <a:xfrm xmlns:a="http://schemas.openxmlformats.org/drawingml/2006/main">
            <a:off x="685800" y="4953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850" b="1">
                <a:solidFill>
                  <a:srgbClr val="102C49"/>
                </a:solidFill>
                <a:latin typeface="Arial"/>
                <a:ea typeface="Arial"/>
                <a:cs typeface="Arial"/>
              </a:defRPr>
            </a:pPr>
            <a:r>
              <a:rPr sz="2850" b="1">
                <a:solidFill>
                  <a:srgbClr val="102C49"/>
                </a:solidFill>
                <a:latin typeface="Arial"/>
                <a:ea typeface="Arial"/>
                <a:cs typeface="Arial"/>
              </a:rPr>
              <a:t>Team delivery | complete submission by T+3 weeks</a:t>
            </a:r>
          </a:p>
        </p:txBody>
      </p:sp>
      <p:sp>
        <p:nvSpPr>
          <p:cNvPr id="3" name="">
            <a:extLst xmlns:a="http://schemas.openxmlformats.org/drawingml/2006/main">
              <a:ext uri="{FF2B5EF4-FFF2-40B4-BE49-F238E27FC236}">
                <a16:creationId xmlns:a16="http://schemas.microsoft.com/office/drawing/2014/main" id="{3CD3E58A-7061-40C5-98D3-CF5F43E9762B}"/>
              </a:ext>
            </a:extLst>
          </p:cNvPr>
          <p:cNvSpPr>
            <a:spLocks xmlns:a="http://schemas.openxmlformats.org/drawingml/2006/main" noGrp="1"/>
          </p:cNvSpPr>
          <p:nvPr/>
        </p:nvSpPr>
        <p:spPr>
          <a:xfrm xmlns:a="http://schemas.openxmlformats.org/drawingml/2006/main">
            <a:off x="685800" y="1162050"/>
            <a:ext cx="10820400" cy="0"/>
          </a:xfrm>
          <a:prstGeom xmlns:a="http://schemas.openxmlformats.org/drawingml/2006/main" prst="line">
            <a:avLst/>
          </a:prstGeom>
          <a:noFill xmlns:a="http://schemas.openxmlformats.org/drawingml/2006/main"/>
          <a:ln xmlns:a="http://schemas.openxmlformats.org/drawingml/2006/main" w="11430">
            <a:solidFill>
              <a:srgbClr val="D5E0E7"/>
            </a:solidFill>
            <a:prstDash val="solid"/>
          </a:ln>
        </p:spPr>
      </p:sp>
      <p:sp>
        <p:nvSpPr>
          <p:cNvPr id="4" name="">
            <a:extLst xmlns:a="http://schemas.openxmlformats.org/drawingml/2006/main">
              <a:ext uri="{FF2B5EF4-FFF2-40B4-BE49-F238E27FC236}">
                <a16:creationId xmlns:a16="http://schemas.microsoft.com/office/drawing/2014/main" id="{8DD42EF8-D68D-43C9-AD47-687B0FACE420}"/>
              </a:ext>
            </a:extLst>
          </p:cNvPr>
          <p:cNvSpPr>
            <a:spLocks xmlns:a="http://schemas.openxmlformats.org/drawingml/2006/main" noGrp="1"/>
          </p:cNvSpPr>
          <p:nvPr/>
        </p:nvSpPr>
        <p:spPr>
          <a:xfrm xmlns:a="http://schemas.openxmlformats.org/drawingml/2006/main">
            <a:off x="685800" y="13335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a:solidFill>
                  <a:srgbClr val="17334B"/>
                </a:solidFill>
                <a:latin typeface="Arial"/>
                <a:ea typeface="Arial"/>
                <a:cs typeface="Arial"/>
              </a:defRPr>
            </a:pPr>
            <a:r>
              <a:rPr sz="1350" b="0">
                <a:solidFill>
                  <a:srgbClr val="17334B"/>
                </a:solidFill>
                <a:latin typeface="Arial"/>
                <a:ea typeface="Arial"/>
                <a:cs typeface="Arial"/>
              </a:rPr>
              <a:t>Three-week plan from the official release date; use relative weeks until the calendar release date is confirmed.</a:t>
            </a:r>
          </a:p>
        </p:txBody>
      </p:sp>
      <p:sp>
        <p:nvSpPr>
          <p:cNvPr id="5" name="">
            <a:extLst xmlns:a="http://schemas.openxmlformats.org/drawingml/2006/main">
              <a:ext uri="{FF2B5EF4-FFF2-40B4-BE49-F238E27FC236}">
                <a16:creationId xmlns:a16="http://schemas.microsoft.com/office/drawing/2014/main" id="{CFF264CA-7DCD-4C10-B830-C2A6D22C0C89}"/>
              </a:ext>
            </a:extLst>
          </p:cNvPr>
          <p:cNvSpPr>
            <a:spLocks xmlns:a="http://schemas.openxmlformats.org/drawingml/2006/main" noGrp="1"/>
          </p:cNvSpPr>
          <p:nvPr/>
        </p:nvSpPr>
        <p:spPr>
          <a:xfrm xmlns:a="http://schemas.openxmlformats.org/drawingml/2006/main">
            <a:off x="685800" y="1847850"/>
            <a:ext cx="3352800" cy="3543300"/>
          </a:xfrm>
          <a:prstGeom xmlns:a="http://schemas.openxmlformats.org/drawingml/2006/main" prst="roundRect">
            <a:avLst>
              <a:gd name="adj" fmla="val 3409"/>
            </a:avLst>
          </a:prstGeom>
          <a:solidFill xmlns:a="http://schemas.openxmlformats.org/drawingml/2006/main">
            <a:srgbClr val="FFFFFF"/>
          </a:solidFill>
          <a:ln xmlns:a="http://schemas.openxmlformats.org/drawingml/2006/main" w="11430">
            <a:solidFill>
              <a:srgbClr val="D5E0E7"/>
            </a:solidFill>
            <a:prstDash val="solid"/>
          </a:ln>
        </p:spPr>
      </p:sp>
      <p:sp>
        <p:nvSpPr>
          <p:cNvPr id="6" name="">
            <a:extLst xmlns:a="http://schemas.openxmlformats.org/drawingml/2006/main">
              <a:ext uri="{FF2B5EF4-FFF2-40B4-BE49-F238E27FC236}">
                <a16:creationId xmlns:a16="http://schemas.microsoft.com/office/drawing/2014/main" id="{056B8C0C-B393-4C11-98A6-025E52C75F20}"/>
              </a:ext>
            </a:extLst>
          </p:cNvPr>
          <p:cNvSpPr>
            <a:spLocks xmlns:a="http://schemas.openxmlformats.org/drawingml/2006/main" noGrp="1"/>
          </p:cNvSpPr>
          <p:nvPr/>
        </p:nvSpPr>
        <p:spPr>
          <a:xfrm xmlns:a="http://schemas.openxmlformats.org/drawingml/2006/main">
            <a:off x="685800" y="1847850"/>
            <a:ext cx="3352800" cy="514350"/>
          </a:xfrm>
          <a:prstGeom xmlns:a="http://schemas.openxmlformats.org/drawingml/2006/main" prst="roundRect">
            <a:avLst>
              <a:gd name="adj" fmla="val 22222"/>
            </a:avLst>
          </a:prstGeom>
          <a:solidFill xmlns:a="http://schemas.openxmlformats.org/drawingml/2006/main">
            <a:srgbClr val="187A83"/>
          </a:solidFill>
          <a:ln xmlns:a="http://schemas.openxmlformats.org/drawingml/2006/main" w="11430">
            <a:solidFill>
              <a:srgbClr val="187A83"/>
            </a:solidFill>
            <a:prstDash val="solid"/>
          </a:ln>
        </p:spPr>
      </p:sp>
      <p:sp>
        <p:nvSpPr>
          <p:cNvPr id="7" name="">
            <a:extLst xmlns:a="http://schemas.openxmlformats.org/drawingml/2006/main">
              <a:ext uri="{FF2B5EF4-FFF2-40B4-BE49-F238E27FC236}">
                <a16:creationId xmlns:a16="http://schemas.microsoft.com/office/drawing/2014/main" id="{18D32B47-9313-4C2A-A98E-57DDD523D55C}"/>
              </a:ext>
            </a:extLst>
          </p:cNvPr>
          <p:cNvSpPr>
            <a:spLocks xmlns:a="http://schemas.openxmlformats.org/drawingml/2006/main" noGrp="1"/>
          </p:cNvSpPr>
          <p:nvPr/>
        </p:nvSpPr>
        <p:spPr>
          <a:xfrm xmlns:a="http://schemas.openxmlformats.org/drawingml/2006/main">
            <a:off x="838200" y="192405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00" b="1">
                <a:solidFill>
                  <a:srgbClr val="FFFFFF"/>
                </a:solidFill>
                <a:latin typeface="Arial"/>
                <a:ea typeface="Arial"/>
                <a:cs typeface="Arial"/>
              </a:defRPr>
            </a:pPr>
            <a:r>
              <a:rPr sz="1200" b="1">
                <a:solidFill>
                  <a:srgbClr val="FFFFFF"/>
                </a:solidFill>
                <a:latin typeface="Arial"/>
                <a:ea typeface="Arial"/>
                <a:cs typeface="Arial"/>
              </a:rPr>
              <a:t>WEEK 1  ·  SCOPE &amp; BASELINE</a:t>
            </a:r>
          </a:p>
        </p:txBody>
      </p:sp>
      <p:sp>
        <p:nvSpPr>
          <p:cNvPr id="8" name="">
            <a:extLst xmlns:a="http://schemas.openxmlformats.org/drawingml/2006/main">
              <a:ext uri="{FF2B5EF4-FFF2-40B4-BE49-F238E27FC236}">
                <a16:creationId xmlns:a16="http://schemas.microsoft.com/office/drawing/2014/main" id="{931749E3-8AFD-4C10-9114-16C8AF0BF60D}"/>
              </a:ext>
            </a:extLst>
          </p:cNvPr>
          <p:cNvSpPr>
            <a:spLocks xmlns:a="http://schemas.openxmlformats.org/drawingml/2006/main" noGrp="1"/>
          </p:cNvSpPr>
          <p:nvPr/>
        </p:nvSpPr>
        <p:spPr>
          <a:xfrm xmlns:a="http://schemas.openxmlformats.org/drawingml/2006/main">
            <a:off x="876300" y="2514600"/>
            <a:ext cx="2971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1">
                <a:solidFill>
                  <a:srgbClr val="D6AA4B"/>
                </a:solidFill>
                <a:latin typeface="Arial"/>
                <a:ea typeface="Arial"/>
                <a:cs typeface="Arial"/>
              </a:defRPr>
            </a:pPr>
            <a:r>
              <a:rPr sz="1125" b="1">
                <a:solidFill>
                  <a:srgbClr val="D6AA4B"/>
                </a:solidFill>
                <a:latin typeface="Arial"/>
                <a:ea typeface="Arial"/>
                <a:cs typeface="Arial"/>
              </a:rPr>
              <a:t>Product / security lead + analysts</a:t>
            </a:r>
          </a:p>
        </p:txBody>
      </p:sp>
      <p:sp>
        <p:nvSpPr>
          <p:cNvPr id="9" name="">
            <a:extLst xmlns:a="http://schemas.openxmlformats.org/drawingml/2006/main">
              <a:ext uri="{FF2B5EF4-FFF2-40B4-BE49-F238E27FC236}">
                <a16:creationId xmlns:a16="http://schemas.microsoft.com/office/drawing/2014/main" id="{8F0B3D69-AE1C-454A-B8CC-38355595D8B9}"/>
              </a:ext>
            </a:extLst>
          </p:cNvPr>
          <p:cNvSpPr>
            <a:spLocks xmlns:a="http://schemas.openxmlformats.org/drawingml/2006/main" noGrp="1"/>
          </p:cNvSpPr>
          <p:nvPr/>
        </p:nvSpPr>
        <p:spPr>
          <a:xfrm xmlns:a="http://schemas.openxmlformats.org/drawingml/2006/main">
            <a:off x="876300" y="3009900"/>
            <a:ext cx="2971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00" b="0">
                <a:solidFill>
                  <a:srgbClr val="17334B"/>
                </a:solidFill>
                <a:latin typeface="Arial"/>
                <a:ea typeface="Arial"/>
                <a:cs typeface="Arial"/>
              </a:defRPr>
            </a:pPr>
            <a:r>
              <a:rPr sz="1200" b="0">
                <a:solidFill>
                  <a:srgbClr val="17334B"/>
                </a:solidFill>
                <a:latin typeface="Arial"/>
                <a:ea typeface="Arial"/>
                <a:cs typeface="Arial"/>
              </a:rPr>
              <a:t>Freeze PII classes, risk rules and acceptance definitions.</a:t>
            </a:r>
          </a:p>
          <a:p xmlns:a="http://schemas.openxmlformats.org/drawingml/2006/main">
            <a:pPr algn="l">
              <a:buNone/>
              <a:defRPr sz="1200" b="0">
                <a:solidFill>
                  <a:srgbClr val="17334B"/>
                </a:solidFill>
                <a:latin typeface="Arial"/>
                <a:ea typeface="Arial"/>
                <a:cs typeface="Arial"/>
              </a:defRPr>
            </a:pPr>
            <a:r>
              <a:rPr sz="1200" b="0">
                <a:solidFill>
                  <a:srgbClr val="17334B"/>
                </a:solidFill>
                <a:latin typeface="Arial"/>
                <a:ea typeface="Arial"/>
                <a:cs typeface="Arial"/>
              </a:rPr>
              <a:t>Label a representative corpus for structure and PII.</a:t>
            </a:r>
          </a:p>
          <a:p xmlns:a="http://schemas.openxmlformats.org/drawingml/2006/main">
            <a:pPr algn="l">
              <a:buNone/>
              <a:defRPr sz="1200" b="0">
                <a:solidFill>
                  <a:srgbClr val="17334B"/>
                </a:solidFill>
                <a:latin typeface="Arial"/>
                <a:ea typeface="Arial"/>
                <a:cs typeface="Arial"/>
              </a:defRPr>
            </a:pPr>
            <a:r>
              <a:rPr sz="1200" b="0">
                <a:solidFill>
                  <a:srgbClr val="17334B"/>
                </a:solidFill>
                <a:latin typeface="Arial"/>
                <a:ea typeface="Arial"/>
                <a:cs typeface="Arial"/>
              </a:rPr>
              <a:t>Confirm OCR setup and walkthrough environment.</a:t>
            </a:r>
          </a:p>
        </p:txBody>
      </p:sp>
      <p:sp>
        <p:nvSpPr>
          <p:cNvPr id="10" name="">
            <a:extLst xmlns:a="http://schemas.openxmlformats.org/drawingml/2006/main">
              <a:ext uri="{FF2B5EF4-FFF2-40B4-BE49-F238E27FC236}">
                <a16:creationId xmlns:a16="http://schemas.microsoft.com/office/drawing/2014/main" id="{CD22E7AC-683D-4C6B-914E-4777DA096CBA}"/>
              </a:ext>
            </a:extLst>
          </p:cNvPr>
          <p:cNvSpPr>
            <a:spLocks xmlns:a="http://schemas.openxmlformats.org/drawingml/2006/main" noGrp="1"/>
          </p:cNvSpPr>
          <p:nvPr/>
        </p:nvSpPr>
        <p:spPr>
          <a:xfrm xmlns:a="http://schemas.openxmlformats.org/drawingml/2006/main">
            <a:off x="876300" y="4695825"/>
            <a:ext cx="2971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1">
                <a:solidFill>
                  <a:srgbClr val="187A83"/>
                </a:solidFill>
                <a:latin typeface="Arial"/>
                <a:ea typeface="Arial"/>
                <a:cs typeface="Arial"/>
              </a:defRPr>
            </a:pPr>
            <a:r>
              <a:rPr sz="1125" b="1">
                <a:solidFill>
                  <a:srgbClr val="187A83"/>
                </a:solidFill>
                <a:latin typeface="Arial"/>
                <a:ea typeface="Arial"/>
                <a:cs typeface="Arial"/>
              </a:rPr>
              <a:t>Gate: baseline and gold labels reviewed.</a:t>
            </a:r>
          </a:p>
        </p:txBody>
      </p:sp>
      <p:sp>
        <p:nvSpPr>
          <p:cNvPr id="11" name="">
            <a:extLst xmlns:a="http://schemas.openxmlformats.org/drawingml/2006/main">
              <a:ext uri="{FF2B5EF4-FFF2-40B4-BE49-F238E27FC236}">
                <a16:creationId xmlns:a16="http://schemas.microsoft.com/office/drawing/2014/main" id="{FD967B20-D1AF-4F4E-9FFE-90C2C4960D09}"/>
              </a:ext>
            </a:extLst>
          </p:cNvPr>
          <p:cNvSpPr>
            <a:spLocks xmlns:a="http://schemas.openxmlformats.org/drawingml/2006/main" noGrp="1"/>
          </p:cNvSpPr>
          <p:nvPr/>
        </p:nvSpPr>
        <p:spPr>
          <a:xfrm xmlns:a="http://schemas.openxmlformats.org/drawingml/2006/main">
            <a:off x="4305300" y="1847850"/>
            <a:ext cx="3352800" cy="3543300"/>
          </a:xfrm>
          <a:prstGeom xmlns:a="http://schemas.openxmlformats.org/drawingml/2006/main" prst="roundRect">
            <a:avLst>
              <a:gd name="adj" fmla="val 3409"/>
            </a:avLst>
          </a:prstGeom>
          <a:solidFill xmlns:a="http://schemas.openxmlformats.org/drawingml/2006/main">
            <a:srgbClr val="FFFFFF"/>
          </a:solidFill>
          <a:ln xmlns:a="http://schemas.openxmlformats.org/drawingml/2006/main" w="11430">
            <a:solidFill>
              <a:srgbClr val="D5E0E7"/>
            </a:solidFill>
            <a:prstDash val="solid"/>
          </a:ln>
        </p:spPr>
      </p:sp>
      <p:sp>
        <p:nvSpPr>
          <p:cNvPr id="12" name="">
            <a:extLst xmlns:a="http://schemas.openxmlformats.org/drawingml/2006/main">
              <a:ext uri="{FF2B5EF4-FFF2-40B4-BE49-F238E27FC236}">
                <a16:creationId xmlns:a16="http://schemas.microsoft.com/office/drawing/2014/main" id="{A8D57D93-B8C8-49DC-A324-AC2B044F3EC5}"/>
              </a:ext>
            </a:extLst>
          </p:cNvPr>
          <p:cNvSpPr>
            <a:spLocks xmlns:a="http://schemas.openxmlformats.org/drawingml/2006/main" noGrp="1"/>
          </p:cNvSpPr>
          <p:nvPr/>
        </p:nvSpPr>
        <p:spPr>
          <a:xfrm xmlns:a="http://schemas.openxmlformats.org/drawingml/2006/main">
            <a:off x="4305300" y="1847850"/>
            <a:ext cx="3352800" cy="514350"/>
          </a:xfrm>
          <a:prstGeom xmlns:a="http://schemas.openxmlformats.org/drawingml/2006/main" prst="roundRect">
            <a:avLst>
              <a:gd name="adj" fmla="val 22222"/>
            </a:avLst>
          </a:prstGeom>
          <a:solidFill xmlns:a="http://schemas.openxmlformats.org/drawingml/2006/main">
            <a:srgbClr val="187A83"/>
          </a:solidFill>
          <a:ln xmlns:a="http://schemas.openxmlformats.org/drawingml/2006/main" w="11430">
            <a:solidFill>
              <a:srgbClr val="187A83"/>
            </a:solidFill>
            <a:prstDash val="solid"/>
          </a:ln>
        </p:spPr>
      </p:sp>
      <p:sp>
        <p:nvSpPr>
          <p:cNvPr id="13" name="">
            <a:extLst xmlns:a="http://schemas.openxmlformats.org/drawingml/2006/main">
              <a:ext uri="{FF2B5EF4-FFF2-40B4-BE49-F238E27FC236}">
                <a16:creationId xmlns:a16="http://schemas.microsoft.com/office/drawing/2014/main" id="{79E504A2-CC05-4FF1-B7BC-7BB2656E2E1A}"/>
              </a:ext>
            </a:extLst>
          </p:cNvPr>
          <p:cNvSpPr>
            <a:spLocks xmlns:a="http://schemas.openxmlformats.org/drawingml/2006/main" noGrp="1"/>
          </p:cNvSpPr>
          <p:nvPr/>
        </p:nvSpPr>
        <p:spPr>
          <a:xfrm xmlns:a="http://schemas.openxmlformats.org/drawingml/2006/main">
            <a:off x="4457700" y="192405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00" b="1">
                <a:solidFill>
                  <a:srgbClr val="FFFFFF"/>
                </a:solidFill>
                <a:latin typeface="Arial"/>
                <a:ea typeface="Arial"/>
                <a:cs typeface="Arial"/>
              </a:defRPr>
            </a:pPr>
            <a:r>
              <a:rPr sz="1200" b="1">
                <a:solidFill>
                  <a:srgbClr val="FFFFFF"/>
                </a:solidFill>
                <a:latin typeface="Arial"/>
                <a:ea typeface="Arial"/>
                <a:cs typeface="Arial"/>
              </a:rPr>
              <a:t>WEEK 2  ·  BUILD &amp; MEASURE</a:t>
            </a:r>
          </a:p>
        </p:txBody>
      </p:sp>
      <p:sp>
        <p:nvSpPr>
          <p:cNvPr id="14" name="">
            <a:extLst xmlns:a="http://schemas.openxmlformats.org/drawingml/2006/main">
              <a:ext uri="{FF2B5EF4-FFF2-40B4-BE49-F238E27FC236}">
                <a16:creationId xmlns:a16="http://schemas.microsoft.com/office/drawing/2014/main" id="{4523885E-4AA6-4C6A-91CB-39BD8E9D0430}"/>
              </a:ext>
            </a:extLst>
          </p:cNvPr>
          <p:cNvSpPr>
            <a:spLocks xmlns:a="http://schemas.openxmlformats.org/drawingml/2006/main" noGrp="1"/>
          </p:cNvSpPr>
          <p:nvPr/>
        </p:nvSpPr>
        <p:spPr>
          <a:xfrm xmlns:a="http://schemas.openxmlformats.org/drawingml/2006/main">
            <a:off x="4495800" y="2514600"/>
            <a:ext cx="2971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1">
                <a:solidFill>
                  <a:srgbClr val="D6AA4B"/>
                </a:solidFill>
                <a:latin typeface="Arial"/>
                <a:ea typeface="Arial"/>
                <a:cs typeface="Arial"/>
              </a:defRPr>
            </a:pPr>
            <a:r>
              <a:rPr sz="1125" b="1">
                <a:solidFill>
                  <a:srgbClr val="D6AA4B"/>
                </a:solidFill>
                <a:latin typeface="Arial"/>
                <a:ea typeface="Arial"/>
                <a:cs typeface="Arial"/>
              </a:rPr>
              <a:t>Engineering + data analyst</a:t>
            </a:r>
          </a:p>
        </p:txBody>
      </p:sp>
      <p:sp>
        <p:nvSpPr>
          <p:cNvPr id="15" name="">
            <a:extLst xmlns:a="http://schemas.openxmlformats.org/drawingml/2006/main">
              <a:ext uri="{FF2B5EF4-FFF2-40B4-BE49-F238E27FC236}">
                <a16:creationId xmlns:a16="http://schemas.microsoft.com/office/drawing/2014/main" id="{A964DF60-1818-47A5-96A6-2ABFCDA784CF}"/>
              </a:ext>
            </a:extLst>
          </p:cNvPr>
          <p:cNvSpPr>
            <a:spLocks xmlns:a="http://schemas.openxmlformats.org/drawingml/2006/main" noGrp="1"/>
          </p:cNvSpPr>
          <p:nvPr/>
        </p:nvSpPr>
        <p:spPr>
          <a:xfrm xmlns:a="http://schemas.openxmlformats.org/drawingml/2006/main">
            <a:off x="4495800" y="3009900"/>
            <a:ext cx="2971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00" b="0">
                <a:solidFill>
                  <a:srgbClr val="17334B"/>
                </a:solidFill>
                <a:latin typeface="Arial"/>
                <a:ea typeface="Arial"/>
                <a:cs typeface="Arial"/>
              </a:defRPr>
            </a:pPr>
            <a:r>
              <a:rPr sz="1200" b="0">
                <a:solidFill>
                  <a:srgbClr val="17334B"/>
                </a:solidFill>
                <a:latin typeface="Arial"/>
                <a:ea typeface="Arial"/>
                <a:cs typeface="Arial"/>
              </a:rPr>
              <a:t>Run PDF, PPTX and DOCX through extraction and redaction.</a:t>
            </a:r>
          </a:p>
          <a:p xmlns:a="http://schemas.openxmlformats.org/drawingml/2006/main">
            <a:pPr algn="l">
              <a:buNone/>
              <a:defRPr sz="1200" b="0">
                <a:solidFill>
                  <a:srgbClr val="17334B"/>
                </a:solidFill>
                <a:latin typeface="Arial"/>
                <a:ea typeface="Arial"/>
                <a:cs typeface="Arial"/>
              </a:defRPr>
            </a:pPr>
            <a:r>
              <a:rPr sz="1200" b="0">
                <a:solidFill>
                  <a:srgbClr val="17334B"/>
                </a:solidFill>
                <a:latin typeface="Arial"/>
                <a:ea typeface="Arial"/>
                <a:cs typeface="Arial"/>
              </a:rPr>
              <a:t>Capture source locations, parser gaps and OCR status.</a:t>
            </a:r>
          </a:p>
          <a:p xmlns:a="http://schemas.openxmlformats.org/drawingml/2006/main">
            <a:pPr algn="l">
              <a:buNone/>
              <a:defRPr sz="1200" b="0">
                <a:solidFill>
                  <a:srgbClr val="17334B"/>
                </a:solidFill>
                <a:latin typeface="Arial"/>
                <a:ea typeface="Arial"/>
                <a:cs typeface="Arial"/>
              </a:defRPr>
            </a:pPr>
            <a:r>
              <a:rPr sz="1200" b="0">
                <a:solidFill>
                  <a:srgbClr val="17334B"/>
                </a:solidFill>
                <a:latin typeface="Arial"/>
                <a:ea typeface="Arial"/>
                <a:cs typeface="Arial"/>
              </a:rPr>
              <a:t>Measure retention and per-class PII recall; triage misses.</a:t>
            </a:r>
          </a:p>
        </p:txBody>
      </p:sp>
      <p:sp>
        <p:nvSpPr>
          <p:cNvPr id="16" name="">
            <a:extLst xmlns:a="http://schemas.openxmlformats.org/drawingml/2006/main">
              <a:ext uri="{FF2B5EF4-FFF2-40B4-BE49-F238E27FC236}">
                <a16:creationId xmlns:a16="http://schemas.microsoft.com/office/drawing/2014/main" id="{CEC04E5E-CE0A-4ACF-8C12-10F88BA5B524}"/>
              </a:ext>
            </a:extLst>
          </p:cNvPr>
          <p:cNvSpPr>
            <a:spLocks xmlns:a="http://schemas.openxmlformats.org/drawingml/2006/main" noGrp="1"/>
          </p:cNvSpPr>
          <p:nvPr/>
        </p:nvSpPr>
        <p:spPr>
          <a:xfrm xmlns:a="http://schemas.openxmlformats.org/drawingml/2006/main">
            <a:off x="4495800" y="4695825"/>
            <a:ext cx="2971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1">
                <a:solidFill>
                  <a:srgbClr val="187A83"/>
                </a:solidFill>
                <a:latin typeface="Arial"/>
                <a:ea typeface="Arial"/>
                <a:cs typeface="Arial"/>
              </a:defRPr>
            </a:pPr>
            <a:r>
              <a:rPr sz="1125" b="1">
                <a:solidFill>
                  <a:srgbClr val="187A83"/>
                </a:solidFill>
                <a:latin typeface="Arial"/>
                <a:ea typeface="Arial"/>
                <a:cs typeface="Arial"/>
              </a:rPr>
              <a:t>Gate: measured results compared with targets.</a:t>
            </a:r>
          </a:p>
        </p:txBody>
      </p:sp>
      <p:sp>
        <p:nvSpPr>
          <p:cNvPr id="17" name="">
            <a:extLst xmlns:a="http://schemas.openxmlformats.org/drawingml/2006/main">
              <a:ext uri="{FF2B5EF4-FFF2-40B4-BE49-F238E27FC236}">
                <a16:creationId xmlns:a16="http://schemas.microsoft.com/office/drawing/2014/main" id="{750FAF50-A66C-417C-9F7B-A8560D870AA5}"/>
              </a:ext>
            </a:extLst>
          </p:cNvPr>
          <p:cNvSpPr>
            <a:spLocks xmlns:a="http://schemas.openxmlformats.org/drawingml/2006/main" noGrp="1"/>
          </p:cNvSpPr>
          <p:nvPr/>
        </p:nvSpPr>
        <p:spPr>
          <a:xfrm xmlns:a="http://schemas.openxmlformats.org/drawingml/2006/main">
            <a:off x="7924800" y="1847850"/>
            <a:ext cx="3352800" cy="3543300"/>
          </a:xfrm>
          <a:prstGeom xmlns:a="http://schemas.openxmlformats.org/drawingml/2006/main" prst="roundRect">
            <a:avLst>
              <a:gd name="adj" fmla="val 3409"/>
            </a:avLst>
          </a:prstGeom>
          <a:solidFill xmlns:a="http://schemas.openxmlformats.org/drawingml/2006/main">
            <a:srgbClr val="FFFFFF"/>
          </a:solidFill>
          <a:ln xmlns:a="http://schemas.openxmlformats.org/drawingml/2006/main" w="11430">
            <a:solidFill>
              <a:srgbClr val="D5E0E7"/>
            </a:solidFill>
            <a:prstDash val="solid"/>
          </a:ln>
        </p:spPr>
      </p:sp>
      <p:sp>
        <p:nvSpPr>
          <p:cNvPr id="18" name="">
            <a:extLst xmlns:a="http://schemas.openxmlformats.org/drawingml/2006/main">
              <a:ext uri="{FF2B5EF4-FFF2-40B4-BE49-F238E27FC236}">
                <a16:creationId xmlns:a16="http://schemas.microsoft.com/office/drawing/2014/main" id="{B014622F-289C-4682-8992-42B1AFDD3763}"/>
              </a:ext>
            </a:extLst>
          </p:cNvPr>
          <p:cNvSpPr>
            <a:spLocks xmlns:a="http://schemas.openxmlformats.org/drawingml/2006/main" noGrp="1"/>
          </p:cNvSpPr>
          <p:nvPr/>
        </p:nvSpPr>
        <p:spPr>
          <a:xfrm xmlns:a="http://schemas.openxmlformats.org/drawingml/2006/main">
            <a:off x="7924800" y="1847850"/>
            <a:ext cx="3352800" cy="514350"/>
          </a:xfrm>
          <a:prstGeom xmlns:a="http://schemas.openxmlformats.org/drawingml/2006/main" prst="roundRect">
            <a:avLst>
              <a:gd name="adj" fmla="val 22222"/>
            </a:avLst>
          </a:prstGeom>
          <a:solidFill xmlns:a="http://schemas.openxmlformats.org/drawingml/2006/main">
            <a:srgbClr val="102C49"/>
          </a:solidFill>
          <a:ln xmlns:a="http://schemas.openxmlformats.org/drawingml/2006/main" w="11430">
            <a:solidFill>
              <a:srgbClr val="102C49"/>
            </a:solidFill>
            <a:prstDash val="solid"/>
          </a:ln>
        </p:spPr>
      </p:sp>
      <p:sp>
        <p:nvSpPr>
          <p:cNvPr id="19" name="">
            <a:extLst xmlns:a="http://schemas.openxmlformats.org/drawingml/2006/main">
              <a:ext uri="{FF2B5EF4-FFF2-40B4-BE49-F238E27FC236}">
                <a16:creationId xmlns:a16="http://schemas.microsoft.com/office/drawing/2014/main" id="{E02867DD-9930-4F60-9B06-CD82B2652551}"/>
              </a:ext>
            </a:extLst>
          </p:cNvPr>
          <p:cNvSpPr>
            <a:spLocks xmlns:a="http://schemas.openxmlformats.org/drawingml/2006/main" noGrp="1"/>
          </p:cNvSpPr>
          <p:nvPr/>
        </p:nvSpPr>
        <p:spPr>
          <a:xfrm xmlns:a="http://schemas.openxmlformats.org/drawingml/2006/main">
            <a:off x="8077200" y="192405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00" b="1">
                <a:solidFill>
                  <a:srgbClr val="FFFFFF"/>
                </a:solidFill>
                <a:latin typeface="Arial"/>
                <a:ea typeface="Arial"/>
                <a:cs typeface="Arial"/>
              </a:defRPr>
            </a:pPr>
            <a:r>
              <a:rPr sz="1200" b="1">
                <a:solidFill>
                  <a:srgbClr val="FFFFFF"/>
                </a:solidFill>
                <a:latin typeface="Arial"/>
                <a:ea typeface="Arial"/>
                <a:cs typeface="Arial"/>
              </a:rPr>
              <a:t>WEEK 3  ·  VERIFY &amp; SUBMIT</a:t>
            </a:r>
          </a:p>
        </p:txBody>
      </p:sp>
      <p:sp>
        <p:nvSpPr>
          <p:cNvPr id="20" name="">
            <a:extLst xmlns:a="http://schemas.openxmlformats.org/drawingml/2006/main">
              <a:ext uri="{FF2B5EF4-FFF2-40B4-BE49-F238E27FC236}">
                <a16:creationId xmlns:a16="http://schemas.microsoft.com/office/drawing/2014/main" id="{A98E9731-8BDE-4CD4-A44D-716E56A130BE}"/>
              </a:ext>
            </a:extLst>
          </p:cNvPr>
          <p:cNvSpPr>
            <a:spLocks xmlns:a="http://schemas.openxmlformats.org/drawingml/2006/main" noGrp="1"/>
          </p:cNvSpPr>
          <p:nvPr/>
        </p:nvSpPr>
        <p:spPr>
          <a:xfrm xmlns:a="http://schemas.openxmlformats.org/drawingml/2006/main">
            <a:off x="8115300" y="2514600"/>
            <a:ext cx="2971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1">
                <a:solidFill>
                  <a:srgbClr val="D6AA4B"/>
                </a:solidFill>
                <a:latin typeface="Arial"/>
                <a:ea typeface="Arial"/>
                <a:cs typeface="Arial"/>
              </a:defRPr>
            </a:pPr>
            <a:r>
              <a:rPr sz="1125" b="1">
                <a:solidFill>
                  <a:srgbClr val="D6AA4B"/>
                </a:solidFill>
                <a:latin typeface="Arial"/>
                <a:ea typeface="Arial"/>
                <a:cs typeface="Arial"/>
              </a:rPr>
              <a:t>QA / reviewer + full team</a:t>
            </a:r>
          </a:p>
        </p:txBody>
      </p:sp>
      <p:sp>
        <p:nvSpPr>
          <p:cNvPr id="21" name="">
            <a:extLst xmlns:a="http://schemas.openxmlformats.org/drawingml/2006/main">
              <a:ext uri="{FF2B5EF4-FFF2-40B4-BE49-F238E27FC236}">
                <a16:creationId xmlns:a16="http://schemas.microsoft.com/office/drawing/2014/main" id="{3111B1D9-1457-4D7D-BA40-5E4BE717DC23}"/>
              </a:ext>
            </a:extLst>
          </p:cNvPr>
          <p:cNvSpPr>
            <a:spLocks xmlns:a="http://schemas.openxmlformats.org/drawingml/2006/main" noGrp="1"/>
          </p:cNvSpPr>
          <p:nvPr/>
        </p:nvSpPr>
        <p:spPr>
          <a:xfrm xmlns:a="http://schemas.openxmlformats.org/drawingml/2006/main">
            <a:off x="8115300" y="3009900"/>
            <a:ext cx="2971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00" b="0">
                <a:solidFill>
                  <a:srgbClr val="17334B"/>
                </a:solidFill>
                <a:latin typeface="Arial"/>
                <a:ea typeface="Arial"/>
                <a:cs typeface="Arial"/>
              </a:defRPr>
            </a:pPr>
            <a:r>
              <a:rPr sz="1200" b="0">
                <a:solidFill>
                  <a:srgbClr val="17334B"/>
                </a:solidFill>
                <a:latin typeface="Arial"/>
                <a:ea typeface="Arial"/>
                <a:cs typeface="Arial"/>
              </a:rPr>
              <a:t>Independently review high-risk samples and misses.</a:t>
            </a:r>
          </a:p>
          <a:p xmlns:a="http://schemas.openxmlformats.org/drawingml/2006/main">
            <a:pPr algn="l">
              <a:buNone/>
              <a:defRPr sz="1200" b="0">
                <a:solidFill>
                  <a:srgbClr val="17334B"/>
                </a:solidFill>
                <a:latin typeface="Arial"/>
                <a:ea typeface="Arial"/>
                <a:cs typeface="Arial"/>
              </a:defRPr>
            </a:pPr>
            <a:r>
              <a:rPr sz="1200" b="0">
                <a:solidFill>
                  <a:srgbClr val="17334B"/>
                </a:solidFill>
                <a:latin typeface="Arial"/>
                <a:ea typeface="Arial"/>
                <a:cs typeface="Arial"/>
              </a:rPr>
              <a:t>Freeze prototype, source, README, demo runbook and metric report.</a:t>
            </a:r>
          </a:p>
          <a:p xmlns:a="http://schemas.openxmlformats.org/drawingml/2006/main">
            <a:pPr algn="l">
              <a:buNone/>
              <a:defRPr sz="1200" b="0">
                <a:solidFill>
                  <a:srgbClr val="17334B"/>
                </a:solidFill>
                <a:latin typeface="Arial"/>
                <a:ea typeface="Arial"/>
                <a:cs typeface="Arial"/>
              </a:defRPr>
            </a:pPr>
            <a:r>
              <a:rPr sz="1200" b="0">
                <a:solidFill>
                  <a:srgbClr val="17334B"/>
                </a:solidFill>
                <a:latin typeface="Arial"/>
                <a:ea typeface="Arial"/>
                <a:cs typeface="Arial"/>
              </a:rPr>
              <a:t>Rehearse the 10–15 minute stakeholder walkthrough.</a:t>
            </a:r>
          </a:p>
        </p:txBody>
      </p:sp>
      <p:sp>
        <p:nvSpPr>
          <p:cNvPr id="22" name="">
            <a:extLst xmlns:a="http://schemas.openxmlformats.org/drawingml/2006/main">
              <a:ext uri="{FF2B5EF4-FFF2-40B4-BE49-F238E27FC236}">
                <a16:creationId xmlns:a16="http://schemas.microsoft.com/office/drawing/2014/main" id="{9529CBCF-8232-4B1B-9B6B-506964B4A9B3}"/>
              </a:ext>
            </a:extLst>
          </p:cNvPr>
          <p:cNvSpPr>
            <a:spLocks xmlns:a="http://schemas.openxmlformats.org/drawingml/2006/main" noGrp="1"/>
          </p:cNvSpPr>
          <p:nvPr/>
        </p:nvSpPr>
        <p:spPr>
          <a:xfrm xmlns:a="http://schemas.openxmlformats.org/drawingml/2006/main">
            <a:off x="8115300" y="4695825"/>
            <a:ext cx="2971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125" b="1">
                <a:solidFill>
                  <a:srgbClr val="A14338"/>
                </a:solidFill>
                <a:latin typeface="Arial"/>
                <a:ea typeface="Arial"/>
                <a:cs typeface="Arial"/>
              </a:defRPr>
            </a:pPr>
            <a:r>
              <a:rPr sz="1125" b="1">
                <a:solidFill>
                  <a:srgbClr val="A14338"/>
                </a:solidFill>
                <a:latin typeface="Arial"/>
                <a:ea typeface="Arial"/>
                <a:cs typeface="Arial"/>
              </a:rPr>
              <a:t>Submit one team package at T+3 weeks.</a:t>
            </a:r>
          </a:p>
        </p:txBody>
      </p:sp>
      <p:sp>
        <p:nvSpPr>
          <p:cNvPr id="23" name="">
            <a:extLst xmlns:a="http://schemas.openxmlformats.org/drawingml/2006/main">
              <a:ext uri="{FF2B5EF4-FFF2-40B4-BE49-F238E27FC236}">
                <a16:creationId xmlns:a16="http://schemas.microsoft.com/office/drawing/2014/main" id="{D0938ED1-FB32-4593-AA19-FDA7DE9E376E}"/>
              </a:ext>
            </a:extLst>
          </p:cNvPr>
          <p:cNvSpPr>
            <a:spLocks xmlns:a="http://schemas.openxmlformats.org/drawingml/2006/main" noGrp="1"/>
          </p:cNvSpPr>
          <p:nvPr/>
        </p:nvSpPr>
        <p:spPr>
          <a:xfrm xmlns:a="http://schemas.openxmlformats.org/drawingml/2006/main">
            <a:off x="685800" y="5600700"/>
            <a:ext cx="10820400" cy="457200"/>
          </a:xfrm>
          <a:prstGeom xmlns:a="http://schemas.openxmlformats.org/drawingml/2006/main" prst="roundRect">
            <a:avLst>
              <a:gd name="adj" fmla="val 25000"/>
            </a:avLst>
          </a:prstGeom>
          <a:solidFill xmlns:a="http://schemas.openxmlformats.org/drawingml/2006/main">
            <a:srgbClr val="F9F1DF"/>
          </a:solidFill>
          <a:ln xmlns:a="http://schemas.openxmlformats.org/drawingml/2006/main" w="11430">
            <a:solidFill>
              <a:srgbClr val="F9F1DF"/>
            </a:solidFill>
            <a:prstDash val="solid"/>
          </a:ln>
        </p:spPr>
      </p:sp>
      <p:sp>
        <p:nvSpPr>
          <p:cNvPr id="24" name="">
            <a:extLst xmlns:a="http://schemas.openxmlformats.org/drawingml/2006/main">
              <a:ext uri="{FF2B5EF4-FFF2-40B4-BE49-F238E27FC236}">
                <a16:creationId xmlns:a16="http://schemas.microsoft.com/office/drawing/2014/main" id="{D701BC8C-F57E-4776-B631-5EFBBB37A344}"/>
              </a:ext>
            </a:extLst>
          </p:cNvPr>
          <p:cNvSpPr>
            <a:spLocks xmlns:a="http://schemas.openxmlformats.org/drawingml/2006/main" noGrp="1"/>
          </p:cNvSpPr>
          <p:nvPr/>
        </p:nvSpPr>
        <p:spPr>
          <a:xfrm xmlns:a="http://schemas.openxmlformats.org/drawingml/2006/main">
            <a:off x="857250" y="5676900"/>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75" b="1">
                <a:solidFill>
                  <a:srgbClr val="102C49"/>
                </a:solidFill>
                <a:latin typeface="Arial"/>
                <a:ea typeface="Arial"/>
                <a:cs typeface="Arial"/>
              </a:defRPr>
            </a:pPr>
            <a:r>
              <a:rPr sz="1275" b="1">
                <a:solidFill>
                  <a:srgbClr val="102C49"/>
                </a:solidFill>
                <a:latin typeface="Arial"/>
                <a:ea typeface="Arial"/>
                <a:cs typeface="Arial"/>
              </a:rPr>
              <a:t>Submission pack: stakeholder deck · runnable demo + source · evaluation report · evidence inventory · setup/run guide</a:t>
            </a:r>
          </a:p>
        </p:txBody>
      </p:sp>
      <p:sp>
        <p:nvSpPr>
          <p:cNvPr id="25" name="">
            <a:extLst xmlns:a="http://schemas.openxmlformats.org/drawingml/2006/main">
              <a:ext uri="{FF2B5EF4-FFF2-40B4-BE49-F238E27FC236}">
                <a16:creationId xmlns:a16="http://schemas.microsoft.com/office/drawing/2014/main" id="{5E2A9726-4B10-4672-9A03-2719A1783C35}"/>
              </a:ext>
            </a:extLst>
          </p:cNvPr>
          <p:cNvSpPr>
            <a:spLocks xmlns:a="http://schemas.openxmlformats.org/drawingml/2006/main" noGrp="1"/>
          </p:cNvSpPr>
          <p:nvPr/>
        </p:nvSpPr>
        <p:spPr>
          <a:xfrm xmlns:a="http://schemas.openxmlformats.org/drawingml/2006/main">
            <a:off x="685800" y="655320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48485"/>
          </a:bodyPr>
          <a:lstStyle xmlns:a="http://schemas.openxmlformats.org/drawingml/2006/main"/>
          <a:p xmlns:a="http://schemas.openxmlformats.org/drawingml/2006/main">
            <a:pPr algn="l">
              <a:buNone/>
              <a:defRPr sz="825" b="0">
                <a:solidFill>
                  <a:srgbClr val="536D81"/>
                </a:solidFill>
                <a:latin typeface="Arial"/>
                <a:ea typeface="Arial"/>
                <a:cs typeface="Arial"/>
              </a:defRPr>
            </a:pPr>
            <a:r>
              <a:rPr sz="825" b="0">
                <a:solidFill>
                  <a:srgbClr val="536D81"/>
                </a:solidFill>
                <a:latin typeface="Arial"/>
                <a:ea typeface="Arial"/>
                <a:cs typeface="Arial"/>
              </a:rPr>
              <a:t>OPTIV  ·  VIT 2026  |  CASE STUDY 2  |  14</a:t>
            </a:r>
          </a:p>
        </p:txBody>
      </p:sp>
    </p:spTree>
    <p:extLst>
      <p:ext uri="{BB962C8B-B14F-4D97-AF65-F5344CB8AC3E}">
        <p14:creationId xmlns:p14="http://schemas.microsoft.com/office/powerpoint/2010/main" val="2030145065"/>
      </p:ext>
    </p:extLst>
  </p:cSld>
</p:sld>
</file>

<file path=ppt/slides/slide15.xml><?xml version="1.0" encoding="utf-8"?>
<p:sld xmlns:p="http://schemas.openxmlformats.org/presentationml/2006/main">
  <p:cSld>
    <p:bg>
      <p:bgPr>
        <a:solidFill xmlns:a="http://schemas.openxmlformats.org/drawingml/2006/main">
          <a:srgbClr val="102C4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378208D-0FCB-44F4-B17B-52AD70D19A4B}"/>
              </a:ext>
            </a:extLst>
          </p:cNvPr>
          <p:cNvSpPr>
            <a:spLocks xmlns:a="http://schemas.openxmlformats.org/drawingml/2006/main" noGrp="1"/>
          </p:cNvSpPr>
          <p:nvPr/>
        </p:nvSpPr>
        <p:spPr>
          <a:xfrm xmlns:a="http://schemas.openxmlformats.org/drawingml/2006/main">
            <a:off x="742950" y="112395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3450" b="1">
                <a:solidFill>
                  <a:srgbClr val="FFFFFF"/>
                </a:solidFill>
                <a:latin typeface="Arial"/>
                <a:ea typeface="Arial"/>
                <a:cs typeface="Arial"/>
              </a:defRPr>
            </a:pPr>
            <a:r>
              <a:rPr sz="3450" b="1">
                <a:solidFill>
                  <a:srgbClr val="FFFFFF"/>
                </a:solidFill>
                <a:latin typeface="Arial"/>
                <a:ea typeface="Arial"/>
                <a:cs typeface="Arial"/>
              </a:rPr>
              <a:t>Protect the evidence path</a:t>
            </a:r>
          </a:p>
        </p:txBody>
      </p:sp>
      <p:sp>
        <p:nvSpPr>
          <p:cNvPr id="2" name="">
            <a:extLst xmlns:a="http://schemas.openxmlformats.org/drawingml/2006/main">
              <a:ext uri="{FF2B5EF4-FFF2-40B4-BE49-F238E27FC236}">
                <a16:creationId xmlns:a16="http://schemas.microsoft.com/office/drawing/2014/main" id="{F73D3D05-08F3-4872-A587-4ECD271A8C0A}"/>
              </a:ext>
            </a:extLst>
          </p:cNvPr>
          <p:cNvSpPr>
            <a:spLocks xmlns:a="http://schemas.openxmlformats.org/drawingml/2006/main" noGrp="1"/>
          </p:cNvSpPr>
          <p:nvPr/>
        </p:nvSpPr>
        <p:spPr>
          <a:xfrm xmlns:a="http://schemas.openxmlformats.org/drawingml/2006/main">
            <a:off x="781050" y="211455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025" b="0">
                <a:solidFill>
                  <a:srgbClr val="D9E5ED"/>
                </a:solidFill>
                <a:latin typeface="Arial"/>
                <a:ea typeface="Arial"/>
                <a:cs typeface="Arial"/>
              </a:defRPr>
            </a:pPr>
            <a:r>
              <a:rPr sz="2025" b="0">
                <a:solidFill>
                  <a:srgbClr val="D9E5ED"/>
                </a:solidFill>
                <a:latin typeface="Arial"/>
                <a:ea typeface="Arial"/>
                <a:cs typeface="Arial"/>
              </a:rPr>
              <a:t>Extract with context. Redact with traceability. Release only after review.</a:t>
            </a:r>
          </a:p>
        </p:txBody>
      </p:sp>
      <p:sp>
        <p:nvSpPr>
          <p:cNvPr id="3" name="">
            <a:extLst xmlns:a="http://schemas.openxmlformats.org/drawingml/2006/main">
              <a:ext uri="{FF2B5EF4-FFF2-40B4-BE49-F238E27FC236}">
                <a16:creationId xmlns:a16="http://schemas.microsoft.com/office/drawing/2014/main" id="{B116C322-F9E4-4E6E-A42A-537F00780351}"/>
              </a:ext>
            </a:extLst>
          </p:cNvPr>
          <p:cNvSpPr>
            <a:spLocks xmlns:a="http://schemas.openxmlformats.org/drawingml/2006/main" noGrp="1"/>
          </p:cNvSpPr>
          <p:nvPr/>
        </p:nvSpPr>
        <p:spPr>
          <a:xfrm xmlns:a="http://schemas.openxmlformats.org/drawingml/2006/main">
            <a:off x="781050" y="3133725"/>
            <a:ext cx="5429250" cy="0"/>
          </a:xfrm>
          <a:prstGeom xmlns:a="http://schemas.openxmlformats.org/drawingml/2006/main" prst="line">
            <a:avLst/>
          </a:prstGeom>
          <a:noFill xmlns:a="http://schemas.openxmlformats.org/drawingml/2006/main"/>
          <a:ln xmlns:a="http://schemas.openxmlformats.org/drawingml/2006/main" w="28575">
            <a:solidFill>
              <a:srgbClr val="D6AA4B"/>
            </a:solidFill>
            <a:prstDash val="solid"/>
          </a:ln>
        </p:spPr>
      </p:sp>
      <p:sp>
        <p:nvSpPr>
          <p:cNvPr id="4" name="">
            <a:extLst xmlns:a="http://schemas.openxmlformats.org/drawingml/2006/main">
              <a:ext uri="{FF2B5EF4-FFF2-40B4-BE49-F238E27FC236}">
                <a16:creationId xmlns:a16="http://schemas.microsoft.com/office/drawing/2014/main" id="{7648FCB5-4276-4827-A7C7-56271C0EB73E}"/>
              </a:ext>
            </a:extLst>
          </p:cNvPr>
          <p:cNvSpPr>
            <a:spLocks xmlns:a="http://schemas.openxmlformats.org/drawingml/2006/main" noGrp="1"/>
          </p:cNvSpPr>
          <p:nvPr/>
        </p:nvSpPr>
        <p:spPr>
          <a:xfrm xmlns:a="http://schemas.openxmlformats.org/drawingml/2006/main">
            <a:off x="781050" y="3609975"/>
            <a:ext cx="571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800" b="1">
                <a:solidFill>
                  <a:srgbClr val="8FD1CC"/>
                </a:solidFill>
                <a:latin typeface="Arial"/>
                <a:ea typeface="Arial"/>
                <a:cs typeface="Arial"/>
              </a:defRPr>
            </a:pPr>
            <a:r>
              <a:rPr sz="1800" b="1">
                <a:solidFill>
                  <a:srgbClr val="8FD1CC"/>
                </a:solidFill>
                <a:latin typeface="Arial"/>
                <a:ea typeface="Arial"/>
                <a:cs typeface="Arial"/>
              </a:rPr>
              <a:t>Discussion</a:t>
            </a:r>
          </a:p>
        </p:txBody>
      </p:sp>
      <p:sp>
        <p:nvSpPr>
          <p:cNvPr id="5" name="">
            <a:extLst xmlns:a="http://schemas.openxmlformats.org/drawingml/2006/main">
              <a:ext uri="{FF2B5EF4-FFF2-40B4-BE49-F238E27FC236}">
                <a16:creationId xmlns:a16="http://schemas.microsoft.com/office/drawing/2014/main" id="{1114BA8C-4BA9-4D17-9551-6696C0954D7B}"/>
              </a:ext>
            </a:extLst>
          </p:cNvPr>
          <p:cNvSpPr>
            <a:spLocks xmlns:a="http://schemas.openxmlformats.org/drawingml/2006/main" noGrp="1"/>
          </p:cNvSpPr>
          <p:nvPr/>
        </p:nvSpPr>
        <p:spPr>
          <a:xfrm xmlns:a="http://schemas.openxmlformats.org/drawingml/2006/main">
            <a:off x="781050" y="5972175"/>
            <a:ext cx="876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p xmlns:a="http://schemas.openxmlformats.org/drawingml/2006/main">
            <a:pPr algn="l">
              <a:buNone/>
              <a:defRPr sz="1275" b="0">
                <a:solidFill>
                  <a:srgbClr val="B9CAD7"/>
                </a:solidFill>
                <a:latin typeface="Arial"/>
                <a:ea typeface="Arial"/>
                <a:cs typeface="Arial"/>
              </a:defRPr>
            </a:pPr>
            <a:r>
              <a:rPr sz="1275" b="0">
                <a:solidFill>
                  <a:srgbClr val="B9CAD7"/>
                </a:solidFill>
                <a:latin typeface="Arial"/>
                <a:ea typeface="Arial"/>
                <a:cs typeface="Arial"/>
              </a:rPr>
              <a:t>Cadence PII detection and redaction  |  Case Study 2</a:t>
            </a:r>
          </a:p>
        </p:txBody>
      </p:sp>
    </p:spTree>
    <p:extLst>
      <p:ext uri="{BB962C8B-B14F-4D97-AF65-F5344CB8AC3E}">
        <p14:creationId xmlns:p14="http://schemas.microsoft.com/office/powerpoint/2010/main" val="1637824307"/>
      </p:ext>
    </p:extLst>
  </p:cSld>
</p:sld>
</file>

<file path=ppt/slides/slide16.xml><?xml version="1.0" encoding="utf-8"?>
<p:sld xmlns:p="http://schemas.openxmlformats.org/presentationml/2006/main">
  <p:cSld>
    <p:bg>
      <p:bgPr>
        <a:solidFill xmlns:a="http://schemas.openxmlformats.org/drawingml/2006/main">
          <a:srgbClr val="F3F6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8DB6D1E-B281-4E06-933C-E703A95546B3}"/>
              </a:ext>
            </a:extLst>
          </p:cNvPr>
          <p:cNvSpPr>
            <a:spLocks xmlns:a="http://schemas.openxmlformats.org/drawingml/2006/main" noGrp="1"/>
          </p:cNvSpPr>
          <p:nvPr/>
        </p:nvSpPr>
        <p:spPr>
          <a:xfrm xmlns:a="http://schemas.openxmlformats.org/drawingml/2006/main">
            <a:off x="685800" y="20955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762"/>
          </a:bodyPr>
          <a:lstStyle xmlns:a="http://schemas.openxmlformats.org/drawingml/2006/main"/>
          <a:p xmlns:a="http://schemas.openxmlformats.org/drawingml/2006/main">
            <a:pPr algn="l">
              <a:buNone/>
              <a:defRPr sz="1050" b="1">
                <a:solidFill>
                  <a:srgbClr val="187A83"/>
                </a:solidFill>
                <a:latin typeface="Arial"/>
                <a:ea typeface="Arial"/>
                <a:cs typeface="Arial"/>
              </a:defRPr>
            </a:pPr>
            <a:r>
              <a:rPr sz="1050" b="1">
                <a:solidFill>
                  <a:srgbClr val="187A83"/>
                </a:solidFill>
                <a:latin typeface="Arial"/>
                <a:ea typeface="Arial"/>
                <a:cs typeface="Arial"/>
              </a:rPr>
              <a:t>CASE STUDY 2  /  CADENCE</a:t>
            </a:r>
          </a:p>
        </p:txBody>
      </p:sp>
      <p:sp>
        <p:nvSpPr>
          <p:cNvPr id="2" name="">
            <a:extLst xmlns:a="http://schemas.openxmlformats.org/drawingml/2006/main">
              <a:ext uri="{FF2B5EF4-FFF2-40B4-BE49-F238E27FC236}">
                <a16:creationId xmlns:a16="http://schemas.microsoft.com/office/drawing/2014/main" id="{8B3F3ACD-28E6-4650-80A3-21F66E139EAA}"/>
              </a:ext>
            </a:extLst>
          </p:cNvPr>
          <p:cNvSpPr>
            <a:spLocks xmlns:a="http://schemas.openxmlformats.org/drawingml/2006/main" noGrp="1"/>
          </p:cNvSpPr>
          <p:nvPr/>
        </p:nvSpPr>
        <p:spPr>
          <a:xfrm xmlns:a="http://schemas.openxmlformats.org/drawingml/2006/main">
            <a:off x="685800" y="4953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700" b="1">
                <a:solidFill>
                  <a:srgbClr val="102C49"/>
                </a:solidFill>
                <a:latin typeface="Arial"/>
                <a:ea typeface="Arial"/>
                <a:cs typeface="Arial"/>
              </a:defRPr>
            </a:pPr>
            <a:r>
              <a:rPr sz="2700" b="1">
                <a:solidFill>
                  <a:srgbClr val="102C49"/>
                </a:solidFill>
                <a:latin typeface="Arial"/>
                <a:ea typeface="Arial"/>
                <a:cs typeface="Arial"/>
              </a:rPr>
              <a:t>Cybersecurity relevance | protect data and trust boundaries</a:t>
            </a:r>
          </a:p>
        </p:txBody>
      </p:sp>
      <p:sp>
        <p:nvSpPr>
          <p:cNvPr id="3" name="">
            <a:extLst xmlns:a="http://schemas.openxmlformats.org/drawingml/2006/main">
              <a:ext uri="{FF2B5EF4-FFF2-40B4-BE49-F238E27FC236}">
                <a16:creationId xmlns:a16="http://schemas.microsoft.com/office/drawing/2014/main" id="{55441EC8-5064-4393-866A-6EEA60C09B3D}"/>
              </a:ext>
            </a:extLst>
          </p:cNvPr>
          <p:cNvSpPr>
            <a:spLocks xmlns:a="http://schemas.openxmlformats.org/drawingml/2006/main" noGrp="1"/>
          </p:cNvSpPr>
          <p:nvPr/>
        </p:nvSpPr>
        <p:spPr>
          <a:xfrm xmlns:a="http://schemas.openxmlformats.org/drawingml/2006/main">
            <a:off x="685800" y="1162050"/>
            <a:ext cx="10820400" cy="0"/>
          </a:xfrm>
          <a:prstGeom xmlns:a="http://schemas.openxmlformats.org/drawingml/2006/main" prst="line">
            <a:avLst/>
          </a:prstGeom>
          <a:noFill xmlns:a="http://schemas.openxmlformats.org/drawingml/2006/main"/>
          <a:ln xmlns:a="http://schemas.openxmlformats.org/drawingml/2006/main" w="11430">
            <a:solidFill>
              <a:srgbClr val="D5E0E7"/>
            </a:solidFill>
            <a:prstDash val="solid"/>
          </a:ln>
        </p:spPr>
      </p:sp>
      <p:graphicFrame>
        <p:nvGraphicFramePr>
          <p:cNvPr id="14" name=""/>
          <p:cNvGraphicFramePr/>
          <p:nvPr/>
        </p:nvGraphicFramePr>
        <p:xfrm>
          <a:off xmlns:a="http://schemas.openxmlformats.org/drawingml/2006/main" x="685800" y="1438275"/>
          <a:ext xmlns:a="http://schemas.openxmlformats.org/drawingml/2006/main" cx="10820400" cy="3714750"/>
        </p:xfrm>
        <a:graphic xmlns:a="http://schemas.openxmlformats.org/drawingml/2006/main">
          <a:graphicData uri="http://schemas.openxmlformats.org/drawingml/2006/table">
            <a:tbl>
              <a:tblPr firstRow="1" bandRow="1"/>
              <a:tblGrid>
                <a:gridCol w="2647950"/>
                <a:gridCol w="3028950"/>
                <a:gridCol w="5143500"/>
              </a:tblGrid>
              <a:tr h="419100">
                <a:tc>
                  <a:txBody>
                    <a:bodyPr/>
                    <a:lstStyle/>
                    <a:p>
                      <a:r>
                        <a:rPr sz="1125" b="1">
                          <a:solidFill>
                            <a:srgbClr val="FFFFFF"/>
                          </a:solidFill>
                          <a:latin typeface="Arial"/>
                          <a:ea typeface="Arial"/>
                          <a:cs typeface="Arial"/>
                        </a:rPr>
                        <a:t>Risk scenario</a:t>
                      </a:r>
                    </a:p>
                  </a:txBody>
                  <a:tcPr marL="76200" marR="57150" marT="57150" marB="57150">
                    <a:solidFill>
                      <a:srgbClr val="102C49"/>
                    </a:solidFill>
                  </a:tcPr>
                </a:tc>
                <a:tc>
                  <a:txBody>
                    <a:bodyPr/>
                    <a:lstStyle/>
                    <a:p>
                      <a:r>
                        <a:rPr sz="1125" b="1">
                          <a:solidFill>
                            <a:srgbClr val="FFFFFF"/>
                          </a:solidFill>
                          <a:latin typeface="Arial"/>
                          <a:ea typeface="Arial"/>
                          <a:cs typeface="Arial"/>
                        </a:rPr>
                        <a:t>Security impact</a:t>
                      </a:r>
                    </a:p>
                  </a:txBody>
                  <a:tcPr marL="76200" marR="57150" marT="57150" marB="57150">
                    <a:solidFill>
                      <a:srgbClr val="102C49"/>
                    </a:solidFill>
                  </a:tcPr>
                </a:tc>
                <a:tc>
                  <a:txBody>
                    <a:bodyPr/>
                    <a:lstStyle/>
                    <a:p>
                      <a:r>
                        <a:rPr sz="1125" b="1">
                          <a:solidFill>
                            <a:srgbClr val="FFFFFF"/>
                          </a:solidFill>
                          <a:latin typeface="Arial"/>
                          <a:ea typeface="Arial"/>
                          <a:cs typeface="Arial"/>
                        </a:rPr>
                        <a:t>Control / honest prototype boundary</a:t>
                      </a:r>
                    </a:p>
                  </a:txBody>
                  <a:tcPr marL="76200" marR="57150" marT="57150" marB="57150">
                    <a:solidFill>
                      <a:srgbClr val="102C49"/>
                    </a:solidFill>
                  </a:tcPr>
                </a:tc>
              </a:tr>
              <a:tr h="0">
                <a:tc>
                  <a:txBody>
                    <a:bodyPr/>
                    <a:lstStyle/>
                    <a:p>
                      <a:r>
                        <a:rPr sz="1125">
                          <a:solidFill>
                            <a:srgbClr val="17334B"/>
                          </a:solidFill>
                          <a:latin typeface="Arial"/>
                          <a:ea typeface="Arial"/>
                          <a:cs typeface="Arial"/>
                        </a:rPr>
                        <a:t>Sensitive evidence reaches an unapproved AI service</a:t>
                      </a:r>
                    </a:p>
                  </a:txBody>
                  <a:tcPr marL="76200" marR="57150" marT="57150" marB="57150"/>
                </a:tc>
                <a:tc>
                  <a:txBody>
                    <a:bodyPr/>
                    <a:lstStyle/>
                    <a:p>
                      <a:r>
                        <a:rPr sz="1125">
                          <a:solidFill>
                            <a:srgbClr val="17334B"/>
                          </a:solidFill>
                          <a:latin typeface="Arial"/>
                          <a:ea typeface="Arial"/>
                          <a:cs typeface="Arial"/>
                        </a:rPr>
                        <a:t>Confidentiality, privacy and regulatory exposure</a:t>
                      </a:r>
                    </a:p>
                  </a:txBody>
                  <a:tcPr marL="76200" marR="57150" marT="57150" marB="57150"/>
                </a:tc>
                <a:tc>
                  <a:txBody>
                    <a:bodyPr/>
                    <a:lstStyle/>
                    <a:p>
                      <a:r>
                        <a:rPr sz="1125">
                          <a:solidFill>
                            <a:srgbClr val="17334B"/>
                          </a:solidFill>
                          <a:latin typeface="Arial"/>
                          <a:ea typeface="Arial"/>
                          <a:cs typeface="Arial"/>
                        </a:rPr>
                        <a:t>Extract and redact before model use; reviewer gate. Demo has no LLM connection.</a:t>
                      </a:r>
                    </a:p>
                  </a:txBody>
                  <a:tcPr marL="76200" marR="57150" marT="57150" marB="57150"/>
                </a:tc>
              </a:tr>
              <a:tr h="0">
                <a:tc>
                  <a:txBody>
                    <a:bodyPr/>
                    <a:lstStyle/>
                    <a:p>
                      <a:r>
                        <a:rPr sz="1125">
                          <a:solidFill>
                            <a:srgbClr val="17334B"/>
                          </a:solidFill>
                          <a:latin typeface="Arial"/>
                          <a:ea typeface="Arial"/>
                          <a:cs typeface="Arial"/>
                        </a:rPr>
                        <a:t>A document claims employee authority or gives model instructions</a:t>
                      </a:r>
                    </a:p>
                  </a:txBody>
                  <a:tcPr marL="76200" marR="57150" marT="57150" marB="57150"/>
                </a:tc>
                <a:tc>
                  <a:txBody>
                    <a:bodyPr/>
                    <a:lstStyle/>
                    <a:p>
                      <a:r>
                        <a:rPr sz="1125">
                          <a:solidFill>
                            <a:srgbClr val="17334B"/>
                          </a:solidFill>
                          <a:latin typeface="Arial"/>
                          <a:ea typeface="Arial"/>
                          <a:cs typeface="Arial"/>
                        </a:rPr>
                        <a:t>Untrusted content could be mistaken for identity or policy</a:t>
                      </a:r>
                    </a:p>
                  </a:txBody>
                  <a:tcPr marL="76200" marR="57150" marT="57150" marB="57150"/>
                </a:tc>
                <a:tc>
                  <a:txBody>
                    <a:bodyPr/>
                    <a:lstStyle/>
                    <a:p>
                      <a:r>
                        <a:rPr sz="1125">
                          <a:solidFill>
                            <a:srgbClr val="17334B"/>
                          </a:solidFill>
                          <a:latin typeface="Arial"/>
                          <a:ea typeface="Arial"/>
                          <a:cs typeface="Arial"/>
                        </a:rPr>
                        <a:t>Treat file text as data. Future approvals need SSO, MFA and server-side roles; demo has no login or model actions.</a:t>
                      </a:r>
                    </a:p>
                  </a:txBody>
                  <a:tcPr marL="76200" marR="57150" marT="57150" marB="57150"/>
                </a:tc>
              </a:tr>
              <a:tr h="0">
                <a:tc>
                  <a:txBody>
                    <a:bodyPr/>
                    <a:lstStyle/>
                    <a:p>
                      <a:r>
                        <a:rPr sz="1125">
                          <a:solidFill>
                            <a:srgbClr val="17334B"/>
                          </a:solidFill>
                          <a:latin typeface="Arial"/>
                          <a:ea typeface="Arial"/>
                          <a:cs typeface="Arial"/>
                        </a:rPr>
                        <a:t>Spoofed, malformed or media-heavy upload</a:t>
                      </a:r>
                    </a:p>
                  </a:txBody>
                  <a:tcPr marL="76200" marR="57150" marT="57150" marB="57150"/>
                </a:tc>
                <a:tc>
                  <a:txBody>
                    <a:bodyPr/>
                    <a:lstStyle/>
                    <a:p>
                      <a:r>
                        <a:rPr sz="1125">
                          <a:solidFill>
                            <a:srgbClr val="17334B"/>
                          </a:solidFill>
                          <a:latin typeface="Arial"/>
                          <a:ea typeface="Arial"/>
                          <a:cs typeface="Arial"/>
                        </a:rPr>
                        <a:t>Parser risk and extraction blind spots can hide data</a:t>
                      </a:r>
                    </a:p>
                  </a:txBody>
                  <a:tcPr marL="76200" marR="57150" marT="57150" marB="57150"/>
                </a:tc>
                <a:tc>
                  <a:txBody>
                    <a:bodyPr/>
                    <a:lstStyle/>
                    <a:p>
                      <a:r>
                        <a:rPr sz="1125">
                          <a:solidFill>
                            <a:srgbClr val="17334B"/>
                          </a:solidFill>
                          <a:latin typeface="Arial"/>
                          <a:ea typeface="Arial"/>
                          <a:cs typeface="Arial"/>
                        </a:rPr>
                        <a:t>Validate format, bound resources and quarantine gaps. Demo has no malware scanner, CDR or polyglot detector.</a:t>
                      </a:r>
                    </a:p>
                  </a:txBody>
                  <a:tcPr marL="76200" marR="57150" marT="57150" marB="57150"/>
                </a:tc>
              </a:tr>
              <a:tr h="0">
                <a:tc>
                  <a:txBody>
                    <a:bodyPr/>
                    <a:lstStyle/>
                    <a:p>
                      <a:r>
                        <a:rPr sz="1125">
                          <a:solidFill>
                            <a:srgbClr val="17334B"/>
                          </a:solidFill>
                          <a:latin typeface="Arial"/>
                          <a:ea typeface="Arial"/>
                          <a:cs typeface="Arial"/>
                        </a:rPr>
                        <a:t>OCR or PII detection misses / over-flags content</a:t>
                      </a:r>
                    </a:p>
                  </a:txBody>
                  <a:tcPr marL="76200" marR="57150" marT="57150" marB="57150"/>
                </a:tc>
                <a:tc>
                  <a:txBody>
                    <a:bodyPr/>
                    <a:lstStyle/>
                    <a:p>
                      <a:r>
                        <a:rPr sz="1125">
                          <a:solidFill>
                            <a:srgbClr val="17334B"/>
                          </a:solidFill>
                          <a:latin typeface="Arial"/>
                          <a:ea typeface="Arial"/>
                          <a:cs typeface="Arial"/>
                        </a:rPr>
                        <a:t>Residual PII can leak, or business review can be disrupted</a:t>
                      </a:r>
                    </a:p>
                  </a:txBody>
                  <a:tcPr marL="76200" marR="57150" marT="57150" marB="57150"/>
                </a:tc>
                <a:tc>
                  <a:txBody>
                    <a:bodyPr/>
                    <a:lstStyle/>
                    <a:p>
                      <a:r>
                        <a:rPr sz="1125">
                          <a:solidFill>
                            <a:srgbClr val="17334B"/>
                          </a:solidFill>
                          <a:latin typeface="Arial"/>
                          <a:ea typeface="Arial"/>
                          <a:cs typeface="Arial"/>
                        </a:rPr>
                        <a:t>Measure precision and recall by format/class, show false negatives, and require review for uncertain files.</a:t>
                      </a:r>
                    </a:p>
                  </a:txBody>
                  <a:tcPr marL="76200" marR="57150" marT="57150" marB="57150"/>
                </a:tc>
              </a:tr>
            </a:tbl>
          </a:graphicData>
        </a:graphic>
      </p:graphicFrame>
      <p:sp>
        <p:nvSpPr>
          <p:cNvPr id="5" name="">
            <a:extLst xmlns:a="http://schemas.openxmlformats.org/drawingml/2006/main">
              <a:ext uri="{FF2B5EF4-FFF2-40B4-BE49-F238E27FC236}">
                <a16:creationId xmlns:a16="http://schemas.microsoft.com/office/drawing/2014/main" id="{E1A73E30-1746-480F-AC42-33B7CE4872B8}"/>
              </a:ext>
            </a:extLst>
          </p:cNvPr>
          <p:cNvSpPr>
            <a:spLocks xmlns:a="http://schemas.openxmlformats.org/drawingml/2006/main" noGrp="1"/>
          </p:cNvSpPr>
          <p:nvPr/>
        </p:nvSpPr>
        <p:spPr>
          <a:xfrm xmlns:a="http://schemas.openxmlformats.org/drawingml/2006/main">
            <a:off x="685800" y="5391150"/>
            <a:ext cx="10820400" cy="666750"/>
          </a:xfrm>
          <a:prstGeom xmlns:a="http://schemas.openxmlformats.org/drawingml/2006/main" prst="roundRect">
            <a:avLst>
              <a:gd name="adj" fmla="val 17143"/>
            </a:avLst>
          </a:prstGeom>
          <a:solidFill xmlns:a="http://schemas.openxmlformats.org/drawingml/2006/main">
            <a:srgbClr val="E2F1EE"/>
          </a:solidFill>
          <a:ln xmlns:a="http://schemas.openxmlformats.org/drawingml/2006/main" w="11430">
            <a:solidFill>
              <a:srgbClr val="E2F1EE"/>
            </a:solidFill>
            <a:prstDash val="solid"/>
          </a:ln>
        </p:spPr>
      </p:sp>
      <p:sp>
        <p:nvSpPr>
          <p:cNvPr id="6" name="">
            <a:extLst xmlns:a="http://schemas.openxmlformats.org/drawingml/2006/main">
              <a:ext uri="{FF2B5EF4-FFF2-40B4-BE49-F238E27FC236}">
                <a16:creationId xmlns:a16="http://schemas.microsoft.com/office/drawing/2014/main" id="{F8ABCCAA-6DA1-455C-9523-BF62264B9EBC}"/>
              </a:ext>
            </a:extLst>
          </p:cNvPr>
          <p:cNvSpPr>
            <a:spLocks xmlns:a="http://schemas.openxmlformats.org/drawingml/2006/main" noGrp="1"/>
          </p:cNvSpPr>
          <p:nvPr/>
        </p:nvSpPr>
        <p:spPr>
          <a:xfrm xmlns:a="http://schemas.openxmlformats.org/drawingml/2006/main">
            <a:off x="895350" y="549592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p xmlns:a="http://schemas.openxmlformats.org/drawingml/2006/main">
            <a:pPr algn="l">
              <a:buNone/>
              <a:defRPr sz="1350" b="1">
                <a:solidFill>
                  <a:srgbClr val="187A83"/>
                </a:solidFill>
                <a:latin typeface="Arial"/>
                <a:ea typeface="Arial"/>
                <a:cs typeface="Arial"/>
              </a:defRPr>
            </a:pPr>
            <a:r>
              <a:rPr sz="1350" b="1">
                <a:solidFill>
                  <a:srgbClr val="187A83"/>
                </a:solidFill>
                <a:latin typeface="Arial"/>
                <a:ea typeface="Arial"/>
                <a:cs typeface="Arial"/>
              </a:rPr>
              <a:t>Why it fits Optiv</a:t>
            </a:r>
          </a:p>
        </p:txBody>
      </p:sp>
      <p:sp>
        <p:nvSpPr>
          <p:cNvPr id="7" name="">
            <a:extLst xmlns:a="http://schemas.openxmlformats.org/drawingml/2006/main">
              <a:ext uri="{FF2B5EF4-FFF2-40B4-BE49-F238E27FC236}">
                <a16:creationId xmlns:a16="http://schemas.microsoft.com/office/drawing/2014/main" id="{1FB2DCC7-DBE9-489E-B757-E413C2969991}"/>
              </a:ext>
            </a:extLst>
          </p:cNvPr>
          <p:cNvSpPr>
            <a:spLocks xmlns:a="http://schemas.openxmlformats.org/drawingml/2006/main" noGrp="1"/>
          </p:cNvSpPr>
          <p:nvPr/>
        </p:nvSpPr>
        <p:spPr>
          <a:xfrm xmlns:a="http://schemas.openxmlformats.org/drawingml/2006/main">
            <a:off x="2724150" y="5476875"/>
            <a:ext cx="85153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091"/>
          </a:bodyPr>
          <a:lstStyle xmlns:a="http://schemas.openxmlformats.org/drawingml/2006/main"/>
          <a:p xmlns:a="http://schemas.openxmlformats.org/drawingml/2006/main">
            <a:pPr algn="l">
              <a:buNone/>
              <a:defRPr sz="1275" b="0">
                <a:solidFill>
                  <a:srgbClr val="17334B"/>
                </a:solidFill>
                <a:latin typeface="Arial"/>
                <a:ea typeface="Arial"/>
                <a:cs typeface="Arial"/>
              </a:defRPr>
            </a:pPr>
            <a:r>
              <a:rPr sz="1275" b="0">
                <a:solidFill>
                  <a:srgbClr val="17334B"/>
                </a:solidFill>
                <a:latin typeface="Arial"/>
                <a:ea typeface="Arial"/>
                <a:cs typeface="Arial"/>
              </a:rPr>
              <a:t>The assignment combines data protection, cyber risk, secure file handling and AI governance. Its required blueprint, architecture, extraction logic, reliability evidence and stakeholder walkthrough test security judgment as well as implementation.</a:t>
            </a:r>
          </a:p>
        </p:txBody>
      </p:sp>
      <p:sp>
        <p:nvSpPr>
          <p:cNvPr id="8" name="">
            <a:extLst xmlns:a="http://schemas.openxmlformats.org/drawingml/2006/main">
              <a:ext uri="{FF2B5EF4-FFF2-40B4-BE49-F238E27FC236}">
                <a16:creationId xmlns:a16="http://schemas.microsoft.com/office/drawing/2014/main" id="{D5F1545A-538C-4CE9-849B-BC8EFFF31392}"/>
              </a:ext>
            </a:extLst>
          </p:cNvPr>
          <p:cNvSpPr>
            <a:spLocks xmlns:a="http://schemas.openxmlformats.org/drawingml/2006/main" noGrp="1"/>
          </p:cNvSpPr>
          <p:nvPr/>
        </p:nvSpPr>
        <p:spPr>
          <a:xfrm xmlns:a="http://schemas.openxmlformats.org/drawingml/2006/main">
            <a:off x="685800" y="655320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48485"/>
          </a:bodyPr>
          <a:lstStyle xmlns:a="http://schemas.openxmlformats.org/drawingml/2006/main"/>
          <a:p xmlns:a="http://schemas.openxmlformats.org/drawingml/2006/main">
            <a:pPr algn="l">
              <a:buNone/>
              <a:defRPr sz="825" b="0">
                <a:solidFill>
                  <a:srgbClr val="536D81"/>
                </a:solidFill>
                <a:latin typeface="Arial"/>
                <a:ea typeface="Arial"/>
                <a:cs typeface="Arial"/>
              </a:defRPr>
            </a:pPr>
            <a:r>
              <a:rPr sz="825" b="0">
                <a:solidFill>
                  <a:srgbClr val="536D81"/>
                </a:solidFill>
                <a:latin typeface="Arial"/>
                <a:ea typeface="Arial"/>
                <a:cs typeface="Arial"/>
              </a:rPr>
              <a:t>OPTIV  ·  VIT 2026  |  CASE STUDY 2  |  16</a:t>
            </a:r>
          </a:p>
        </p:txBody>
      </p:sp>
    </p:spTree>
    <p:extLst>
      <p:ext uri="{BB962C8B-B14F-4D97-AF65-F5344CB8AC3E}">
        <p14:creationId xmlns:p14="http://schemas.microsoft.com/office/powerpoint/2010/main" val="1597252179"/>
      </p:ext>
    </p:extLst>
  </p:cSld>
</p:sld>
</file>

<file path=ppt/slides/slide17.xml><?xml version="1.0" encoding="utf-8"?>
<p:sld xmlns:p="http://schemas.openxmlformats.org/presentationml/2006/main">
  <p:cSld>
    <p:bg>
      <p:bgPr>
        <a:solidFill xmlns:a="http://schemas.openxmlformats.org/drawingml/2006/main">
          <a:srgbClr val="F3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F366092-F384-4FFB-BF1E-58EBF2A0DFD9}"/>
              </a:ext>
            </a:extLst>
          </p:cNvPr>
          <p:cNvSpPr>
            <a:spLocks xmlns:a="http://schemas.openxmlformats.org/drawingml/2006/main" noGrp="1"/>
          </p:cNvSpPr>
          <p:nvPr/>
        </p:nvSpPr>
        <p:spPr>
          <a:xfrm xmlns:a="http://schemas.openxmlformats.org/drawingml/2006/main">
            <a:off x="685800" y="20955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762"/>
          </a:bodyPr>
          <a:lstStyle xmlns:a="http://schemas.openxmlformats.org/drawingml/2006/main"/>
          <a:p xmlns:a="http://schemas.openxmlformats.org/drawingml/2006/main">
            <a:pPr algn="l">
              <a:buNone/>
              <a:defRPr sz="1050" b="1">
                <a:solidFill>
                  <a:srgbClr val="187A83"/>
                </a:solidFill>
                <a:latin typeface="Arial"/>
                <a:ea typeface="Arial"/>
                <a:cs typeface="Arial"/>
              </a:defRPr>
            </a:pPr>
            <a:r>
              <a:rPr sz="1050" b="1">
                <a:solidFill>
                  <a:srgbClr val="187A83"/>
                </a:solidFill>
                <a:latin typeface="Arial"/>
                <a:ea typeface="Arial"/>
                <a:cs typeface="Arial"/>
              </a:rPr>
              <a:t>CASE STUDY 2  /  CADENCE</a:t>
            </a:r>
          </a:p>
        </p:txBody>
      </p:sp>
      <p:sp>
        <p:nvSpPr>
          <p:cNvPr id="2" name="">
            <a:extLst xmlns:a="http://schemas.openxmlformats.org/drawingml/2006/main">
              <a:ext uri="{FF2B5EF4-FFF2-40B4-BE49-F238E27FC236}">
                <a16:creationId xmlns:a16="http://schemas.microsoft.com/office/drawing/2014/main" id="{8B091FAB-3DFC-43A3-938F-15F330D07B26}"/>
              </a:ext>
            </a:extLst>
          </p:cNvPr>
          <p:cNvSpPr>
            <a:spLocks xmlns:a="http://schemas.openxmlformats.org/drawingml/2006/main" noGrp="1"/>
          </p:cNvSpPr>
          <p:nvPr/>
        </p:nvSpPr>
        <p:spPr>
          <a:xfrm xmlns:a="http://schemas.openxmlformats.org/drawingml/2006/main">
            <a:off x="685800" y="4953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700" b="1">
                <a:solidFill>
                  <a:srgbClr val="102C49"/>
                </a:solidFill>
                <a:latin typeface="Arial"/>
                <a:ea typeface="Arial"/>
                <a:cs typeface="Arial"/>
              </a:defRPr>
            </a:pPr>
            <a:r>
              <a:rPr sz="2700" b="1">
                <a:solidFill>
                  <a:srgbClr val="102C49"/>
                </a:solidFill>
                <a:latin typeface="Arial"/>
                <a:ea typeface="Arial"/>
                <a:cs typeface="Arial"/>
              </a:rPr>
              <a:t>Adversarial evaluation | measured results on synthetic fixtures</a:t>
            </a:r>
          </a:p>
        </p:txBody>
      </p:sp>
      <p:sp>
        <p:nvSpPr>
          <p:cNvPr id="3" name="">
            <a:extLst xmlns:a="http://schemas.openxmlformats.org/drawingml/2006/main">
              <a:ext uri="{FF2B5EF4-FFF2-40B4-BE49-F238E27FC236}">
                <a16:creationId xmlns:a16="http://schemas.microsoft.com/office/drawing/2014/main" id="{44F45B8A-D3E7-4A1A-858F-414FE104F5B4}"/>
              </a:ext>
            </a:extLst>
          </p:cNvPr>
          <p:cNvSpPr>
            <a:spLocks xmlns:a="http://schemas.openxmlformats.org/drawingml/2006/main" noGrp="1"/>
          </p:cNvSpPr>
          <p:nvPr/>
        </p:nvSpPr>
        <p:spPr>
          <a:xfrm xmlns:a="http://schemas.openxmlformats.org/drawingml/2006/main">
            <a:off x="685800" y="1162050"/>
            <a:ext cx="10820400" cy="0"/>
          </a:xfrm>
          <a:prstGeom xmlns:a="http://schemas.openxmlformats.org/drawingml/2006/main" prst="line">
            <a:avLst/>
          </a:prstGeom>
          <a:noFill xmlns:a="http://schemas.openxmlformats.org/drawingml/2006/main"/>
          <a:ln xmlns:a="http://schemas.openxmlformats.org/drawingml/2006/main" w="11430">
            <a:solidFill>
              <a:srgbClr val="D5E0E7"/>
            </a:solidFill>
            <a:prstDash val="solid"/>
          </a:ln>
        </p:spPr>
      </p:sp>
      <p:sp>
        <p:nvSpPr>
          <p:cNvPr id="4" name="">
            <a:extLst xmlns:a="http://schemas.openxmlformats.org/drawingml/2006/main">
              <a:ext uri="{FF2B5EF4-FFF2-40B4-BE49-F238E27FC236}">
                <a16:creationId xmlns:a16="http://schemas.microsoft.com/office/drawing/2014/main" id="{45E8DAF0-2CEA-4B16-9023-21E742B7B0F8}"/>
              </a:ext>
            </a:extLst>
          </p:cNvPr>
          <p:cNvSpPr>
            <a:spLocks xmlns:a="http://schemas.openxmlformats.org/drawingml/2006/main" noGrp="1"/>
          </p:cNvSpPr>
          <p:nvPr/>
        </p:nvSpPr>
        <p:spPr>
          <a:xfrm xmlns:a="http://schemas.openxmlformats.org/drawingml/2006/main">
            <a:off x="685800" y="1304925"/>
            <a:ext cx="5124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p xmlns:a="http://schemas.openxmlformats.org/drawingml/2006/main">
            <a:pPr algn="l">
              <a:buNone/>
              <a:defRPr sz="975" b="1">
                <a:solidFill>
                  <a:srgbClr val="187A83"/>
                </a:solidFill>
                <a:latin typeface="Arial"/>
                <a:ea typeface="Arial"/>
                <a:cs typeface="Arial"/>
              </a:defRPr>
            </a:pPr>
            <a:r>
              <a:rPr sz="975" b="1">
                <a:solidFill>
                  <a:srgbClr val="187A83"/>
                </a:solidFill>
                <a:latin typeface="Arial"/>
                <a:ea typeface="Arial"/>
                <a:cs typeface="Arial"/>
              </a:rPr>
              <a:t>FILE FORMAT  ·  MICRO PII METRICS</a:t>
            </a:r>
          </a:p>
        </p:txBody>
      </p:sp>
      <p:sp>
        <p:nvSpPr>
          <p:cNvPr id="5" name="">
            <a:extLst xmlns:a="http://schemas.openxmlformats.org/drawingml/2006/main">
              <a:ext uri="{FF2B5EF4-FFF2-40B4-BE49-F238E27FC236}">
                <a16:creationId xmlns:a16="http://schemas.microsoft.com/office/drawing/2014/main" id="{DAA76581-E659-4C18-B968-04C9A272DB64}"/>
              </a:ext>
            </a:extLst>
          </p:cNvPr>
          <p:cNvSpPr>
            <a:spLocks xmlns:a="http://schemas.openxmlformats.org/drawingml/2006/main" noGrp="1"/>
          </p:cNvSpPr>
          <p:nvPr/>
        </p:nvSpPr>
        <p:spPr>
          <a:xfrm xmlns:a="http://schemas.openxmlformats.org/drawingml/2006/main">
            <a:off x="6267450" y="1304925"/>
            <a:ext cx="523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p xmlns:a="http://schemas.openxmlformats.org/drawingml/2006/main">
            <a:pPr algn="l">
              <a:buNone/>
              <a:defRPr sz="975" b="1">
                <a:solidFill>
                  <a:srgbClr val="187A83"/>
                </a:solidFill>
                <a:latin typeface="Arial"/>
                <a:ea typeface="Arial"/>
                <a:cs typeface="Arial"/>
              </a:defRPr>
            </a:pPr>
            <a:r>
              <a:rPr sz="975" b="1">
                <a:solidFill>
                  <a:srgbClr val="187A83"/>
                </a:solidFill>
                <a:latin typeface="Arial"/>
                <a:ea typeface="Arial"/>
                <a:cs typeface="Arial"/>
              </a:rPr>
              <a:t>PII TYPE  ·  OVERALL PRECISION AND RECALL</a:t>
            </a:r>
          </a:p>
        </p:txBody>
      </p:sp>
      <p:graphicFrame>
        <p:nvGraphicFramePr>
          <p:cNvPr id="22" name=""/>
          <p:cNvGraphicFramePr/>
          <p:nvPr/>
        </p:nvGraphicFramePr>
        <p:xfrm>
          <a:off xmlns:a="http://schemas.openxmlformats.org/drawingml/2006/main" x="685800" y="1581150"/>
          <a:ext xmlns:a="http://schemas.openxmlformats.org/drawingml/2006/main" cx="5143500" cy="3143250"/>
        </p:xfrm>
        <a:graphic xmlns:a="http://schemas.openxmlformats.org/drawingml/2006/main">
          <a:graphicData uri="http://schemas.openxmlformats.org/drawingml/2006/table">
            <a:tbl>
              <a:tblPr firstRow="1" bandRow="1"/>
              <a:tblGrid>
                <a:gridCol w="1285875"/>
                <a:gridCol w="857250"/>
                <a:gridCol w="952500"/>
                <a:gridCol w="1000125"/>
                <a:gridCol w="1047750"/>
              </a:tblGrid>
              <a:tr h="419100">
                <a:tc>
                  <a:txBody>
                    <a:bodyPr/>
                    <a:lstStyle/>
                    <a:p>
                      <a:r>
                        <a:rPr sz="1125" b="1">
                          <a:solidFill>
                            <a:srgbClr val="FFFFFF"/>
                          </a:solidFill>
                          <a:latin typeface="Arial"/>
                          <a:ea typeface="Arial"/>
                          <a:cs typeface="Arial"/>
                        </a:rPr>
                        <a:t>Format</a:t>
                      </a:r>
                    </a:p>
                  </a:txBody>
                  <a:tcPr marL="76200" marR="57150" marT="57150" marB="57150">
                    <a:solidFill>
                      <a:srgbClr val="102C49"/>
                    </a:solidFill>
                  </a:tcPr>
                </a:tc>
                <a:tc>
                  <a:txBody>
                    <a:bodyPr/>
                    <a:lstStyle/>
                    <a:p>
                      <a:r>
                        <a:rPr sz="1125" b="1">
                          <a:solidFill>
                            <a:srgbClr val="FFFFFF"/>
                          </a:solidFill>
                          <a:latin typeface="Arial"/>
                          <a:ea typeface="Arial"/>
                          <a:cs typeface="Arial"/>
                        </a:rPr>
                        <a:t>Files</a:t>
                      </a:r>
                    </a:p>
                  </a:txBody>
                  <a:tcPr marL="76200" marR="57150" marT="57150" marB="57150">
                    <a:solidFill>
                      <a:srgbClr val="102C49"/>
                    </a:solidFill>
                  </a:tcPr>
                </a:tc>
                <a:tc>
                  <a:txBody>
                    <a:bodyPr/>
                    <a:lstStyle/>
                    <a:p>
                      <a:r>
                        <a:rPr sz="1125" b="1">
                          <a:solidFill>
                            <a:srgbClr val="FFFFFF"/>
                          </a:solidFill>
                          <a:latin typeface="Arial"/>
                          <a:ea typeface="Arial"/>
                          <a:cs typeface="Arial"/>
                        </a:rPr>
                        <a:t>Held</a:t>
                      </a:r>
                    </a:p>
                  </a:txBody>
                  <a:tcPr marL="76200" marR="57150" marT="57150" marB="57150">
                    <a:solidFill>
                      <a:srgbClr val="102C49"/>
                    </a:solidFill>
                  </a:tcPr>
                </a:tc>
                <a:tc>
                  <a:txBody>
                    <a:bodyPr/>
                    <a:lstStyle/>
                    <a:p>
                      <a:r>
                        <a:rPr sz="1125" b="1">
                          <a:solidFill>
                            <a:srgbClr val="FFFFFF"/>
                          </a:solidFill>
                          <a:latin typeface="Arial"/>
                          <a:ea typeface="Arial"/>
                          <a:cs typeface="Arial"/>
                        </a:rPr>
                        <a:t>Prec.</a:t>
                      </a:r>
                    </a:p>
                  </a:txBody>
                  <a:tcPr marL="76200" marR="57150" marT="57150" marB="57150">
                    <a:solidFill>
                      <a:srgbClr val="102C49"/>
                    </a:solidFill>
                  </a:tcPr>
                </a:tc>
                <a:tc>
                  <a:txBody>
                    <a:bodyPr/>
                    <a:lstStyle/>
                    <a:p>
                      <a:r>
                        <a:rPr sz="1125" b="1">
                          <a:solidFill>
                            <a:srgbClr val="FFFFFF"/>
                          </a:solidFill>
                          <a:latin typeface="Arial"/>
                          <a:ea typeface="Arial"/>
                          <a:cs typeface="Arial"/>
                        </a:rPr>
                        <a:t>Recall</a:t>
                      </a:r>
                    </a:p>
                  </a:txBody>
                  <a:tcPr marL="76200" marR="57150" marT="57150" marB="57150">
                    <a:solidFill>
                      <a:srgbClr val="102C49"/>
                    </a:solidFill>
                  </a:tcPr>
                </a:tc>
              </a:tr>
              <a:tr h="0">
                <a:tc>
                  <a:txBody>
                    <a:bodyPr/>
                    <a:lstStyle/>
                    <a:p>
                      <a:r>
                        <a:rPr sz="1050">
                          <a:solidFill>
                            <a:srgbClr val="17334B"/>
                          </a:solidFill>
                          <a:latin typeface="Arial"/>
                          <a:ea typeface="Arial"/>
                          <a:cs typeface="Arial"/>
                        </a:rPr>
                        <a:t>CSV</a:t>
                      </a:r>
                    </a:p>
                  </a:txBody>
                  <a:tcPr marL="76200" marR="57150" marT="57150" marB="57150"/>
                </a:tc>
                <a:tc>
                  <a:txBody>
                    <a:bodyPr/>
                    <a:lstStyle/>
                    <a:p>
                      <a:r>
                        <a:rPr sz="1050">
                          <a:solidFill>
                            <a:srgbClr val="17334B"/>
                          </a:solidFill>
                          <a:latin typeface="Arial"/>
                          <a:ea typeface="Arial"/>
                          <a:cs typeface="Arial"/>
                        </a:rPr>
                        <a:t>2</a:t>
                      </a:r>
                    </a:p>
                  </a:txBody>
                  <a:tcPr marL="76200" marR="57150" marT="57150" marB="57150"/>
                </a:tc>
                <a:tc>
                  <a:txBody>
                    <a:bodyPr/>
                    <a:lstStyle/>
                    <a:p>
                      <a:r>
                        <a:rPr sz="1050">
                          <a:solidFill>
                            <a:srgbClr val="17334B"/>
                          </a:solidFill>
                          <a:latin typeface="Arial"/>
                          <a:ea typeface="Arial"/>
                          <a:cs typeface="Arial"/>
                        </a:rPr>
                        <a:t>1</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r>
              <a:tr h="0">
                <a:tc>
                  <a:txBody>
                    <a:bodyPr/>
                    <a:lstStyle/>
                    <a:p>
                      <a:r>
                        <a:rPr sz="1050">
                          <a:solidFill>
                            <a:srgbClr val="17334B"/>
                          </a:solidFill>
                          <a:latin typeface="Arial"/>
                          <a:ea typeface="Arial"/>
                          <a:cs typeface="Arial"/>
                        </a:rPr>
                        <a:t>DOCX</a:t>
                      </a:r>
                    </a:p>
                  </a:txBody>
                  <a:tcPr marL="76200" marR="57150" marT="57150" marB="57150"/>
                </a:tc>
                <a:tc>
                  <a:txBody>
                    <a:bodyPr/>
                    <a:lstStyle/>
                    <a:p>
                      <a:r>
                        <a:rPr sz="1050">
                          <a:solidFill>
                            <a:srgbClr val="17334B"/>
                          </a:solidFill>
                          <a:latin typeface="Arial"/>
                          <a:ea typeface="Arial"/>
                          <a:cs typeface="Arial"/>
                        </a:rPr>
                        <a:t>2</a:t>
                      </a:r>
                    </a:p>
                  </a:txBody>
                  <a:tcPr marL="76200" marR="57150" marT="57150" marB="57150"/>
                </a:tc>
                <a:tc>
                  <a:txBody>
                    <a:bodyPr/>
                    <a:lstStyle/>
                    <a:p>
                      <a:r>
                        <a:rPr sz="1050">
                          <a:solidFill>
                            <a:srgbClr val="17334B"/>
                          </a:solidFill>
                          <a:latin typeface="Arial"/>
                          <a:ea typeface="Arial"/>
                          <a:cs typeface="Arial"/>
                        </a:rPr>
                        <a:t>1</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c>
                  <a:txBody>
                    <a:bodyPr/>
                    <a:lstStyle/>
                    <a:p>
                      <a:r>
                        <a:rPr sz="1050">
                          <a:solidFill>
                            <a:srgbClr val="17334B"/>
                          </a:solidFill>
                          <a:latin typeface="Arial"/>
                          <a:ea typeface="Arial"/>
                          <a:cs typeface="Arial"/>
                        </a:rPr>
                        <a:t>80.0%</a:t>
                      </a:r>
                    </a:p>
                  </a:txBody>
                  <a:tcPr marL="76200" marR="57150" marT="57150" marB="57150"/>
                </a:tc>
              </a:tr>
              <a:tr h="0">
                <a:tc>
                  <a:txBody>
                    <a:bodyPr/>
                    <a:lstStyle/>
                    <a:p>
                      <a:r>
                        <a:rPr sz="1050">
                          <a:solidFill>
                            <a:srgbClr val="17334B"/>
                          </a:solidFill>
                          <a:latin typeface="Arial"/>
                          <a:ea typeface="Arial"/>
                          <a:cs typeface="Arial"/>
                        </a:rPr>
                        <a:t>PDF</a:t>
                      </a:r>
                    </a:p>
                  </a:txBody>
                  <a:tcPr marL="76200" marR="57150" marT="57150" marB="57150"/>
                </a:tc>
                <a:tc>
                  <a:txBody>
                    <a:bodyPr/>
                    <a:lstStyle/>
                    <a:p>
                      <a:r>
                        <a:rPr sz="1050">
                          <a:solidFill>
                            <a:srgbClr val="17334B"/>
                          </a:solidFill>
                          <a:latin typeface="Arial"/>
                          <a:ea typeface="Arial"/>
                          <a:cs typeface="Arial"/>
                        </a:rPr>
                        <a:t>2</a:t>
                      </a:r>
                    </a:p>
                  </a:txBody>
                  <a:tcPr marL="76200" marR="57150" marT="57150" marB="57150"/>
                </a:tc>
                <a:tc>
                  <a:txBody>
                    <a:bodyPr/>
                    <a:lstStyle/>
                    <a:p>
                      <a:r>
                        <a:rPr sz="1050">
                          <a:solidFill>
                            <a:srgbClr val="17334B"/>
                          </a:solidFill>
                          <a:latin typeface="Arial"/>
                          <a:ea typeface="Arial"/>
                          <a:cs typeface="Arial"/>
                        </a:rPr>
                        <a:t>2</a:t>
                      </a:r>
                    </a:p>
                  </a:txBody>
                  <a:tcPr marL="76200" marR="57150" marT="57150" marB="57150"/>
                </a:tc>
                <a:tc>
                  <a:txBody>
                    <a:bodyPr/>
                    <a:lstStyle/>
                    <a:p>
                      <a:r>
                        <a:rPr sz="1050">
                          <a:solidFill>
                            <a:srgbClr val="17334B"/>
                          </a:solidFill>
                          <a:latin typeface="Arial"/>
                          <a:ea typeface="Arial"/>
                          <a:cs typeface="Arial"/>
                        </a:rPr>
                        <a:t>88.9%</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r>
              <a:tr h="0">
                <a:tc>
                  <a:txBody>
                    <a:bodyPr/>
                    <a:lstStyle/>
                    <a:p>
                      <a:r>
                        <a:rPr sz="1050">
                          <a:solidFill>
                            <a:srgbClr val="17334B"/>
                          </a:solidFill>
                          <a:latin typeface="Arial"/>
                          <a:ea typeface="Arial"/>
                          <a:cs typeface="Arial"/>
                        </a:rPr>
                        <a:t>PPTX</a:t>
                      </a:r>
                    </a:p>
                  </a:txBody>
                  <a:tcPr marL="76200" marR="57150" marT="57150" marB="57150"/>
                </a:tc>
                <a:tc>
                  <a:txBody>
                    <a:bodyPr/>
                    <a:lstStyle/>
                    <a:p>
                      <a:r>
                        <a:rPr sz="1050">
                          <a:solidFill>
                            <a:srgbClr val="17334B"/>
                          </a:solidFill>
                          <a:latin typeface="Arial"/>
                          <a:ea typeface="Arial"/>
                          <a:cs typeface="Arial"/>
                        </a:rPr>
                        <a:t>1</a:t>
                      </a:r>
                    </a:p>
                  </a:txBody>
                  <a:tcPr marL="76200" marR="57150" marT="57150" marB="57150"/>
                </a:tc>
                <a:tc>
                  <a:txBody>
                    <a:bodyPr/>
                    <a:lstStyle/>
                    <a:p>
                      <a:r>
                        <a:rPr sz="1050">
                          <a:solidFill>
                            <a:srgbClr val="17334B"/>
                          </a:solidFill>
                          <a:latin typeface="Arial"/>
                          <a:ea typeface="Arial"/>
                          <a:cs typeface="Arial"/>
                        </a:rPr>
                        <a:t>0</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r>
              <a:tr h="0">
                <a:tc>
                  <a:txBody>
                    <a:bodyPr/>
                    <a:lstStyle/>
                    <a:p>
                      <a:r>
                        <a:rPr sz="1050">
                          <a:solidFill>
                            <a:srgbClr val="17334B"/>
                          </a:solidFill>
                          <a:latin typeface="Arial"/>
                          <a:ea typeface="Arial"/>
                          <a:cs typeface="Arial"/>
                        </a:rPr>
                        <a:t>TXT</a:t>
                      </a:r>
                    </a:p>
                  </a:txBody>
                  <a:tcPr marL="76200" marR="57150" marT="57150" marB="57150"/>
                </a:tc>
                <a:tc>
                  <a:txBody>
                    <a:bodyPr/>
                    <a:lstStyle/>
                    <a:p>
                      <a:r>
                        <a:rPr sz="1050">
                          <a:solidFill>
                            <a:srgbClr val="17334B"/>
                          </a:solidFill>
                          <a:latin typeface="Arial"/>
                          <a:ea typeface="Arial"/>
                          <a:cs typeface="Arial"/>
                        </a:rPr>
                        <a:t>2</a:t>
                      </a:r>
                    </a:p>
                  </a:txBody>
                  <a:tcPr marL="76200" marR="57150" marT="57150" marB="57150"/>
                </a:tc>
                <a:tc>
                  <a:txBody>
                    <a:bodyPr/>
                    <a:lstStyle/>
                    <a:p>
                      <a:r>
                        <a:rPr sz="1050">
                          <a:solidFill>
                            <a:srgbClr val="17334B"/>
                          </a:solidFill>
                          <a:latin typeface="Arial"/>
                          <a:ea typeface="Arial"/>
                          <a:cs typeface="Arial"/>
                        </a:rPr>
                        <a:t>0</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r>
              <a:tr h="0">
                <a:tc>
                  <a:txBody>
                    <a:bodyPr/>
                    <a:lstStyle/>
                    <a:p>
                      <a:r>
                        <a:rPr sz="1050">
                          <a:solidFill>
                            <a:srgbClr val="17334B"/>
                          </a:solidFill>
                          <a:latin typeface="Arial"/>
                          <a:ea typeface="Arial"/>
                          <a:cs typeface="Arial"/>
                        </a:rPr>
                        <a:t>XLSX</a:t>
                      </a:r>
                    </a:p>
                  </a:txBody>
                  <a:tcPr marL="76200" marR="57150" marT="57150" marB="57150"/>
                </a:tc>
                <a:tc>
                  <a:txBody>
                    <a:bodyPr/>
                    <a:lstStyle/>
                    <a:p>
                      <a:r>
                        <a:rPr sz="1050">
                          <a:solidFill>
                            <a:srgbClr val="17334B"/>
                          </a:solidFill>
                          <a:latin typeface="Arial"/>
                          <a:ea typeface="Arial"/>
                          <a:cs typeface="Arial"/>
                        </a:rPr>
                        <a:t>1</a:t>
                      </a:r>
                    </a:p>
                  </a:txBody>
                  <a:tcPr marL="76200" marR="57150" marT="57150" marB="57150"/>
                </a:tc>
                <a:tc>
                  <a:txBody>
                    <a:bodyPr/>
                    <a:lstStyle/>
                    <a:p>
                      <a:r>
                        <a:rPr sz="1050">
                          <a:solidFill>
                            <a:srgbClr val="17334B"/>
                          </a:solidFill>
                          <a:latin typeface="Arial"/>
                          <a:ea typeface="Arial"/>
                          <a:cs typeface="Arial"/>
                        </a:rPr>
                        <a:t>0</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r>
            </a:tbl>
          </a:graphicData>
        </a:graphic>
      </p:graphicFrame>
      <p:graphicFrame>
        <p:nvGraphicFramePr>
          <p:cNvPr id="23" name=""/>
          <p:cNvGraphicFramePr/>
          <p:nvPr/>
        </p:nvGraphicFramePr>
        <p:xfrm>
          <a:off xmlns:a="http://schemas.openxmlformats.org/drawingml/2006/main" x="6267450" y="1581150"/>
          <a:ext xmlns:a="http://schemas.openxmlformats.org/drawingml/2006/main" cx="5238750" cy="3143250"/>
        </p:xfrm>
        <a:graphic xmlns:a="http://schemas.openxmlformats.org/drawingml/2006/main">
          <a:graphicData uri="http://schemas.openxmlformats.org/drawingml/2006/table">
            <a:tbl>
              <a:tblPr firstRow="1" bandRow="1"/>
              <a:tblGrid>
                <a:gridCol w="2667000"/>
                <a:gridCol w="1285875"/>
                <a:gridCol w="1285875"/>
              </a:tblGrid>
              <a:tr h="419100">
                <a:tc>
                  <a:txBody>
                    <a:bodyPr/>
                    <a:lstStyle/>
                    <a:p>
                      <a:r>
                        <a:rPr sz="1125" b="1">
                          <a:solidFill>
                            <a:srgbClr val="FFFFFF"/>
                          </a:solidFill>
                          <a:latin typeface="Arial"/>
                          <a:ea typeface="Arial"/>
                          <a:cs typeface="Arial"/>
                        </a:rPr>
                        <a:t>PII class</a:t>
                      </a:r>
                    </a:p>
                  </a:txBody>
                  <a:tcPr marL="76200" marR="57150" marT="57150" marB="57150">
                    <a:solidFill>
                      <a:srgbClr val="102C49"/>
                    </a:solidFill>
                  </a:tcPr>
                </a:tc>
                <a:tc>
                  <a:txBody>
                    <a:bodyPr/>
                    <a:lstStyle/>
                    <a:p>
                      <a:r>
                        <a:rPr sz="1125" b="1">
                          <a:solidFill>
                            <a:srgbClr val="FFFFFF"/>
                          </a:solidFill>
                          <a:latin typeface="Arial"/>
                          <a:ea typeface="Arial"/>
                          <a:cs typeface="Arial"/>
                        </a:rPr>
                        <a:t>Precision</a:t>
                      </a:r>
                    </a:p>
                  </a:txBody>
                  <a:tcPr marL="76200" marR="57150" marT="57150" marB="57150">
                    <a:solidFill>
                      <a:srgbClr val="102C49"/>
                    </a:solidFill>
                  </a:tcPr>
                </a:tc>
                <a:tc>
                  <a:txBody>
                    <a:bodyPr/>
                    <a:lstStyle/>
                    <a:p>
                      <a:r>
                        <a:rPr sz="1125" b="1">
                          <a:solidFill>
                            <a:srgbClr val="FFFFFF"/>
                          </a:solidFill>
                          <a:latin typeface="Arial"/>
                          <a:ea typeface="Arial"/>
                          <a:cs typeface="Arial"/>
                        </a:rPr>
                        <a:t>Recall</a:t>
                      </a:r>
                    </a:p>
                  </a:txBody>
                  <a:tcPr marL="76200" marR="57150" marT="57150" marB="57150">
                    <a:solidFill>
                      <a:srgbClr val="102C49"/>
                    </a:solidFill>
                  </a:tcPr>
                </a:tc>
              </a:tr>
              <a:tr h="0">
                <a:tc>
                  <a:txBody>
                    <a:bodyPr/>
                    <a:lstStyle/>
                    <a:p>
                      <a:r>
                        <a:rPr sz="1050">
                          <a:solidFill>
                            <a:srgbClr val="17334B"/>
                          </a:solidFill>
                          <a:latin typeface="Arial"/>
                          <a:ea typeface="Arial"/>
                          <a:cs typeface="Arial"/>
                        </a:rPr>
                        <a:t>ADDRESS</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r>
              <a:tr h="0">
                <a:tc>
                  <a:txBody>
                    <a:bodyPr/>
                    <a:lstStyle/>
                    <a:p>
                      <a:r>
                        <a:rPr sz="1050">
                          <a:solidFill>
                            <a:srgbClr val="17334B"/>
                          </a:solidFill>
                          <a:latin typeface="Arial"/>
                          <a:ea typeface="Arial"/>
                          <a:cs typeface="Arial"/>
                        </a:rPr>
                        <a:t>BANK_ACCOUNT</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r>
              <a:tr h="0">
                <a:tc>
                  <a:txBody>
                    <a:bodyPr/>
                    <a:lstStyle/>
                    <a:p>
                      <a:r>
                        <a:rPr sz="1050">
                          <a:solidFill>
                            <a:srgbClr val="17334B"/>
                          </a:solidFill>
                          <a:latin typeface="Arial"/>
                          <a:ea typeface="Arial"/>
                          <a:cs typeface="Arial"/>
                        </a:rPr>
                        <a:t>DOB</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r>
              <a:tr h="0">
                <a:tc>
                  <a:txBody>
                    <a:bodyPr/>
                    <a:lstStyle/>
                    <a:p>
                      <a:r>
                        <a:rPr sz="1050">
                          <a:solidFill>
                            <a:srgbClr val="17334B"/>
                          </a:solidFill>
                          <a:latin typeface="Arial"/>
                          <a:ea typeface="Arial"/>
                          <a:cs typeface="Arial"/>
                        </a:rPr>
                        <a:t>EMAIL</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c>
                  <a:txBody>
                    <a:bodyPr/>
                    <a:lstStyle/>
                    <a:p>
                      <a:r>
                        <a:rPr sz="1050">
                          <a:solidFill>
                            <a:srgbClr val="17334B"/>
                          </a:solidFill>
                          <a:latin typeface="Arial"/>
                          <a:ea typeface="Arial"/>
                          <a:cs typeface="Arial"/>
                        </a:rPr>
                        <a:t>87.5%</a:t>
                      </a:r>
                    </a:p>
                  </a:txBody>
                  <a:tcPr marL="76200" marR="57150" marT="57150" marB="57150"/>
                </a:tc>
              </a:tr>
              <a:tr h="0">
                <a:tc>
                  <a:txBody>
                    <a:bodyPr/>
                    <a:lstStyle/>
                    <a:p>
                      <a:r>
                        <a:rPr sz="1050">
                          <a:solidFill>
                            <a:srgbClr val="17334B"/>
                          </a:solidFill>
                          <a:latin typeface="Arial"/>
                          <a:ea typeface="Arial"/>
                          <a:cs typeface="Arial"/>
                        </a:rPr>
                        <a:t>EMPLOYEE_ID</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r>
              <a:tr h="0">
                <a:tc>
                  <a:txBody>
                    <a:bodyPr/>
                    <a:lstStyle/>
                    <a:p>
                      <a:r>
                        <a:rPr sz="1050">
                          <a:solidFill>
                            <a:srgbClr val="17334B"/>
                          </a:solidFill>
                          <a:latin typeface="Arial"/>
                          <a:ea typeface="Arial"/>
                          <a:cs typeface="Arial"/>
                        </a:rPr>
                        <a:t>GOVERNMENT_ID</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r>
              <a:tr h="0">
                <a:tc>
                  <a:txBody>
                    <a:bodyPr/>
                    <a:lstStyle/>
                    <a:p>
                      <a:r>
                        <a:rPr sz="1050">
                          <a:solidFill>
                            <a:srgbClr val="17334B"/>
                          </a:solidFill>
                          <a:latin typeface="Arial"/>
                          <a:ea typeface="Arial"/>
                          <a:cs typeface="Arial"/>
                        </a:rPr>
                        <a:t>PERSON_NAME</a:t>
                      </a:r>
                    </a:p>
                  </a:txBody>
                  <a:tcPr marL="76200" marR="57150" marT="57150" marB="57150"/>
                </a:tc>
                <a:tc>
                  <a:txBody>
                    <a:bodyPr/>
                    <a:lstStyle/>
                    <a:p>
                      <a:r>
                        <a:rPr sz="1050">
                          <a:solidFill>
                            <a:srgbClr val="17334B"/>
                          </a:solidFill>
                          <a:latin typeface="Arial"/>
                          <a:ea typeface="Arial"/>
                          <a:cs typeface="Arial"/>
                        </a:rPr>
                        <a:t>85.7%</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r>
              <a:tr h="0">
                <a:tc>
                  <a:txBody>
                    <a:bodyPr/>
                    <a:lstStyle/>
                    <a:p>
                      <a:r>
                        <a:rPr sz="1050">
                          <a:solidFill>
                            <a:srgbClr val="17334B"/>
                          </a:solidFill>
                          <a:latin typeface="Arial"/>
                          <a:ea typeface="Arial"/>
                          <a:cs typeface="Arial"/>
                        </a:rPr>
                        <a:t>PHONE</a:t>
                      </a:r>
                    </a:p>
                  </a:txBody>
                  <a:tcPr marL="76200" marR="57150" marT="57150" marB="57150"/>
                </a:tc>
                <a:tc>
                  <a:txBody>
                    <a:bodyPr/>
                    <a:lstStyle/>
                    <a:p>
                      <a:r>
                        <a:rPr sz="1050">
                          <a:solidFill>
                            <a:srgbClr val="17334B"/>
                          </a:solidFill>
                          <a:latin typeface="Arial"/>
                          <a:ea typeface="Arial"/>
                          <a:cs typeface="Arial"/>
                        </a:rPr>
                        <a:t>100.0%</a:t>
                      </a:r>
                    </a:p>
                  </a:txBody>
                  <a:tcPr marL="76200" marR="57150" marT="57150" marB="57150"/>
                </a:tc>
                <a:tc>
                  <a:txBody>
                    <a:bodyPr/>
                    <a:lstStyle/>
                    <a:p>
                      <a:r>
                        <a:rPr sz="1050">
                          <a:solidFill>
                            <a:srgbClr val="17334B"/>
                          </a:solidFill>
                          <a:latin typeface="Arial"/>
                          <a:ea typeface="Arial"/>
                          <a:cs typeface="Arial"/>
                        </a:rPr>
                        <a:t>85.7%</a:t>
                      </a:r>
                    </a:p>
                  </a:txBody>
                  <a:tcPr marL="76200" marR="57150" marT="57150" marB="57150"/>
                </a:tc>
              </a:tr>
            </a:tbl>
          </a:graphicData>
        </a:graphic>
      </p:graphicFrame>
      <p:sp>
        <p:nvSpPr>
          <p:cNvPr id="8" name="">
            <a:extLst xmlns:a="http://schemas.openxmlformats.org/drawingml/2006/main">
              <a:ext uri="{FF2B5EF4-FFF2-40B4-BE49-F238E27FC236}">
                <a16:creationId xmlns:a16="http://schemas.microsoft.com/office/drawing/2014/main" id="{10F9E7D7-9453-48C4-8139-CEF1164A39D4}"/>
              </a:ext>
            </a:extLst>
          </p:cNvPr>
          <p:cNvSpPr>
            <a:spLocks xmlns:a="http://schemas.openxmlformats.org/drawingml/2006/main" noGrp="1"/>
          </p:cNvSpPr>
          <p:nvPr/>
        </p:nvSpPr>
        <p:spPr>
          <a:xfrm xmlns:a="http://schemas.openxmlformats.org/drawingml/2006/main">
            <a:off x="685800" y="4972050"/>
            <a:ext cx="10820400" cy="1066800"/>
          </a:xfrm>
          <a:prstGeom xmlns:a="http://schemas.openxmlformats.org/drawingml/2006/main" prst="roundRect">
            <a:avLst>
              <a:gd name="adj" fmla="val 10714"/>
            </a:avLst>
          </a:prstGeom>
          <a:solidFill xmlns:a="http://schemas.openxmlformats.org/drawingml/2006/main">
            <a:srgbClr val="F8EAE7"/>
          </a:solidFill>
          <a:ln xmlns:a="http://schemas.openxmlformats.org/drawingml/2006/main" w="11430">
            <a:solidFill>
              <a:srgbClr val="F8EAE7"/>
            </a:solidFill>
            <a:prstDash val="solid"/>
          </a:ln>
        </p:spPr>
      </p:sp>
      <p:sp>
        <p:nvSpPr>
          <p:cNvPr id="9" name="">
            <a:extLst xmlns:a="http://schemas.openxmlformats.org/drawingml/2006/main">
              <a:ext uri="{FF2B5EF4-FFF2-40B4-BE49-F238E27FC236}">
                <a16:creationId xmlns:a16="http://schemas.microsoft.com/office/drawing/2014/main" id="{6D2FDCB3-D57E-462E-BE35-321CCF3ED947}"/>
              </a:ext>
            </a:extLst>
          </p:cNvPr>
          <p:cNvSpPr>
            <a:spLocks xmlns:a="http://schemas.openxmlformats.org/drawingml/2006/main" noGrp="1"/>
          </p:cNvSpPr>
          <p:nvPr/>
        </p:nvSpPr>
        <p:spPr>
          <a:xfrm xmlns:a="http://schemas.openxmlformats.org/drawingml/2006/main">
            <a:off x="876300" y="5105400"/>
            <a:ext cx="971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827"/>
          </a:bodyPr>
          <a:lstStyle xmlns:a="http://schemas.openxmlformats.org/drawingml/2006/main"/>
          <a:p xmlns:a="http://schemas.openxmlformats.org/drawingml/2006/main">
            <a:pPr algn="l">
              <a:buNone/>
              <a:defRPr sz="2025" b="1">
                <a:solidFill>
                  <a:srgbClr val="A14338"/>
                </a:solidFill>
                <a:latin typeface="Arial"/>
                <a:ea typeface="Arial"/>
                <a:cs typeface="Arial"/>
              </a:defRPr>
            </a:pPr>
            <a:r>
              <a:rPr sz="2025" b="1">
                <a:solidFill>
                  <a:srgbClr val="A14338"/>
                </a:solidFill>
                <a:latin typeface="Arial"/>
                <a:ea typeface="Arial"/>
                <a:cs typeface="Arial"/>
              </a:rPr>
              <a:t>4 / 4</a:t>
            </a:r>
          </a:p>
        </p:txBody>
      </p:sp>
      <p:sp>
        <p:nvSpPr>
          <p:cNvPr id="10" name="">
            <a:extLst xmlns:a="http://schemas.openxmlformats.org/drawingml/2006/main">
              <a:ext uri="{FF2B5EF4-FFF2-40B4-BE49-F238E27FC236}">
                <a16:creationId xmlns:a16="http://schemas.microsoft.com/office/drawing/2014/main" id="{35D0B6B5-22BA-49D6-BCFC-83685F86A255}"/>
              </a:ext>
            </a:extLst>
          </p:cNvPr>
          <p:cNvSpPr>
            <a:spLocks xmlns:a="http://schemas.openxmlformats.org/drawingml/2006/main" noGrp="1"/>
          </p:cNvSpPr>
          <p:nvPr/>
        </p:nvSpPr>
        <p:spPr>
          <a:xfrm xmlns:a="http://schemas.openxmlformats.org/drawingml/2006/main">
            <a:off x="1885950" y="514350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75" b="1">
                <a:solidFill>
                  <a:srgbClr val="102C49"/>
                </a:solidFill>
                <a:latin typeface="Arial"/>
                <a:ea typeface="Arial"/>
                <a:cs typeface="Arial"/>
              </a:defRPr>
            </a:pPr>
            <a:r>
              <a:rPr sz="1275" b="1">
                <a:solidFill>
                  <a:srgbClr val="102C49"/>
                </a:solidFill>
                <a:latin typeface="Arial"/>
                <a:ea typeface="Arial"/>
                <a:cs typeface="Arial"/>
              </a:rPr>
              <a:t>expected quarantine cases held</a:t>
            </a:r>
          </a:p>
        </p:txBody>
      </p:sp>
      <p:sp>
        <p:nvSpPr>
          <p:cNvPr id="11" name="">
            <a:extLst xmlns:a="http://schemas.openxmlformats.org/drawingml/2006/main">
              <a:ext uri="{FF2B5EF4-FFF2-40B4-BE49-F238E27FC236}">
                <a16:creationId xmlns:a16="http://schemas.microsoft.com/office/drawing/2014/main" id="{963EC540-4471-4A7E-AFE4-E553A3D0C3B4}"/>
              </a:ext>
            </a:extLst>
          </p:cNvPr>
          <p:cNvSpPr>
            <a:spLocks xmlns:a="http://schemas.openxmlformats.org/drawingml/2006/main" noGrp="1"/>
          </p:cNvSpPr>
          <p:nvPr/>
        </p:nvSpPr>
        <p:spPr>
          <a:xfrm xmlns:a="http://schemas.openxmlformats.org/drawingml/2006/main">
            <a:off x="5429250" y="5057775"/>
            <a:ext cx="58102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684"/>
          </a:bodyPr>
          <a:lstStyle xmlns:a="http://schemas.openxmlformats.org/drawingml/2006/main"/>
          <a:p xmlns:a="http://schemas.openxmlformats.org/drawingml/2006/main">
            <a:pPr algn="l">
              <a:buNone/>
              <a:defRPr sz="1200" b="0">
                <a:solidFill>
                  <a:srgbClr val="17334B"/>
                </a:solidFill>
                <a:latin typeface="Arial"/>
                <a:ea typeface="Arial"/>
                <a:cs typeface="Arial"/>
              </a:defRPr>
            </a:pPr>
            <a:r>
              <a:rPr sz="1200" b="0">
                <a:solidFill>
                  <a:srgbClr val="17334B"/>
                </a:solidFill>
                <a:latin typeface="Arial"/>
                <a:ea typeface="Arial"/>
                <a:cs typeface="Arial"/>
              </a:rPr>
              <a:t>DOCX image-only contacts were quarantined but not detected: email recall 87.5%, phone recall 85.7% overall. One PDF name false positive lowers name precision to 85.7%.</a:t>
            </a:r>
          </a:p>
        </p:txBody>
      </p:sp>
      <p:sp>
        <p:nvSpPr>
          <p:cNvPr id="12" name="">
            <a:extLst xmlns:a="http://schemas.openxmlformats.org/drawingml/2006/main">
              <a:ext uri="{FF2B5EF4-FFF2-40B4-BE49-F238E27FC236}">
                <a16:creationId xmlns:a16="http://schemas.microsoft.com/office/drawing/2014/main" id="{92F615E9-E156-4F78-A7B1-EA128B91DDC6}"/>
              </a:ext>
            </a:extLst>
          </p:cNvPr>
          <p:cNvSpPr>
            <a:spLocks xmlns:a="http://schemas.openxmlformats.org/drawingml/2006/main" noGrp="1"/>
          </p:cNvSpPr>
          <p:nvPr/>
        </p:nvSpPr>
        <p:spPr>
          <a:xfrm xmlns:a="http://schemas.openxmlformats.org/drawingml/2006/main">
            <a:off x="876300" y="5648325"/>
            <a:ext cx="10363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061"/>
          </a:bodyPr>
          <a:lstStyle xmlns:a="http://schemas.openxmlformats.org/drawingml/2006/main"/>
          <a:p xmlns:a="http://schemas.openxmlformats.org/drawingml/2006/main">
            <a:pPr algn="l">
              <a:buNone/>
              <a:defRPr sz="1050" b="1">
                <a:solidFill>
                  <a:srgbClr val="A14338"/>
                </a:solidFill>
                <a:latin typeface="Arial"/>
                <a:ea typeface="Arial"/>
                <a:cs typeface="Arial"/>
              </a:defRPr>
            </a:pPr>
            <a:r>
              <a:rPr sz="1050" b="1">
                <a:solidFill>
                  <a:srgbClr val="A14338"/>
                </a:solidFill>
                <a:latin typeface="Arial"/>
                <a:ea typeface="Arial"/>
                <a:cs typeface="Arial"/>
              </a:rPr>
              <a:t>Synthetic fixtures only. Locator retention is 12/12; that does not verify the brief’s 80% context-retention target. Payment-card and US-SSN positive recall were not measured.</a:t>
            </a:r>
          </a:p>
        </p:txBody>
      </p:sp>
      <p:sp>
        <p:nvSpPr>
          <p:cNvPr id="13" name="">
            <a:extLst xmlns:a="http://schemas.openxmlformats.org/drawingml/2006/main">
              <a:ext uri="{FF2B5EF4-FFF2-40B4-BE49-F238E27FC236}">
                <a16:creationId xmlns:a16="http://schemas.microsoft.com/office/drawing/2014/main" id="{17DD35BE-4C69-4D63-89C8-7C73C2D17F23}"/>
              </a:ext>
            </a:extLst>
          </p:cNvPr>
          <p:cNvSpPr>
            <a:spLocks xmlns:a="http://schemas.openxmlformats.org/drawingml/2006/main" noGrp="1"/>
          </p:cNvSpPr>
          <p:nvPr/>
        </p:nvSpPr>
        <p:spPr>
          <a:xfrm xmlns:a="http://schemas.openxmlformats.org/drawingml/2006/main">
            <a:off x="685800" y="655320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48485"/>
          </a:bodyPr>
          <a:lstStyle xmlns:a="http://schemas.openxmlformats.org/drawingml/2006/main"/>
          <a:p xmlns:a="http://schemas.openxmlformats.org/drawingml/2006/main">
            <a:pPr algn="l">
              <a:buNone/>
              <a:defRPr sz="825" b="0">
                <a:solidFill>
                  <a:srgbClr val="536D81"/>
                </a:solidFill>
                <a:latin typeface="Arial"/>
                <a:ea typeface="Arial"/>
                <a:cs typeface="Arial"/>
              </a:defRPr>
            </a:pPr>
            <a:r>
              <a:rPr sz="825" b="0">
                <a:solidFill>
                  <a:srgbClr val="536D81"/>
                </a:solidFill>
                <a:latin typeface="Arial"/>
                <a:ea typeface="Arial"/>
                <a:cs typeface="Arial"/>
              </a:rPr>
              <a:t>OPTIV  ·  VIT 2026  |  CASE STUDY 2  |  17</a:t>
            </a:r>
          </a:p>
        </p:txBody>
      </p:sp>
    </p:spTree>
    <p:extLst>
      <p:ext uri="{BB962C8B-B14F-4D97-AF65-F5344CB8AC3E}">
        <p14:creationId xmlns:p14="http://schemas.microsoft.com/office/powerpoint/2010/main" val="64970028"/>
      </p:ext>
    </p:extLst>
  </p:cSld>
</p:sld>
</file>

<file path=ppt/slides/slide18.xml><?xml version="1.0" encoding="utf-8"?>
<p:sld xmlns:p="http://schemas.openxmlformats.org/presentationml/2006/main">
  <p:cSld>
    <p:bg>
      <p:bgPr>
        <a:solidFill xmlns:a="http://schemas.openxmlformats.org/drawingml/2006/main">
          <a:srgbClr val="F3F6F8"/>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8B1ED9A1-D16C-4B41-B384-A267064CC0A0}"/>
              </a:ext>
            </a:extLst>
          </p:cNvPr>
          <p:cNvSpPr>
            <a:spLocks xmlns:a="http://schemas.openxmlformats.org/drawingml/2006/main" noGrp="1"/>
          </p:cNvSpPr>
          <p:nvPr/>
        </p:nvSpPr>
        <p:spPr>
          <a:xfrm xmlns:a="http://schemas.openxmlformats.org/drawingml/2006/main">
            <a:off x="685800" y="20955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762"/>
          </a:bodyPr>
          <a:lstStyle xmlns:a="http://schemas.openxmlformats.org/drawingml/2006/main"/>
          <a:p xmlns:a="http://schemas.openxmlformats.org/drawingml/2006/main">
            <a:pPr algn="l">
              <a:defRPr sz="1050" b="1">
                <a:solidFill>
                  <a:srgbClr val="187A83"/>
                </a:solidFill>
                <a:latin typeface="Arial"/>
                <a:ea typeface="Arial"/>
                <a:cs typeface="Arial"/>
              </a:defRPr>
            </a:pPr>
            <a:r>
              <a:rPr sz="1050" b="1">
                <a:solidFill>
                  <a:srgbClr val="187A83"/>
                </a:solidFill>
                <a:latin typeface="Arial"/>
                <a:ea typeface="Arial"/>
                <a:cs typeface="Arial"/>
              </a:rPr>
              <a:t>CASE STUDY 2  /  CADENCE</a:t>
            </a:r>
          </a:p>
        </p:txBody>
      </p:sp>
      <p:sp>
        <p:nvSpPr>
          <p:cNvPr id="2" name="">
            <a:extLst xmlns:a="http://schemas.openxmlformats.org/drawingml/2006/main">
              <a:ext uri="{FF2B5EF4-FFF2-40B4-BE49-F238E27FC236}">
                <a16:creationId xmlns:a16="http://schemas.microsoft.com/office/drawing/2014/main" id="{5E7BB085-7FAA-4127-9D38-0D4ED0477851}"/>
              </a:ext>
            </a:extLst>
          </p:cNvPr>
          <p:cNvSpPr>
            <a:spLocks xmlns:a="http://schemas.openxmlformats.org/drawingml/2006/main" noGrp="1"/>
          </p:cNvSpPr>
          <p:nvPr/>
        </p:nvSpPr>
        <p:spPr>
          <a:xfrm xmlns:a="http://schemas.openxmlformats.org/drawingml/2006/main">
            <a:off x="685800" y="4953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102C49"/>
                </a:solidFill>
                <a:latin typeface="Arial"/>
                <a:ea typeface="Arial"/>
                <a:cs typeface="Arial"/>
              </a:defRPr>
            </a:pPr>
            <a:r>
              <a:rPr sz="2700" b="1">
                <a:solidFill>
                  <a:srgbClr val="102C49"/>
                </a:solidFill>
                <a:latin typeface="Arial"/>
                <a:ea typeface="Arial"/>
                <a:cs typeface="Arial"/>
              </a:rPr>
              <a:t>Reviewer dashboard | session-level risk overview</a:t>
            </a:r>
          </a:p>
        </p:txBody>
      </p:sp>
      <p:sp>
        <p:nvSpPr>
          <p:cNvPr id="3" name="">
            <a:extLst xmlns:a="http://schemas.openxmlformats.org/drawingml/2006/main">
              <a:ext uri="{FF2B5EF4-FFF2-40B4-BE49-F238E27FC236}">
                <a16:creationId xmlns:a16="http://schemas.microsoft.com/office/drawing/2014/main" id="{CE7A088D-AFF7-42B8-8747-FF2FD22703AB}"/>
              </a:ext>
            </a:extLst>
          </p:cNvPr>
          <p:cNvSpPr>
            <a:spLocks xmlns:a="http://schemas.openxmlformats.org/drawingml/2006/main" noGrp="1"/>
          </p:cNvSpPr>
          <p:nvPr/>
        </p:nvSpPr>
        <p:spPr>
          <a:xfrm xmlns:a="http://schemas.openxmlformats.org/drawingml/2006/main">
            <a:off x="685800" y="1162050"/>
            <a:ext cx="10820400" cy="0"/>
          </a:xfrm>
          <a:prstGeom xmlns:a="http://schemas.openxmlformats.org/drawingml/2006/main" prst="line">
            <a:avLst/>
          </a:prstGeom>
          <a:noFill xmlns:a="http://schemas.openxmlformats.org/drawingml/2006/main"/>
          <a:ln xmlns:a="http://schemas.openxmlformats.org/drawingml/2006/main" w="11430">
            <a:solidFill>
              <a:srgbClr val="D5E0E7"/>
            </a:solidFill>
            <a:prstDash val="solid"/>
          </a:ln>
        </p:spPr>
      </p:sp>
      <p:sp>
        <p:nvSpPr>
          <p:cNvPr id="4" name="">
            <a:extLst xmlns:a="http://schemas.openxmlformats.org/drawingml/2006/main">
              <a:ext uri="{FF2B5EF4-FFF2-40B4-BE49-F238E27FC236}">
                <a16:creationId xmlns:a16="http://schemas.microsoft.com/office/drawing/2014/main" id="{A4AD059A-9DB1-4DA0-868E-29932DACEFD1}"/>
              </a:ext>
            </a:extLst>
          </p:cNvPr>
          <p:cNvSpPr>
            <a:spLocks xmlns:a="http://schemas.openxmlformats.org/drawingml/2006/main" noGrp="1"/>
          </p:cNvSpPr>
          <p:nvPr/>
        </p:nvSpPr>
        <p:spPr>
          <a:xfrm xmlns:a="http://schemas.openxmlformats.org/drawingml/2006/main">
            <a:off x="685800" y="1304925"/>
            <a:ext cx="10382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536D81"/>
                </a:solidFill>
                <a:latin typeface="Arial"/>
                <a:ea typeface="Arial"/>
                <a:cs typeface="Arial"/>
              </a:defRPr>
            </a:pPr>
            <a:r>
              <a:rPr sz="1425" b="0">
                <a:solidFill>
                  <a:srgbClr val="536D81"/>
                </a:solidFill>
                <a:latin typeface="Arial"/>
                <a:ea typeface="Arial"/>
                <a:cs typeface="Arial"/>
              </a:rPr>
              <a:t>Illustrative interface. Counts and statuses populate from each local upload; the review queue hides original filenames.</a:t>
            </a:r>
          </a:p>
        </p:txBody>
      </p:sp>
      <p:sp>
        <p:nvSpPr>
          <p:cNvPr id="5" name="">
            <a:extLst xmlns:a="http://schemas.openxmlformats.org/drawingml/2006/main">
              <a:ext uri="{FF2B5EF4-FFF2-40B4-BE49-F238E27FC236}">
                <a16:creationId xmlns:a16="http://schemas.microsoft.com/office/drawing/2014/main" id="{00D1E545-FACD-4D6C-A0C4-BC9736663684}"/>
              </a:ext>
            </a:extLst>
          </p:cNvPr>
          <p:cNvSpPr>
            <a:spLocks xmlns:a="http://schemas.openxmlformats.org/drawingml/2006/main" noGrp="1"/>
          </p:cNvSpPr>
          <p:nvPr/>
        </p:nvSpPr>
        <p:spPr>
          <a:xfrm xmlns:a="http://schemas.openxmlformats.org/drawingml/2006/main">
            <a:off x="685800" y="1838325"/>
            <a:ext cx="247650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1430">
            <a:solidFill>
              <a:srgbClr val="D5E0E7"/>
            </a:solidFill>
            <a:prstDash val="solid"/>
          </a:ln>
        </p:spPr>
      </p:sp>
      <p:sp>
        <p:nvSpPr>
          <p:cNvPr id="6" name="">
            <a:extLst xmlns:a="http://schemas.openxmlformats.org/drawingml/2006/main">
              <a:ext uri="{FF2B5EF4-FFF2-40B4-BE49-F238E27FC236}">
                <a16:creationId xmlns:a16="http://schemas.microsoft.com/office/drawing/2014/main" id="{AF9045AB-F02B-4132-9CF3-4FD9BE6C7C23}"/>
              </a:ext>
            </a:extLst>
          </p:cNvPr>
          <p:cNvSpPr>
            <a:spLocks xmlns:a="http://schemas.openxmlformats.org/drawingml/2006/main" noGrp="1"/>
          </p:cNvSpPr>
          <p:nvPr/>
        </p:nvSpPr>
        <p:spPr>
          <a:xfrm xmlns:a="http://schemas.openxmlformats.org/drawingml/2006/main">
            <a:off x="838200" y="191452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100" b="1">
                <a:solidFill>
                  <a:srgbClr val="102C49"/>
                </a:solidFill>
                <a:latin typeface="Arial"/>
                <a:ea typeface="Arial"/>
                <a:cs typeface="Arial"/>
              </a:defRPr>
            </a:pPr>
            <a:r>
              <a:rPr sz="2100" b="1">
                <a:solidFill>
                  <a:srgbClr val="102C49"/>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6677BA6D-1B00-47E0-B62C-B9C7ECC19758}"/>
              </a:ext>
            </a:extLst>
          </p:cNvPr>
          <p:cNvSpPr>
            <a:spLocks xmlns:a="http://schemas.openxmlformats.org/drawingml/2006/main" noGrp="1"/>
          </p:cNvSpPr>
          <p:nvPr/>
        </p:nvSpPr>
        <p:spPr>
          <a:xfrm xmlns:a="http://schemas.openxmlformats.org/drawingml/2006/main">
            <a:off x="1390650" y="1962150"/>
            <a:ext cx="1638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p xmlns:a="http://schemas.openxmlformats.org/drawingml/2006/main">
            <a:pPr algn="l">
              <a:defRPr sz="975" b="1">
                <a:solidFill>
                  <a:srgbClr val="187A83"/>
                </a:solidFill>
                <a:latin typeface="Arial"/>
                <a:ea typeface="Arial"/>
                <a:cs typeface="Arial"/>
              </a:defRPr>
            </a:pPr>
            <a:r>
              <a:rPr sz="975" b="1">
                <a:solidFill>
                  <a:srgbClr val="187A83"/>
                </a:solidFill>
                <a:latin typeface="Arial"/>
                <a:ea typeface="Arial"/>
                <a:cs typeface="Arial"/>
              </a:rPr>
              <a:t>FILES PROCESSED</a:t>
            </a:r>
          </a:p>
        </p:txBody>
      </p:sp>
      <p:sp>
        <p:nvSpPr>
          <p:cNvPr id="8" name="">
            <a:extLst xmlns:a="http://schemas.openxmlformats.org/drawingml/2006/main">
              <a:ext uri="{FF2B5EF4-FFF2-40B4-BE49-F238E27FC236}">
                <a16:creationId xmlns:a16="http://schemas.microsoft.com/office/drawing/2014/main" id="{C872EAA2-2913-45C4-AC47-28E6E48102C5}"/>
              </a:ext>
            </a:extLst>
          </p:cNvPr>
          <p:cNvSpPr>
            <a:spLocks xmlns:a="http://schemas.openxmlformats.org/drawingml/2006/main" noGrp="1"/>
          </p:cNvSpPr>
          <p:nvPr/>
        </p:nvSpPr>
        <p:spPr>
          <a:xfrm xmlns:a="http://schemas.openxmlformats.org/drawingml/2006/main">
            <a:off x="838200" y="23812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l">
              <a:defRPr sz="1050" b="0">
                <a:solidFill>
                  <a:srgbClr val="536D81"/>
                </a:solidFill>
                <a:latin typeface="Arial"/>
                <a:ea typeface="Arial"/>
                <a:cs typeface="Arial"/>
              </a:defRPr>
            </a:pPr>
            <a:r>
              <a:rPr sz="1050" b="0">
                <a:solidFill>
                  <a:srgbClr val="536D81"/>
                </a:solidFill>
                <a:latin typeface="Arial"/>
                <a:ea typeface="Arial"/>
                <a:cs typeface="Arial"/>
              </a:rPr>
              <a:t>Live session total</a:t>
            </a:r>
          </a:p>
        </p:txBody>
      </p:sp>
      <p:sp>
        <p:nvSpPr>
          <p:cNvPr id="9" name="">
            <a:extLst xmlns:a="http://schemas.openxmlformats.org/drawingml/2006/main">
              <a:ext uri="{FF2B5EF4-FFF2-40B4-BE49-F238E27FC236}">
                <a16:creationId xmlns:a16="http://schemas.microsoft.com/office/drawing/2014/main" id="{D083E19A-6B0A-4245-8836-2FC2126EB6BF}"/>
              </a:ext>
            </a:extLst>
          </p:cNvPr>
          <p:cNvSpPr>
            <a:spLocks xmlns:a="http://schemas.openxmlformats.org/drawingml/2006/main" noGrp="1"/>
          </p:cNvSpPr>
          <p:nvPr/>
        </p:nvSpPr>
        <p:spPr>
          <a:xfrm xmlns:a="http://schemas.openxmlformats.org/drawingml/2006/main">
            <a:off x="3390900" y="1838325"/>
            <a:ext cx="247650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1430">
            <a:solidFill>
              <a:srgbClr val="D5E0E7"/>
            </a:solidFill>
            <a:prstDash val="solid"/>
          </a:ln>
        </p:spPr>
      </p:sp>
      <p:sp>
        <p:nvSpPr>
          <p:cNvPr id="10" name="">
            <a:extLst xmlns:a="http://schemas.openxmlformats.org/drawingml/2006/main">
              <a:ext uri="{FF2B5EF4-FFF2-40B4-BE49-F238E27FC236}">
                <a16:creationId xmlns:a16="http://schemas.microsoft.com/office/drawing/2014/main" id="{692D97B9-C37A-4540-A9A3-893A79A62921}"/>
              </a:ext>
            </a:extLst>
          </p:cNvPr>
          <p:cNvSpPr>
            <a:spLocks xmlns:a="http://schemas.openxmlformats.org/drawingml/2006/main" noGrp="1"/>
          </p:cNvSpPr>
          <p:nvPr/>
        </p:nvSpPr>
        <p:spPr>
          <a:xfrm xmlns:a="http://schemas.openxmlformats.org/drawingml/2006/main">
            <a:off x="3543300" y="191452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100" b="1">
                <a:solidFill>
                  <a:srgbClr val="102C49"/>
                </a:solidFill>
                <a:latin typeface="Arial"/>
                <a:ea typeface="Arial"/>
                <a:cs typeface="Arial"/>
              </a:defRPr>
            </a:pPr>
            <a:r>
              <a:rPr sz="2100" b="1">
                <a:solidFill>
                  <a:srgbClr val="102C49"/>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260C4158-0D98-44A2-9A0C-F2596F1D3855}"/>
              </a:ext>
            </a:extLst>
          </p:cNvPr>
          <p:cNvSpPr>
            <a:spLocks xmlns:a="http://schemas.openxmlformats.org/drawingml/2006/main" noGrp="1"/>
          </p:cNvSpPr>
          <p:nvPr/>
        </p:nvSpPr>
        <p:spPr>
          <a:xfrm xmlns:a="http://schemas.openxmlformats.org/drawingml/2006/main">
            <a:off x="4095750" y="1962150"/>
            <a:ext cx="1638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p xmlns:a="http://schemas.openxmlformats.org/drawingml/2006/main">
            <a:pPr algn="l">
              <a:defRPr sz="975" b="1">
                <a:solidFill>
                  <a:srgbClr val="187A83"/>
                </a:solidFill>
                <a:latin typeface="Arial"/>
                <a:ea typeface="Arial"/>
                <a:cs typeface="Arial"/>
              </a:defRPr>
            </a:pPr>
            <a:r>
              <a:rPr sz="975" b="1">
                <a:solidFill>
                  <a:srgbClr val="187A83"/>
                </a:solidFill>
                <a:latin typeface="Arial"/>
                <a:ea typeface="Arial"/>
                <a:cs typeface="Arial"/>
              </a:rPr>
              <a:t>QUARANTINED</a:t>
            </a:r>
          </a:p>
        </p:txBody>
      </p:sp>
      <p:sp>
        <p:nvSpPr>
          <p:cNvPr id="12" name="">
            <a:extLst xmlns:a="http://schemas.openxmlformats.org/drawingml/2006/main">
              <a:ext uri="{FF2B5EF4-FFF2-40B4-BE49-F238E27FC236}">
                <a16:creationId xmlns:a16="http://schemas.microsoft.com/office/drawing/2014/main" id="{A2337F58-525C-4566-839E-7CA91916D520}"/>
              </a:ext>
            </a:extLst>
          </p:cNvPr>
          <p:cNvSpPr>
            <a:spLocks xmlns:a="http://schemas.openxmlformats.org/drawingml/2006/main" noGrp="1"/>
          </p:cNvSpPr>
          <p:nvPr/>
        </p:nvSpPr>
        <p:spPr>
          <a:xfrm xmlns:a="http://schemas.openxmlformats.org/drawingml/2006/main">
            <a:off x="3543300" y="23812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l">
              <a:defRPr sz="1050" b="0">
                <a:solidFill>
                  <a:srgbClr val="536D81"/>
                </a:solidFill>
                <a:latin typeface="Arial"/>
                <a:ea typeface="Arial"/>
                <a:cs typeface="Arial"/>
              </a:defRPr>
            </a:pPr>
            <a:r>
              <a:rPr sz="1050" b="0">
                <a:solidFill>
                  <a:srgbClr val="536D81"/>
                </a:solidFill>
                <a:latin typeface="Arial"/>
                <a:ea typeface="Arial"/>
                <a:cs typeface="Arial"/>
              </a:rPr>
              <a:t>Held for manual review</a:t>
            </a:r>
          </a:p>
        </p:txBody>
      </p:sp>
      <p:sp>
        <p:nvSpPr>
          <p:cNvPr id="13" name="">
            <a:extLst xmlns:a="http://schemas.openxmlformats.org/drawingml/2006/main">
              <a:ext uri="{FF2B5EF4-FFF2-40B4-BE49-F238E27FC236}">
                <a16:creationId xmlns:a16="http://schemas.microsoft.com/office/drawing/2014/main" id="{565ADC84-61E2-4F66-9AFA-49D834866DA2}"/>
              </a:ext>
            </a:extLst>
          </p:cNvPr>
          <p:cNvSpPr>
            <a:spLocks xmlns:a="http://schemas.openxmlformats.org/drawingml/2006/main" noGrp="1"/>
          </p:cNvSpPr>
          <p:nvPr/>
        </p:nvSpPr>
        <p:spPr>
          <a:xfrm xmlns:a="http://schemas.openxmlformats.org/drawingml/2006/main">
            <a:off x="6096000" y="1838325"/>
            <a:ext cx="247650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1430">
            <a:solidFill>
              <a:srgbClr val="D5E0E7"/>
            </a:solidFill>
            <a:prstDash val="solid"/>
          </a:ln>
        </p:spPr>
      </p:sp>
      <p:sp>
        <p:nvSpPr>
          <p:cNvPr id="14" name="">
            <a:extLst xmlns:a="http://schemas.openxmlformats.org/drawingml/2006/main">
              <a:ext uri="{FF2B5EF4-FFF2-40B4-BE49-F238E27FC236}">
                <a16:creationId xmlns:a16="http://schemas.microsoft.com/office/drawing/2014/main" id="{5302CA8A-0EF0-4F1C-B09B-871AF6979FB6}"/>
              </a:ext>
            </a:extLst>
          </p:cNvPr>
          <p:cNvSpPr>
            <a:spLocks xmlns:a="http://schemas.openxmlformats.org/drawingml/2006/main" noGrp="1"/>
          </p:cNvSpPr>
          <p:nvPr/>
        </p:nvSpPr>
        <p:spPr>
          <a:xfrm xmlns:a="http://schemas.openxmlformats.org/drawingml/2006/main">
            <a:off x="6248400" y="191452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100" b="1">
                <a:solidFill>
                  <a:srgbClr val="102C49"/>
                </a:solidFill>
                <a:latin typeface="Arial"/>
                <a:ea typeface="Arial"/>
                <a:cs typeface="Arial"/>
              </a:defRPr>
            </a:pPr>
            <a:r>
              <a:rPr sz="2100" b="1">
                <a:solidFill>
                  <a:srgbClr val="102C49"/>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7558A10C-6DEB-42C1-B179-66DA5456BD6C}"/>
              </a:ext>
            </a:extLst>
          </p:cNvPr>
          <p:cNvSpPr>
            <a:spLocks xmlns:a="http://schemas.openxmlformats.org/drawingml/2006/main" noGrp="1"/>
          </p:cNvSpPr>
          <p:nvPr/>
        </p:nvSpPr>
        <p:spPr>
          <a:xfrm xmlns:a="http://schemas.openxmlformats.org/drawingml/2006/main">
            <a:off x="6800850" y="1962150"/>
            <a:ext cx="1638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p xmlns:a="http://schemas.openxmlformats.org/drawingml/2006/main">
            <a:pPr algn="l">
              <a:defRPr sz="975" b="1">
                <a:solidFill>
                  <a:srgbClr val="187A83"/>
                </a:solidFill>
                <a:latin typeface="Arial"/>
                <a:ea typeface="Arial"/>
                <a:cs typeface="Arial"/>
              </a:defRPr>
            </a:pPr>
            <a:r>
              <a:rPr sz="975" b="1">
                <a:solidFill>
                  <a:srgbClr val="187A83"/>
                </a:solidFill>
                <a:latin typeface="Arial"/>
                <a:ea typeface="Arial"/>
                <a:cs typeface="Arial"/>
              </a:rPr>
              <a:t>AWAITING REVIEW</a:t>
            </a:r>
          </a:p>
        </p:txBody>
      </p:sp>
      <p:sp>
        <p:nvSpPr>
          <p:cNvPr id="16" name="">
            <a:extLst xmlns:a="http://schemas.openxmlformats.org/drawingml/2006/main">
              <a:ext uri="{FF2B5EF4-FFF2-40B4-BE49-F238E27FC236}">
                <a16:creationId xmlns:a16="http://schemas.microsoft.com/office/drawing/2014/main" id="{CA8B2679-DB4D-40DD-BECF-C66DF0A80FAF}"/>
              </a:ext>
            </a:extLst>
          </p:cNvPr>
          <p:cNvSpPr>
            <a:spLocks xmlns:a="http://schemas.openxmlformats.org/drawingml/2006/main" noGrp="1"/>
          </p:cNvSpPr>
          <p:nvPr/>
        </p:nvSpPr>
        <p:spPr>
          <a:xfrm xmlns:a="http://schemas.openxmlformats.org/drawingml/2006/main">
            <a:off x="6248400" y="23812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l">
              <a:defRPr sz="1050" b="0">
                <a:solidFill>
                  <a:srgbClr val="536D81"/>
                </a:solidFill>
                <a:latin typeface="Arial"/>
                <a:ea typeface="Arial"/>
                <a:cs typeface="Arial"/>
              </a:defRPr>
            </a:pPr>
            <a:r>
              <a:rPr sz="1050" b="0">
                <a:solidFill>
                  <a:srgbClr val="536D81"/>
                </a:solidFill>
                <a:latin typeface="Arial"/>
                <a:ea typeface="Arial"/>
                <a:cs typeface="Arial"/>
              </a:rPr>
              <a:t>Release gate pending</a:t>
            </a:r>
          </a:p>
        </p:txBody>
      </p:sp>
      <p:sp>
        <p:nvSpPr>
          <p:cNvPr id="17" name="">
            <a:extLst xmlns:a="http://schemas.openxmlformats.org/drawingml/2006/main">
              <a:ext uri="{FF2B5EF4-FFF2-40B4-BE49-F238E27FC236}">
                <a16:creationId xmlns:a16="http://schemas.microsoft.com/office/drawing/2014/main" id="{F9414A8F-7685-48E0-8F18-BBB56AE84B1C}"/>
              </a:ext>
            </a:extLst>
          </p:cNvPr>
          <p:cNvSpPr>
            <a:spLocks xmlns:a="http://schemas.openxmlformats.org/drawingml/2006/main" noGrp="1"/>
          </p:cNvSpPr>
          <p:nvPr/>
        </p:nvSpPr>
        <p:spPr>
          <a:xfrm xmlns:a="http://schemas.openxmlformats.org/drawingml/2006/main">
            <a:off x="8801100" y="1838325"/>
            <a:ext cx="247650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1430">
            <a:solidFill>
              <a:srgbClr val="D5E0E7"/>
            </a:solidFill>
            <a:prstDash val="solid"/>
          </a:ln>
        </p:spPr>
      </p:sp>
      <p:sp>
        <p:nvSpPr>
          <p:cNvPr id="18" name="">
            <a:extLst xmlns:a="http://schemas.openxmlformats.org/drawingml/2006/main">
              <a:ext uri="{FF2B5EF4-FFF2-40B4-BE49-F238E27FC236}">
                <a16:creationId xmlns:a16="http://schemas.microsoft.com/office/drawing/2014/main" id="{48C70372-4886-4CB8-84CF-BB833B0251B5}"/>
              </a:ext>
            </a:extLst>
          </p:cNvPr>
          <p:cNvSpPr>
            <a:spLocks xmlns:a="http://schemas.openxmlformats.org/drawingml/2006/main" noGrp="1"/>
          </p:cNvSpPr>
          <p:nvPr/>
        </p:nvSpPr>
        <p:spPr>
          <a:xfrm xmlns:a="http://schemas.openxmlformats.org/drawingml/2006/main">
            <a:off x="8953500" y="191452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100" b="1">
                <a:solidFill>
                  <a:srgbClr val="102C49"/>
                </a:solidFill>
                <a:latin typeface="Arial"/>
                <a:ea typeface="Arial"/>
                <a:cs typeface="Arial"/>
              </a:defRPr>
            </a:pPr>
            <a:r>
              <a:rPr sz="2100" b="1">
                <a:solidFill>
                  <a:srgbClr val="102C49"/>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D434BD84-637E-4F05-BEB8-EAE0566E2B77}"/>
              </a:ext>
            </a:extLst>
          </p:cNvPr>
          <p:cNvSpPr>
            <a:spLocks xmlns:a="http://schemas.openxmlformats.org/drawingml/2006/main" noGrp="1"/>
          </p:cNvSpPr>
          <p:nvPr/>
        </p:nvSpPr>
        <p:spPr>
          <a:xfrm xmlns:a="http://schemas.openxmlformats.org/drawingml/2006/main">
            <a:off x="9505950" y="1962150"/>
            <a:ext cx="1638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p xmlns:a="http://schemas.openxmlformats.org/drawingml/2006/main">
            <a:pPr algn="l">
              <a:defRPr sz="975" b="1">
                <a:solidFill>
                  <a:srgbClr val="187A83"/>
                </a:solidFill>
                <a:latin typeface="Arial"/>
                <a:ea typeface="Arial"/>
                <a:cs typeface="Arial"/>
              </a:defRPr>
            </a:pPr>
            <a:r>
              <a:rPr sz="975" b="1">
                <a:solidFill>
                  <a:srgbClr val="187A83"/>
                </a:solidFill>
                <a:latin typeface="Arial"/>
                <a:ea typeface="Arial"/>
                <a:cs typeface="Arial"/>
              </a:rPr>
              <a:t>PII SPANS TAGGED</a:t>
            </a:r>
          </a:p>
        </p:txBody>
      </p:sp>
      <p:sp>
        <p:nvSpPr>
          <p:cNvPr id="20" name="">
            <a:extLst xmlns:a="http://schemas.openxmlformats.org/drawingml/2006/main">
              <a:ext uri="{FF2B5EF4-FFF2-40B4-BE49-F238E27FC236}">
                <a16:creationId xmlns:a16="http://schemas.microsoft.com/office/drawing/2014/main" id="{8C9006EE-2F46-4D45-B14A-B3471371B498}"/>
              </a:ext>
            </a:extLst>
          </p:cNvPr>
          <p:cNvSpPr>
            <a:spLocks xmlns:a="http://schemas.openxmlformats.org/drawingml/2006/main" noGrp="1"/>
          </p:cNvSpPr>
          <p:nvPr/>
        </p:nvSpPr>
        <p:spPr>
          <a:xfrm xmlns:a="http://schemas.openxmlformats.org/drawingml/2006/main">
            <a:off x="8953500" y="23812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l">
              <a:defRPr sz="1050" b="0">
                <a:solidFill>
                  <a:srgbClr val="536D81"/>
                </a:solidFill>
                <a:latin typeface="Arial"/>
                <a:ea typeface="Arial"/>
                <a:cs typeface="Arial"/>
              </a:defRPr>
            </a:pPr>
            <a:r>
              <a:rPr sz="1050" b="0">
                <a:solidFill>
                  <a:srgbClr val="536D81"/>
                </a:solidFill>
                <a:latin typeface="Arial"/>
                <a:ea typeface="Arial"/>
                <a:cs typeface="Arial"/>
              </a:rPr>
              <a:t>Pattern matches only</a:t>
            </a:r>
          </a:p>
        </p:txBody>
      </p:sp>
      <p:sp>
        <p:nvSpPr>
          <p:cNvPr id="21" name="">
            <a:extLst xmlns:a="http://schemas.openxmlformats.org/drawingml/2006/main">
              <a:ext uri="{FF2B5EF4-FFF2-40B4-BE49-F238E27FC236}">
                <a16:creationId xmlns:a16="http://schemas.microsoft.com/office/drawing/2014/main" id="{98509EAD-8641-4535-BB16-27FF1313271D}"/>
              </a:ext>
            </a:extLst>
          </p:cNvPr>
          <p:cNvSpPr>
            <a:spLocks xmlns:a="http://schemas.openxmlformats.org/drawingml/2006/main" noGrp="1"/>
          </p:cNvSpPr>
          <p:nvPr/>
        </p:nvSpPr>
        <p:spPr>
          <a:xfrm xmlns:a="http://schemas.openxmlformats.org/drawingml/2006/main">
            <a:off x="685800" y="2962275"/>
            <a:ext cx="4095750" cy="2647950"/>
          </a:xfrm>
          <a:prstGeom xmlns:a="http://schemas.openxmlformats.org/drawingml/2006/main" prst="roundRect">
            <a:avLst>
              <a:gd name="adj" fmla="val 4317"/>
            </a:avLst>
          </a:prstGeom>
          <a:solidFill xmlns:a="http://schemas.openxmlformats.org/drawingml/2006/main">
            <a:srgbClr val="FFFFFF"/>
          </a:solidFill>
          <a:ln xmlns:a="http://schemas.openxmlformats.org/drawingml/2006/main" w="11430">
            <a:solidFill>
              <a:srgbClr val="D5E0E7"/>
            </a:solidFill>
            <a:prstDash val="solid"/>
          </a:ln>
        </p:spPr>
      </p:sp>
      <p:sp>
        <p:nvSpPr>
          <p:cNvPr id="22" name="">
            <a:extLst xmlns:a="http://schemas.openxmlformats.org/drawingml/2006/main">
              <a:ext uri="{FF2B5EF4-FFF2-40B4-BE49-F238E27FC236}">
                <a16:creationId xmlns:a16="http://schemas.microsoft.com/office/drawing/2014/main" id="{63C89852-8A83-405A-802D-11AB8C63C62F}"/>
              </a:ext>
            </a:extLst>
          </p:cNvPr>
          <p:cNvSpPr>
            <a:spLocks xmlns:a="http://schemas.openxmlformats.org/drawingml/2006/main" noGrp="1"/>
          </p:cNvSpPr>
          <p:nvPr/>
        </p:nvSpPr>
        <p:spPr>
          <a:xfrm xmlns:a="http://schemas.openxmlformats.org/drawingml/2006/main">
            <a:off x="876300" y="310515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102C49"/>
                </a:solidFill>
                <a:latin typeface="Arial"/>
                <a:ea typeface="Arial"/>
                <a:cs typeface="Arial"/>
              </a:defRPr>
            </a:pPr>
            <a:r>
              <a:rPr sz="1500" b="1">
                <a:solidFill>
                  <a:srgbClr val="102C49"/>
                </a:solidFill>
                <a:latin typeface="Arial"/>
                <a:ea typeface="Arial"/>
                <a:cs typeface="Arial"/>
              </a:rPr>
              <a:t>Detection breakdown</a:t>
            </a:r>
          </a:p>
        </p:txBody>
      </p:sp>
      <p:sp>
        <p:nvSpPr>
          <p:cNvPr id="23" name="">
            <a:extLst xmlns:a="http://schemas.openxmlformats.org/drawingml/2006/main">
              <a:ext uri="{FF2B5EF4-FFF2-40B4-BE49-F238E27FC236}">
                <a16:creationId xmlns:a16="http://schemas.microsoft.com/office/drawing/2014/main" id="{4E9656C7-E2C8-4B91-981C-B69EAD5C1E91}"/>
              </a:ext>
            </a:extLst>
          </p:cNvPr>
          <p:cNvSpPr>
            <a:spLocks xmlns:a="http://schemas.openxmlformats.org/drawingml/2006/main" noGrp="1"/>
          </p:cNvSpPr>
          <p:nvPr/>
        </p:nvSpPr>
        <p:spPr>
          <a:xfrm xmlns:a="http://schemas.openxmlformats.org/drawingml/2006/main">
            <a:off x="895350" y="35814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l">
              <a:defRPr sz="1050" b="1">
                <a:solidFill>
                  <a:srgbClr val="17334B"/>
                </a:solidFill>
                <a:latin typeface="Arial"/>
                <a:ea typeface="Arial"/>
                <a:cs typeface="Arial"/>
              </a:defRPr>
            </a:pPr>
            <a:r>
              <a:rPr sz="1050" b="1">
                <a:solidFill>
                  <a:srgbClr val="17334B"/>
                </a:solidFill>
                <a:latin typeface="Arial"/>
                <a:ea typeface="Arial"/>
                <a:cs typeface="Arial"/>
              </a:rPr>
              <a:t>EMAIL</a:t>
            </a:r>
          </a:p>
        </p:txBody>
      </p:sp>
      <p:sp>
        <p:nvSpPr>
          <p:cNvPr id="24" name="">
            <a:extLst xmlns:a="http://schemas.openxmlformats.org/drawingml/2006/main">
              <a:ext uri="{FF2B5EF4-FFF2-40B4-BE49-F238E27FC236}">
                <a16:creationId xmlns:a16="http://schemas.microsoft.com/office/drawing/2014/main" id="{3F420A72-206F-4960-86C8-4D2893EAD78B}"/>
              </a:ext>
            </a:extLst>
          </p:cNvPr>
          <p:cNvSpPr>
            <a:spLocks xmlns:a="http://schemas.openxmlformats.org/drawingml/2006/main" noGrp="1"/>
          </p:cNvSpPr>
          <p:nvPr/>
        </p:nvSpPr>
        <p:spPr>
          <a:xfrm xmlns:a="http://schemas.openxmlformats.org/drawingml/2006/main">
            <a:off x="2152650" y="3619500"/>
            <a:ext cx="1924050" cy="114300"/>
          </a:xfrm>
          <a:prstGeom xmlns:a="http://schemas.openxmlformats.org/drawingml/2006/main" prst="roundRect">
            <a:avLst>
              <a:gd name="adj" fmla="val 50000"/>
            </a:avLst>
          </a:prstGeom>
          <a:solidFill xmlns:a="http://schemas.openxmlformats.org/drawingml/2006/main">
            <a:srgbClr val="E8F0F5"/>
          </a:solidFill>
          <a:ln xmlns:a="http://schemas.openxmlformats.org/drawingml/2006/main" w="11430">
            <a:solidFill>
              <a:srgbClr val="E8F0F5"/>
            </a:solidFill>
            <a:prstDash val="solid"/>
          </a:ln>
        </p:spPr>
      </p:sp>
      <p:sp>
        <p:nvSpPr>
          <p:cNvPr id="25" name="">
            <a:extLst xmlns:a="http://schemas.openxmlformats.org/drawingml/2006/main">
              <a:ext uri="{FF2B5EF4-FFF2-40B4-BE49-F238E27FC236}">
                <a16:creationId xmlns:a16="http://schemas.microsoft.com/office/drawing/2014/main" id="{19B86CF9-58C4-46E8-9EA9-08B0353C6AB6}"/>
              </a:ext>
            </a:extLst>
          </p:cNvPr>
          <p:cNvSpPr>
            <a:spLocks xmlns:a="http://schemas.openxmlformats.org/drawingml/2006/main" noGrp="1"/>
          </p:cNvSpPr>
          <p:nvPr/>
        </p:nvSpPr>
        <p:spPr>
          <a:xfrm xmlns:a="http://schemas.openxmlformats.org/drawingml/2006/main">
            <a:off x="2152650" y="3619500"/>
            <a:ext cx="1066800" cy="114300"/>
          </a:xfrm>
          <a:prstGeom xmlns:a="http://schemas.openxmlformats.org/drawingml/2006/main" prst="roundRect">
            <a:avLst>
              <a:gd name="adj" fmla="val 50000"/>
            </a:avLst>
          </a:prstGeom>
          <a:solidFill xmlns:a="http://schemas.openxmlformats.org/drawingml/2006/main">
            <a:srgbClr val="187A83"/>
          </a:solidFill>
          <a:ln xmlns:a="http://schemas.openxmlformats.org/drawingml/2006/main" w="11430">
            <a:solidFill>
              <a:srgbClr val="187A83"/>
            </a:solidFill>
            <a:prstDash val="solid"/>
          </a:ln>
        </p:spPr>
      </p:sp>
      <p:sp>
        <p:nvSpPr>
          <p:cNvPr id="26" name="">
            <a:extLst xmlns:a="http://schemas.openxmlformats.org/drawingml/2006/main">
              <a:ext uri="{FF2B5EF4-FFF2-40B4-BE49-F238E27FC236}">
                <a16:creationId xmlns:a16="http://schemas.microsoft.com/office/drawing/2014/main" id="{3BEEA48E-72B7-47A0-8429-978D1C22FD02}"/>
              </a:ext>
            </a:extLst>
          </p:cNvPr>
          <p:cNvSpPr>
            <a:spLocks xmlns:a="http://schemas.openxmlformats.org/drawingml/2006/main" noGrp="1"/>
          </p:cNvSpPr>
          <p:nvPr/>
        </p:nvSpPr>
        <p:spPr>
          <a:xfrm xmlns:a="http://schemas.openxmlformats.org/drawingml/2006/main">
            <a:off x="4171950" y="358140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p xmlns:a="http://schemas.openxmlformats.org/drawingml/2006/main">
            <a:pPr algn="l">
              <a:defRPr sz="900" b="0">
                <a:solidFill>
                  <a:srgbClr val="536D81"/>
                </a:solidFill>
                <a:latin typeface="Arial"/>
                <a:ea typeface="Arial"/>
                <a:cs typeface="Arial"/>
              </a:defRPr>
            </a:pPr>
            <a:r>
              <a:rPr sz="900" b="0">
                <a:solidFill>
                  <a:srgbClr val="536D81"/>
                </a:solidFill>
                <a:latin typeface="Arial"/>
                <a:ea typeface="Arial"/>
                <a:cs typeface="Arial"/>
              </a:rPr>
              <a:t>count</a:t>
            </a:r>
          </a:p>
        </p:txBody>
      </p:sp>
      <p:sp>
        <p:nvSpPr>
          <p:cNvPr id="27" name="">
            <a:extLst xmlns:a="http://schemas.openxmlformats.org/drawingml/2006/main">
              <a:ext uri="{FF2B5EF4-FFF2-40B4-BE49-F238E27FC236}">
                <a16:creationId xmlns:a16="http://schemas.microsoft.com/office/drawing/2014/main" id="{ED14A10B-05E0-4CDD-BD68-4CEB66DE1660}"/>
              </a:ext>
            </a:extLst>
          </p:cNvPr>
          <p:cNvSpPr>
            <a:spLocks xmlns:a="http://schemas.openxmlformats.org/drawingml/2006/main" noGrp="1"/>
          </p:cNvSpPr>
          <p:nvPr/>
        </p:nvSpPr>
        <p:spPr>
          <a:xfrm xmlns:a="http://schemas.openxmlformats.org/drawingml/2006/main">
            <a:off x="895350" y="39433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l">
              <a:defRPr sz="1050" b="1">
                <a:solidFill>
                  <a:srgbClr val="17334B"/>
                </a:solidFill>
                <a:latin typeface="Arial"/>
                <a:ea typeface="Arial"/>
                <a:cs typeface="Arial"/>
              </a:defRPr>
            </a:pPr>
            <a:r>
              <a:rPr sz="1050" b="1">
                <a:solidFill>
                  <a:srgbClr val="17334B"/>
                </a:solidFill>
                <a:latin typeface="Arial"/>
                <a:ea typeface="Arial"/>
                <a:cs typeface="Arial"/>
              </a:rPr>
              <a:t>PHONE</a:t>
            </a:r>
          </a:p>
        </p:txBody>
      </p:sp>
      <p:sp>
        <p:nvSpPr>
          <p:cNvPr id="28" name="">
            <a:extLst xmlns:a="http://schemas.openxmlformats.org/drawingml/2006/main">
              <a:ext uri="{FF2B5EF4-FFF2-40B4-BE49-F238E27FC236}">
                <a16:creationId xmlns:a16="http://schemas.microsoft.com/office/drawing/2014/main" id="{94340831-5EF1-4272-91B5-E57CD3B05001}"/>
              </a:ext>
            </a:extLst>
          </p:cNvPr>
          <p:cNvSpPr>
            <a:spLocks xmlns:a="http://schemas.openxmlformats.org/drawingml/2006/main" noGrp="1"/>
          </p:cNvSpPr>
          <p:nvPr/>
        </p:nvSpPr>
        <p:spPr>
          <a:xfrm xmlns:a="http://schemas.openxmlformats.org/drawingml/2006/main">
            <a:off x="2152650" y="3981450"/>
            <a:ext cx="1924050" cy="114300"/>
          </a:xfrm>
          <a:prstGeom xmlns:a="http://schemas.openxmlformats.org/drawingml/2006/main" prst="roundRect">
            <a:avLst>
              <a:gd name="adj" fmla="val 50000"/>
            </a:avLst>
          </a:prstGeom>
          <a:solidFill xmlns:a="http://schemas.openxmlformats.org/drawingml/2006/main">
            <a:srgbClr val="E8F0F5"/>
          </a:solidFill>
          <a:ln xmlns:a="http://schemas.openxmlformats.org/drawingml/2006/main" w="11430">
            <a:solidFill>
              <a:srgbClr val="E8F0F5"/>
            </a:solidFill>
            <a:prstDash val="solid"/>
          </a:ln>
        </p:spPr>
      </p:sp>
      <p:sp>
        <p:nvSpPr>
          <p:cNvPr id="29" name="">
            <a:extLst xmlns:a="http://schemas.openxmlformats.org/drawingml/2006/main">
              <a:ext uri="{FF2B5EF4-FFF2-40B4-BE49-F238E27FC236}">
                <a16:creationId xmlns:a16="http://schemas.microsoft.com/office/drawing/2014/main" id="{B3D83092-8BEC-41C0-978C-3D82422436D0}"/>
              </a:ext>
            </a:extLst>
          </p:cNvPr>
          <p:cNvSpPr>
            <a:spLocks xmlns:a="http://schemas.openxmlformats.org/drawingml/2006/main" noGrp="1"/>
          </p:cNvSpPr>
          <p:nvPr/>
        </p:nvSpPr>
        <p:spPr>
          <a:xfrm xmlns:a="http://schemas.openxmlformats.org/drawingml/2006/main">
            <a:off x="2152650" y="3981450"/>
            <a:ext cx="1066800" cy="114300"/>
          </a:xfrm>
          <a:prstGeom xmlns:a="http://schemas.openxmlformats.org/drawingml/2006/main" prst="roundRect">
            <a:avLst>
              <a:gd name="adj" fmla="val 50000"/>
            </a:avLst>
          </a:prstGeom>
          <a:solidFill xmlns:a="http://schemas.openxmlformats.org/drawingml/2006/main">
            <a:srgbClr val="187A83"/>
          </a:solidFill>
          <a:ln xmlns:a="http://schemas.openxmlformats.org/drawingml/2006/main" w="11430">
            <a:solidFill>
              <a:srgbClr val="187A83"/>
            </a:solidFill>
            <a:prstDash val="solid"/>
          </a:ln>
        </p:spPr>
      </p:sp>
      <p:sp>
        <p:nvSpPr>
          <p:cNvPr id="30" name="">
            <a:extLst xmlns:a="http://schemas.openxmlformats.org/drawingml/2006/main">
              <a:ext uri="{FF2B5EF4-FFF2-40B4-BE49-F238E27FC236}">
                <a16:creationId xmlns:a16="http://schemas.microsoft.com/office/drawing/2014/main" id="{18E6FC5E-A99D-4823-973B-7036B93CD389}"/>
              </a:ext>
            </a:extLst>
          </p:cNvPr>
          <p:cNvSpPr>
            <a:spLocks xmlns:a="http://schemas.openxmlformats.org/drawingml/2006/main" noGrp="1"/>
          </p:cNvSpPr>
          <p:nvPr/>
        </p:nvSpPr>
        <p:spPr>
          <a:xfrm xmlns:a="http://schemas.openxmlformats.org/drawingml/2006/main">
            <a:off x="4171950" y="394335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p xmlns:a="http://schemas.openxmlformats.org/drawingml/2006/main">
            <a:pPr algn="l">
              <a:defRPr sz="900" b="0">
                <a:solidFill>
                  <a:srgbClr val="536D81"/>
                </a:solidFill>
                <a:latin typeface="Arial"/>
                <a:ea typeface="Arial"/>
                <a:cs typeface="Arial"/>
              </a:defRPr>
            </a:pPr>
            <a:r>
              <a:rPr sz="900" b="0">
                <a:solidFill>
                  <a:srgbClr val="536D81"/>
                </a:solidFill>
                <a:latin typeface="Arial"/>
                <a:ea typeface="Arial"/>
                <a:cs typeface="Arial"/>
              </a:rPr>
              <a:t>count</a:t>
            </a:r>
          </a:p>
        </p:txBody>
      </p:sp>
      <p:sp>
        <p:nvSpPr>
          <p:cNvPr id="31" name="">
            <a:extLst xmlns:a="http://schemas.openxmlformats.org/drawingml/2006/main">
              <a:ext uri="{FF2B5EF4-FFF2-40B4-BE49-F238E27FC236}">
                <a16:creationId xmlns:a16="http://schemas.microsoft.com/office/drawing/2014/main" id="{586BA6A6-BF2F-4B83-B379-EE9AB06F8777}"/>
              </a:ext>
            </a:extLst>
          </p:cNvPr>
          <p:cNvSpPr>
            <a:spLocks xmlns:a="http://schemas.openxmlformats.org/drawingml/2006/main" noGrp="1"/>
          </p:cNvSpPr>
          <p:nvPr/>
        </p:nvSpPr>
        <p:spPr>
          <a:xfrm xmlns:a="http://schemas.openxmlformats.org/drawingml/2006/main">
            <a:off x="895350" y="43053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l">
              <a:defRPr sz="1050" b="1">
                <a:solidFill>
                  <a:srgbClr val="17334B"/>
                </a:solidFill>
                <a:latin typeface="Arial"/>
                <a:ea typeface="Arial"/>
                <a:cs typeface="Arial"/>
              </a:defRPr>
            </a:pPr>
            <a:r>
              <a:rPr sz="1050" b="1">
                <a:solidFill>
                  <a:srgbClr val="17334B"/>
                </a:solidFill>
                <a:latin typeface="Arial"/>
                <a:ea typeface="Arial"/>
                <a:cs typeface="Arial"/>
              </a:rPr>
              <a:t>PERSON_NAME</a:t>
            </a:r>
          </a:p>
        </p:txBody>
      </p:sp>
      <p:sp>
        <p:nvSpPr>
          <p:cNvPr id="32" name="">
            <a:extLst xmlns:a="http://schemas.openxmlformats.org/drawingml/2006/main">
              <a:ext uri="{FF2B5EF4-FFF2-40B4-BE49-F238E27FC236}">
                <a16:creationId xmlns:a16="http://schemas.microsoft.com/office/drawing/2014/main" id="{D7515343-A43B-426A-9158-5636CFE48AD4}"/>
              </a:ext>
            </a:extLst>
          </p:cNvPr>
          <p:cNvSpPr>
            <a:spLocks xmlns:a="http://schemas.openxmlformats.org/drawingml/2006/main" noGrp="1"/>
          </p:cNvSpPr>
          <p:nvPr/>
        </p:nvSpPr>
        <p:spPr>
          <a:xfrm xmlns:a="http://schemas.openxmlformats.org/drawingml/2006/main">
            <a:off x="2152650" y="4343400"/>
            <a:ext cx="1924050" cy="114300"/>
          </a:xfrm>
          <a:prstGeom xmlns:a="http://schemas.openxmlformats.org/drawingml/2006/main" prst="roundRect">
            <a:avLst>
              <a:gd name="adj" fmla="val 50000"/>
            </a:avLst>
          </a:prstGeom>
          <a:solidFill xmlns:a="http://schemas.openxmlformats.org/drawingml/2006/main">
            <a:srgbClr val="E8F0F5"/>
          </a:solidFill>
          <a:ln xmlns:a="http://schemas.openxmlformats.org/drawingml/2006/main" w="11430">
            <a:solidFill>
              <a:srgbClr val="E8F0F5"/>
            </a:solidFill>
            <a:prstDash val="solid"/>
          </a:ln>
        </p:spPr>
      </p:sp>
      <p:sp>
        <p:nvSpPr>
          <p:cNvPr id="33" name="">
            <a:extLst xmlns:a="http://schemas.openxmlformats.org/drawingml/2006/main">
              <a:ext uri="{FF2B5EF4-FFF2-40B4-BE49-F238E27FC236}">
                <a16:creationId xmlns:a16="http://schemas.microsoft.com/office/drawing/2014/main" id="{8E96D5CB-3B1B-4A8D-B13B-8B61BD08E85A}"/>
              </a:ext>
            </a:extLst>
          </p:cNvPr>
          <p:cNvSpPr>
            <a:spLocks xmlns:a="http://schemas.openxmlformats.org/drawingml/2006/main" noGrp="1"/>
          </p:cNvSpPr>
          <p:nvPr/>
        </p:nvSpPr>
        <p:spPr>
          <a:xfrm xmlns:a="http://schemas.openxmlformats.org/drawingml/2006/main">
            <a:off x="2152650" y="4343400"/>
            <a:ext cx="1066800" cy="114300"/>
          </a:xfrm>
          <a:prstGeom xmlns:a="http://schemas.openxmlformats.org/drawingml/2006/main" prst="roundRect">
            <a:avLst>
              <a:gd name="adj" fmla="val 50000"/>
            </a:avLst>
          </a:prstGeom>
          <a:solidFill xmlns:a="http://schemas.openxmlformats.org/drawingml/2006/main">
            <a:srgbClr val="187A83"/>
          </a:solidFill>
          <a:ln xmlns:a="http://schemas.openxmlformats.org/drawingml/2006/main" w="11430">
            <a:solidFill>
              <a:srgbClr val="187A83"/>
            </a:solidFill>
            <a:prstDash val="solid"/>
          </a:ln>
        </p:spPr>
      </p:sp>
      <p:sp>
        <p:nvSpPr>
          <p:cNvPr id="34" name="">
            <a:extLst xmlns:a="http://schemas.openxmlformats.org/drawingml/2006/main">
              <a:ext uri="{FF2B5EF4-FFF2-40B4-BE49-F238E27FC236}">
                <a16:creationId xmlns:a16="http://schemas.microsoft.com/office/drawing/2014/main" id="{542767AF-C15E-4B20-851D-C0BE600FB6D3}"/>
              </a:ext>
            </a:extLst>
          </p:cNvPr>
          <p:cNvSpPr>
            <a:spLocks xmlns:a="http://schemas.openxmlformats.org/drawingml/2006/main" noGrp="1"/>
          </p:cNvSpPr>
          <p:nvPr/>
        </p:nvSpPr>
        <p:spPr>
          <a:xfrm xmlns:a="http://schemas.openxmlformats.org/drawingml/2006/main">
            <a:off x="4171950" y="430530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p xmlns:a="http://schemas.openxmlformats.org/drawingml/2006/main">
            <a:pPr algn="l">
              <a:defRPr sz="900" b="0">
                <a:solidFill>
                  <a:srgbClr val="536D81"/>
                </a:solidFill>
                <a:latin typeface="Arial"/>
                <a:ea typeface="Arial"/>
                <a:cs typeface="Arial"/>
              </a:defRPr>
            </a:pPr>
            <a:r>
              <a:rPr sz="900" b="0">
                <a:solidFill>
                  <a:srgbClr val="536D81"/>
                </a:solidFill>
                <a:latin typeface="Arial"/>
                <a:ea typeface="Arial"/>
                <a:cs typeface="Arial"/>
              </a:rPr>
              <a:t>count</a:t>
            </a:r>
          </a:p>
        </p:txBody>
      </p:sp>
      <p:sp>
        <p:nvSpPr>
          <p:cNvPr id="35" name="">
            <a:extLst xmlns:a="http://schemas.openxmlformats.org/drawingml/2006/main">
              <a:ext uri="{FF2B5EF4-FFF2-40B4-BE49-F238E27FC236}">
                <a16:creationId xmlns:a16="http://schemas.microsoft.com/office/drawing/2014/main" id="{5241A371-7F55-40FB-9310-BCF1ACC001C6}"/>
              </a:ext>
            </a:extLst>
          </p:cNvPr>
          <p:cNvSpPr>
            <a:spLocks xmlns:a="http://schemas.openxmlformats.org/drawingml/2006/main" noGrp="1"/>
          </p:cNvSpPr>
          <p:nvPr/>
        </p:nvSpPr>
        <p:spPr>
          <a:xfrm xmlns:a="http://schemas.openxmlformats.org/drawingml/2006/main">
            <a:off x="895350" y="46672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l">
              <a:defRPr sz="1050" b="1">
                <a:solidFill>
                  <a:srgbClr val="17334B"/>
                </a:solidFill>
                <a:latin typeface="Arial"/>
                <a:ea typeface="Arial"/>
                <a:cs typeface="Arial"/>
              </a:defRPr>
            </a:pPr>
            <a:r>
              <a:rPr sz="1050" b="1">
                <a:solidFill>
                  <a:srgbClr val="17334B"/>
                </a:solidFill>
                <a:latin typeface="Arial"/>
                <a:ea typeface="Arial"/>
                <a:cs typeface="Arial"/>
              </a:rPr>
              <a:t>ADDRESS</a:t>
            </a:r>
          </a:p>
        </p:txBody>
      </p:sp>
      <p:sp>
        <p:nvSpPr>
          <p:cNvPr id="36" name="">
            <a:extLst xmlns:a="http://schemas.openxmlformats.org/drawingml/2006/main">
              <a:ext uri="{FF2B5EF4-FFF2-40B4-BE49-F238E27FC236}">
                <a16:creationId xmlns:a16="http://schemas.microsoft.com/office/drawing/2014/main" id="{51C432ED-C0AD-492E-BBBF-2869003ECD60}"/>
              </a:ext>
            </a:extLst>
          </p:cNvPr>
          <p:cNvSpPr>
            <a:spLocks xmlns:a="http://schemas.openxmlformats.org/drawingml/2006/main" noGrp="1"/>
          </p:cNvSpPr>
          <p:nvPr/>
        </p:nvSpPr>
        <p:spPr>
          <a:xfrm xmlns:a="http://schemas.openxmlformats.org/drawingml/2006/main">
            <a:off x="2152650" y="4705350"/>
            <a:ext cx="1924050" cy="114300"/>
          </a:xfrm>
          <a:prstGeom xmlns:a="http://schemas.openxmlformats.org/drawingml/2006/main" prst="roundRect">
            <a:avLst>
              <a:gd name="adj" fmla="val 50000"/>
            </a:avLst>
          </a:prstGeom>
          <a:solidFill xmlns:a="http://schemas.openxmlformats.org/drawingml/2006/main">
            <a:srgbClr val="E8F0F5"/>
          </a:solidFill>
          <a:ln xmlns:a="http://schemas.openxmlformats.org/drawingml/2006/main" w="11430">
            <a:solidFill>
              <a:srgbClr val="E8F0F5"/>
            </a:solidFill>
            <a:prstDash val="solid"/>
          </a:ln>
        </p:spPr>
      </p:sp>
      <p:sp>
        <p:nvSpPr>
          <p:cNvPr id="37" name="">
            <a:extLst xmlns:a="http://schemas.openxmlformats.org/drawingml/2006/main">
              <a:ext uri="{FF2B5EF4-FFF2-40B4-BE49-F238E27FC236}">
                <a16:creationId xmlns:a16="http://schemas.microsoft.com/office/drawing/2014/main" id="{250938F4-9BB9-458C-944A-9BDC3EFBBC21}"/>
              </a:ext>
            </a:extLst>
          </p:cNvPr>
          <p:cNvSpPr>
            <a:spLocks xmlns:a="http://schemas.openxmlformats.org/drawingml/2006/main" noGrp="1"/>
          </p:cNvSpPr>
          <p:nvPr/>
        </p:nvSpPr>
        <p:spPr>
          <a:xfrm xmlns:a="http://schemas.openxmlformats.org/drawingml/2006/main">
            <a:off x="2152650" y="4705350"/>
            <a:ext cx="1066800" cy="114300"/>
          </a:xfrm>
          <a:prstGeom xmlns:a="http://schemas.openxmlformats.org/drawingml/2006/main" prst="roundRect">
            <a:avLst>
              <a:gd name="adj" fmla="val 50000"/>
            </a:avLst>
          </a:prstGeom>
          <a:solidFill xmlns:a="http://schemas.openxmlformats.org/drawingml/2006/main">
            <a:srgbClr val="187A83"/>
          </a:solidFill>
          <a:ln xmlns:a="http://schemas.openxmlformats.org/drawingml/2006/main" w="11430">
            <a:solidFill>
              <a:srgbClr val="187A83"/>
            </a:solidFill>
            <a:prstDash val="solid"/>
          </a:ln>
        </p:spPr>
      </p:sp>
      <p:sp>
        <p:nvSpPr>
          <p:cNvPr id="38" name="">
            <a:extLst xmlns:a="http://schemas.openxmlformats.org/drawingml/2006/main">
              <a:ext uri="{FF2B5EF4-FFF2-40B4-BE49-F238E27FC236}">
                <a16:creationId xmlns:a16="http://schemas.microsoft.com/office/drawing/2014/main" id="{648CC875-228A-4FD7-B767-A5D68B823F05}"/>
              </a:ext>
            </a:extLst>
          </p:cNvPr>
          <p:cNvSpPr>
            <a:spLocks xmlns:a="http://schemas.openxmlformats.org/drawingml/2006/main" noGrp="1"/>
          </p:cNvSpPr>
          <p:nvPr/>
        </p:nvSpPr>
        <p:spPr>
          <a:xfrm xmlns:a="http://schemas.openxmlformats.org/drawingml/2006/main">
            <a:off x="4171950" y="466725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p xmlns:a="http://schemas.openxmlformats.org/drawingml/2006/main">
            <a:pPr algn="l">
              <a:defRPr sz="900" b="0">
                <a:solidFill>
                  <a:srgbClr val="536D81"/>
                </a:solidFill>
                <a:latin typeface="Arial"/>
                <a:ea typeface="Arial"/>
                <a:cs typeface="Arial"/>
              </a:defRPr>
            </a:pPr>
            <a:r>
              <a:rPr sz="900" b="0">
                <a:solidFill>
                  <a:srgbClr val="536D81"/>
                </a:solidFill>
                <a:latin typeface="Arial"/>
                <a:ea typeface="Arial"/>
                <a:cs typeface="Arial"/>
              </a:rPr>
              <a:t>count</a:t>
            </a:r>
          </a:p>
        </p:txBody>
      </p:sp>
      <p:sp>
        <p:nvSpPr>
          <p:cNvPr id="39" name="">
            <a:extLst xmlns:a="http://schemas.openxmlformats.org/drawingml/2006/main">
              <a:ext uri="{FF2B5EF4-FFF2-40B4-BE49-F238E27FC236}">
                <a16:creationId xmlns:a16="http://schemas.microsoft.com/office/drawing/2014/main" id="{9DBFCDE6-B8BE-482A-86F2-AD0833DAA6C1}"/>
              </a:ext>
            </a:extLst>
          </p:cNvPr>
          <p:cNvSpPr>
            <a:spLocks xmlns:a="http://schemas.openxmlformats.org/drawingml/2006/main" noGrp="1"/>
          </p:cNvSpPr>
          <p:nvPr/>
        </p:nvSpPr>
        <p:spPr>
          <a:xfrm xmlns:a="http://schemas.openxmlformats.org/drawingml/2006/main">
            <a:off x="895350" y="50292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l">
              <a:defRPr sz="1050" b="1">
                <a:solidFill>
                  <a:srgbClr val="17334B"/>
                </a:solidFill>
                <a:latin typeface="Arial"/>
                <a:ea typeface="Arial"/>
                <a:cs typeface="Arial"/>
              </a:defRPr>
            </a:pPr>
            <a:r>
              <a:rPr sz="1050" b="1">
                <a:solidFill>
                  <a:srgbClr val="17334B"/>
                </a:solidFill>
                <a:latin typeface="Arial"/>
                <a:ea typeface="Arial"/>
                <a:cs typeface="Arial"/>
              </a:rPr>
              <a:t>OTHER PII</a:t>
            </a:r>
          </a:p>
        </p:txBody>
      </p:sp>
      <p:sp>
        <p:nvSpPr>
          <p:cNvPr id="40" name="">
            <a:extLst xmlns:a="http://schemas.openxmlformats.org/drawingml/2006/main">
              <a:ext uri="{FF2B5EF4-FFF2-40B4-BE49-F238E27FC236}">
                <a16:creationId xmlns:a16="http://schemas.microsoft.com/office/drawing/2014/main" id="{DE4A9D23-6F4F-44B8-B2BD-E8AD60CAF7CB}"/>
              </a:ext>
            </a:extLst>
          </p:cNvPr>
          <p:cNvSpPr>
            <a:spLocks xmlns:a="http://schemas.openxmlformats.org/drawingml/2006/main" noGrp="1"/>
          </p:cNvSpPr>
          <p:nvPr/>
        </p:nvSpPr>
        <p:spPr>
          <a:xfrm xmlns:a="http://schemas.openxmlformats.org/drawingml/2006/main">
            <a:off x="2152650" y="5067300"/>
            <a:ext cx="1924050" cy="114300"/>
          </a:xfrm>
          <a:prstGeom xmlns:a="http://schemas.openxmlformats.org/drawingml/2006/main" prst="roundRect">
            <a:avLst>
              <a:gd name="adj" fmla="val 50000"/>
            </a:avLst>
          </a:prstGeom>
          <a:solidFill xmlns:a="http://schemas.openxmlformats.org/drawingml/2006/main">
            <a:srgbClr val="E8F0F5"/>
          </a:solidFill>
          <a:ln xmlns:a="http://schemas.openxmlformats.org/drawingml/2006/main" w="11430">
            <a:solidFill>
              <a:srgbClr val="E8F0F5"/>
            </a:solidFill>
            <a:prstDash val="solid"/>
          </a:ln>
        </p:spPr>
      </p:sp>
      <p:sp>
        <p:nvSpPr>
          <p:cNvPr id="41" name="">
            <a:extLst xmlns:a="http://schemas.openxmlformats.org/drawingml/2006/main">
              <a:ext uri="{FF2B5EF4-FFF2-40B4-BE49-F238E27FC236}">
                <a16:creationId xmlns:a16="http://schemas.microsoft.com/office/drawing/2014/main" id="{38867669-500A-4178-B9FA-25C2C4C15BCF}"/>
              </a:ext>
            </a:extLst>
          </p:cNvPr>
          <p:cNvSpPr>
            <a:spLocks xmlns:a="http://schemas.openxmlformats.org/drawingml/2006/main" noGrp="1"/>
          </p:cNvSpPr>
          <p:nvPr/>
        </p:nvSpPr>
        <p:spPr>
          <a:xfrm xmlns:a="http://schemas.openxmlformats.org/drawingml/2006/main">
            <a:off x="2152650" y="5067300"/>
            <a:ext cx="1066800" cy="114300"/>
          </a:xfrm>
          <a:prstGeom xmlns:a="http://schemas.openxmlformats.org/drawingml/2006/main" prst="roundRect">
            <a:avLst>
              <a:gd name="adj" fmla="val 50000"/>
            </a:avLst>
          </a:prstGeom>
          <a:solidFill xmlns:a="http://schemas.openxmlformats.org/drawingml/2006/main">
            <a:srgbClr val="187A83"/>
          </a:solidFill>
          <a:ln xmlns:a="http://schemas.openxmlformats.org/drawingml/2006/main" w="11430">
            <a:solidFill>
              <a:srgbClr val="187A83"/>
            </a:solidFill>
            <a:prstDash val="solid"/>
          </a:ln>
        </p:spPr>
      </p:sp>
      <p:sp>
        <p:nvSpPr>
          <p:cNvPr id="42" name="">
            <a:extLst xmlns:a="http://schemas.openxmlformats.org/drawingml/2006/main">
              <a:ext uri="{FF2B5EF4-FFF2-40B4-BE49-F238E27FC236}">
                <a16:creationId xmlns:a16="http://schemas.microsoft.com/office/drawing/2014/main" id="{777B855B-6F42-4D99-AD69-89491243C51B}"/>
              </a:ext>
            </a:extLst>
          </p:cNvPr>
          <p:cNvSpPr>
            <a:spLocks xmlns:a="http://schemas.openxmlformats.org/drawingml/2006/main" noGrp="1"/>
          </p:cNvSpPr>
          <p:nvPr/>
        </p:nvSpPr>
        <p:spPr>
          <a:xfrm xmlns:a="http://schemas.openxmlformats.org/drawingml/2006/main">
            <a:off x="4171950" y="502920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p xmlns:a="http://schemas.openxmlformats.org/drawingml/2006/main">
            <a:pPr algn="l">
              <a:defRPr sz="900" b="0">
                <a:solidFill>
                  <a:srgbClr val="536D81"/>
                </a:solidFill>
                <a:latin typeface="Arial"/>
                <a:ea typeface="Arial"/>
                <a:cs typeface="Arial"/>
              </a:defRPr>
            </a:pPr>
            <a:r>
              <a:rPr sz="900" b="0">
                <a:solidFill>
                  <a:srgbClr val="536D81"/>
                </a:solidFill>
                <a:latin typeface="Arial"/>
                <a:ea typeface="Arial"/>
                <a:cs typeface="Arial"/>
              </a:rPr>
              <a:t>count</a:t>
            </a:r>
          </a:p>
        </p:txBody>
      </p:sp>
      <p:sp>
        <p:nvSpPr>
          <p:cNvPr id="43" name="">
            <a:extLst xmlns:a="http://schemas.openxmlformats.org/drawingml/2006/main">
              <a:ext uri="{FF2B5EF4-FFF2-40B4-BE49-F238E27FC236}">
                <a16:creationId xmlns:a16="http://schemas.microsoft.com/office/drawing/2014/main" id="{AD2A03C7-2ED1-4EF4-9814-A124ED40E64E}"/>
              </a:ext>
            </a:extLst>
          </p:cNvPr>
          <p:cNvSpPr>
            <a:spLocks xmlns:a="http://schemas.openxmlformats.org/drawingml/2006/main" noGrp="1"/>
          </p:cNvSpPr>
          <p:nvPr/>
        </p:nvSpPr>
        <p:spPr>
          <a:xfrm xmlns:a="http://schemas.openxmlformats.org/drawingml/2006/main">
            <a:off x="4991100" y="2962275"/>
            <a:ext cx="6515100" cy="2647950"/>
          </a:xfrm>
          <a:prstGeom xmlns:a="http://schemas.openxmlformats.org/drawingml/2006/main" prst="roundRect">
            <a:avLst>
              <a:gd name="adj" fmla="val 4317"/>
            </a:avLst>
          </a:prstGeom>
          <a:solidFill xmlns:a="http://schemas.openxmlformats.org/drawingml/2006/main">
            <a:srgbClr val="FFFFFF"/>
          </a:solidFill>
          <a:ln xmlns:a="http://schemas.openxmlformats.org/drawingml/2006/main" w="11430">
            <a:solidFill>
              <a:srgbClr val="D5E0E7"/>
            </a:solidFill>
            <a:prstDash val="solid"/>
          </a:ln>
        </p:spPr>
      </p:sp>
      <p:sp>
        <p:nvSpPr>
          <p:cNvPr id="44" name="">
            <a:extLst xmlns:a="http://schemas.openxmlformats.org/drawingml/2006/main">
              <a:ext uri="{FF2B5EF4-FFF2-40B4-BE49-F238E27FC236}">
                <a16:creationId xmlns:a16="http://schemas.microsoft.com/office/drawing/2014/main" id="{86E76DC3-4E47-493C-B759-0DC96D8B7955}"/>
              </a:ext>
            </a:extLst>
          </p:cNvPr>
          <p:cNvSpPr>
            <a:spLocks xmlns:a="http://schemas.openxmlformats.org/drawingml/2006/main" noGrp="1"/>
          </p:cNvSpPr>
          <p:nvPr/>
        </p:nvSpPr>
        <p:spPr>
          <a:xfrm xmlns:a="http://schemas.openxmlformats.org/drawingml/2006/main">
            <a:off x="5181600" y="31051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102C49"/>
                </a:solidFill>
                <a:latin typeface="Arial"/>
                <a:ea typeface="Arial"/>
                <a:cs typeface="Arial"/>
              </a:defRPr>
            </a:pPr>
            <a:r>
              <a:rPr sz="1500" b="1">
                <a:solidFill>
                  <a:srgbClr val="102C49"/>
                </a:solidFill>
                <a:latin typeface="Arial"/>
                <a:ea typeface="Arial"/>
                <a:cs typeface="Arial"/>
              </a:rPr>
              <a:t>File review queue</a:t>
            </a:r>
          </a:p>
        </p:txBody>
      </p:sp>
      <p:graphicFrame>
        <p:nvGraphicFramePr>
          <p:cNvPr id="94" name=""/>
          <p:cNvGraphicFramePr/>
          <p:nvPr/>
        </p:nvGraphicFramePr>
        <p:xfrm>
          <a:off xmlns:a="http://schemas.openxmlformats.org/drawingml/2006/main" x="5181600" y="3495675"/>
          <a:ext xmlns:a="http://schemas.openxmlformats.org/drawingml/2006/main" cx="6134100" cy="1562100"/>
        </p:xfrm>
        <a:graphic xmlns:a="http://schemas.openxmlformats.org/drawingml/2006/main">
          <a:graphicData uri="http://schemas.openxmlformats.org/drawingml/2006/table">
            <a:tbl>
              <a:tblPr firstRow="1" bandRow="1"/>
              <a:tblGrid>
                <a:gridCol w="2095500"/>
                <a:gridCol w="1047750"/>
                <a:gridCol w="1143000"/>
                <a:gridCol w="1847850"/>
              </a:tblGrid>
              <a:tr h="419100">
                <a:tc>
                  <a:txBody>
                    <a:bodyPr/>
                    <a:lstStyle/>
                    <a:p>
                      <a:r>
                        <a:rPr sz="1125" b="1">
                          <a:solidFill>
                            <a:srgbClr val="FFFFFF"/>
                          </a:solidFill>
                          <a:latin typeface="Arial"/>
                          <a:ea typeface="Arial"/>
                          <a:cs typeface="Arial"/>
                        </a:rPr>
                        <a:t>EVIDENCE</a:t>
                      </a:r>
                    </a:p>
                  </a:txBody>
                  <a:tcPr marL="76200" marR="57150" marT="57150" marB="57150">
                    <a:solidFill>
                      <a:srgbClr val="102C49"/>
                    </a:solidFill>
                  </a:tcPr>
                </a:tc>
                <a:tc>
                  <a:txBody>
                    <a:bodyPr/>
                    <a:lstStyle/>
                    <a:p>
                      <a:r>
                        <a:rPr sz="1125" b="1">
                          <a:solidFill>
                            <a:srgbClr val="FFFFFF"/>
                          </a:solidFill>
                          <a:latin typeface="Arial"/>
                          <a:ea typeface="Arial"/>
                          <a:cs typeface="Arial"/>
                        </a:rPr>
                        <a:t>FORMAT</a:t>
                      </a:r>
                    </a:p>
                  </a:txBody>
                  <a:tcPr marL="76200" marR="57150" marT="57150" marB="57150">
                    <a:solidFill>
                      <a:srgbClr val="102C49"/>
                    </a:solidFill>
                  </a:tcPr>
                </a:tc>
                <a:tc>
                  <a:txBody>
                    <a:bodyPr/>
                    <a:lstStyle/>
                    <a:p>
                      <a:r>
                        <a:rPr sz="1125" b="1">
                          <a:solidFill>
                            <a:srgbClr val="FFFFFF"/>
                          </a:solidFill>
                          <a:latin typeface="Arial"/>
                          <a:ea typeface="Arial"/>
                          <a:cs typeface="Arial"/>
                        </a:rPr>
                        <a:t>PII SPANS</a:t>
                      </a:r>
                    </a:p>
                  </a:txBody>
                  <a:tcPr marL="76200" marR="57150" marT="57150" marB="57150">
                    <a:solidFill>
                      <a:srgbClr val="102C49"/>
                    </a:solidFill>
                  </a:tcPr>
                </a:tc>
                <a:tc>
                  <a:txBody>
                    <a:bodyPr/>
                    <a:lstStyle/>
                    <a:p>
                      <a:r>
                        <a:rPr sz="1125" b="1">
                          <a:solidFill>
                            <a:srgbClr val="FFFFFF"/>
                          </a:solidFill>
                          <a:latin typeface="Arial"/>
                          <a:ea typeface="Arial"/>
                          <a:cs typeface="Arial"/>
                        </a:rPr>
                        <a:t>STATUS</a:t>
                      </a:r>
                    </a:p>
                  </a:txBody>
                  <a:tcPr marL="76200" marR="57150" marT="57150" marB="57150">
                    <a:solidFill>
                      <a:srgbClr val="102C49"/>
                    </a:solidFill>
                  </a:tcPr>
                </a:tc>
              </a:tr>
              <a:tr h="0">
                <a:tc>
                  <a:txBody>
                    <a:bodyPr/>
                    <a:lstStyle/>
                    <a:p>
                      <a:r>
                        <a:rPr sz="975">
                          <a:solidFill>
                            <a:srgbClr val="17334B"/>
                          </a:solidFill>
                          <a:latin typeface="Arial"/>
                          <a:ea typeface="Arial"/>
                          <a:cs typeface="Arial"/>
                        </a:rPr>
                        <a:t>Evidence 01</a:t>
                      </a:r>
                    </a:p>
                  </a:txBody>
                  <a:tcPr marL="76200" marR="57150" marT="57150" marB="57150"/>
                </a:tc>
                <a:tc>
                  <a:txBody>
                    <a:bodyPr/>
                    <a:lstStyle/>
                    <a:p>
                      <a:r>
                        <a:rPr sz="975">
                          <a:solidFill>
                            <a:srgbClr val="17334B"/>
                          </a:solidFill>
                          <a:latin typeface="Arial"/>
                          <a:ea typeface="Arial"/>
                          <a:cs typeface="Arial"/>
                        </a:rPr>
                        <a:t>PDF</a:t>
                      </a:r>
                    </a:p>
                  </a:txBody>
                  <a:tcPr marL="76200" marR="57150" marT="57150" marB="57150"/>
                </a:tc>
                <a:tc>
                  <a:txBody>
                    <a:bodyPr/>
                    <a:lstStyle/>
                    <a:p>
                      <a:r>
                        <a:rPr sz="975">
                          <a:solidFill>
                            <a:srgbClr val="17334B"/>
                          </a:solidFill>
                          <a:latin typeface="Arial"/>
                          <a:ea typeface="Arial"/>
                          <a:cs typeface="Arial"/>
                        </a:rPr>
                        <a:t>—</a:t>
                      </a:r>
                    </a:p>
                  </a:txBody>
                  <a:tcPr marL="76200" marR="57150" marT="57150" marB="57150"/>
                </a:tc>
                <a:tc>
                  <a:txBody>
                    <a:bodyPr/>
                    <a:lstStyle/>
                    <a:p>
                      <a:r>
                        <a:rPr sz="975">
                          <a:solidFill>
                            <a:srgbClr val="17334B"/>
                          </a:solidFill>
                          <a:latin typeface="Arial"/>
                          <a:ea typeface="Arial"/>
                          <a:cs typeface="Arial"/>
                        </a:rPr>
                        <a:t>Quarantined</a:t>
                      </a:r>
                    </a:p>
                  </a:txBody>
                  <a:tcPr marL="76200" marR="57150" marT="57150" marB="57150"/>
                </a:tc>
              </a:tr>
              <a:tr h="0">
                <a:tc>
                  <a:txBody>
                    <a:bodyPr/>
                    <a:lstStyle/>
                    <a:p>
                      <a:r>
                        <a:rPr sz="975">
                          <a:solidFill>
                            <a:srgbClr val="17334B"/>
                          </a:solidFill>
                          <a:latin typeface="Arial"/>
                          <a:ea typeface="Arial"/>
                          <a:cs typeface="Arial"/>
                        </a:rPr>
                        <a:t>Evidence 02</a:t>
                      </a:r>
                    </a:p>
                  </a:txBody>
                  <a:tcPr marL="76200" marR="57150" marT="57150" marB="57150"/>
                </a:tc>
                <a:tc>
                  <a:txBody>
                    <a:bodyPr/>
                    <a:lstStyle/>
                    <a:p>
                      <a:r>
                        <a:rPr sz="975">
                          <a:solidFill>
                            <a:srgbClr val="17334B"/>
                          </a:solidFill>
                          <a:latin typeface="Arial"/>
                          <a:ea typeface="Arial"/>
                          <a:cs typeface="Arial"/>
                        </a:rPr>
                        <a:t>DOCX</a:t>
                      </a:r>
                    </a:p>
                  </a:txBody>
                  <a:tcPr marL="76200" marR="57150" marT="57150" marB="57150"/>
                </a:tc>
                <a:tc>
                  <a:txBody>
                    <a:bodyPr/>
                    <a:lstStyle/>
                    <a:p>
                      <a:r>
                        <a:rPr sz="975">
                          <a:solidFill>
                            <a:srgbClr val="17334B"/>
                          </a:solidFill>
                          <a:latin typeface="Arial"/>
                          <a:ea typeface="Arial"/>
                          <a:cs typeface="Arial"/>
                        </a:rPr>
                        <a:t>—</a:t>
                      </a:r>
                    </a:p>
                  </a:txBody>
                  <a:tcPr marL="76200" marR="57150" marT="57150" marB="57150"/>
                </a:tc>
                <a:tc>
                  <a:txBody>
                    <a:bodyPr/>
                    <a:lstStyle/>
                    <a:p>
                      <a:r>
                        <a:rPr sz="975">
                          <a:solidFill>
                            <a:srgbClr val="17334B"/>
                          </a:solidFill>
                          <a:latin typeface="Arial"/>
                          <a:ea typeface="Arial"/>
                          <a:cs typeface="Arial"/>
                        </a:rPr>
                        <a:t>Awaiting review</a:t>
                      </a:r>
                    </a:p>
                  </a:txBody>
                  <a:tcPr marL="76200" marR="57150" marT="57150" marB="57150"/>
                </a:tc>
              </a:tr>
              <a:tr h="0">
                <a:tc>
                  <a:txBody>
                    <a:bodyPr/>
                    <a:lstStyle/>
                    <a:p>
                      <a:r>
                        <a:rPr sz="975">
                          <a:solidFill>
                            <a:srgbClr val="17334B"/>
                          </a:solidFill>
                          <a:latin typeface="Arial"/>
                          <a:ea typeface="Arial"/>
                          <a:cs typeface="Arial"/>
                        </a:rPr>
                        <a:t>Evidence 03</a:t>
                      </a:r>
                    </a:p>
                  </a:txBody>
                  <a:tcPr marL="76200" marR="57150" marT="57150" marB="57150"/>
                </a:tc>
                <a:tc>
                  <a:txBody>
                    <a:bodyPr/>
                    <a:lstStyle/>
                    <a:p>
                      <a:r>
                        <a:rPr sz="975">
                          <a:solidFill>
                            <a:srgbClr val="17334B"/>
                          </a:solidFill>
                          <a:latin typeface="Arial"/>
                          <a:ea typeface="Arial"/>
                          <a:cs typeface="Arial"/>
                        </a:rPr>
                        <a:t>XLSX</a:t>
                      </a:r>
                    </a:p>
                  </a:txBody>
                  <a:tcPr marL="76200" marR="57150" marT="57150" marB="57150"/>
                </a:tc>
                <a:tc>
                  <a:txBody>
                    <a:bodyPr/>
                    <a:lstStyle/>
                    <a:p>
                      <a:r>
                        <a:rPr sz="975">
                          <a:solidFill>
                            <a:srgbClr val="17334B"/>
                          </a:solidFill>
                          <a:latin typeface="Arial"/>
                          <a:ea typeface="Arial"/>
                          <a:cs typeface="Arial"/>
                        </a:rPr>
                        <a:t>—</a:t>
                      </a:r>
                    </a:p>
                  </a:txBody>
                  <a:tcPr marL="76200" marR="57150" marT="57150" marB="57150"/>
                </a:tc>
                <a:tc>
                  <a:txBody>
                    <a:bodyPr/>
                    <a:lstStyle/>
                    <a:p>
                      <a:r>
                        <a:rPr sz="975">
                          <a:solidFill>
                            <a:srgbClr val="17334B"/>
                          </a:solidFill>
                          <a:latin typeface="Arial"/>
                          <a:ea typeface="Arial"/>
                          <a:cs typeface="Arial"/>
                        </a:rPr>
                        <a:t>Approved locally</a:t>
                      </a:r>
                    </a:p>
                  </a:txBody>
                  <a:tcPr marL="76200" marR="57150" marT="57150" marB="57150"/>
                </a:tc>
              </a:tr>
            </a:tbl>
          </a:graphicData>
        </a:graphic>
      </p:graphicFrame>
      <p:sp>
        <p:nvSpPr>
          <p:cNvPr id="46" name="">
            <a:extLst xmlns:a="http://schemas.openxmlformats.org/drawingml/2006/main">
              <a:ext uri="{FF2B5EF4-FFF2-40B4-BE49-F238E27FC236}">
                <a16:creationId xmlns:a16="http://schemas.microsoft.com/office/drawing/2014/main" id="{98A667AD-D046-41DF-9C80-7256FC116EF4}"/>
              </a:ext>
            </a:extLst>
          </p:cNvPr>
          <p:cNvSpPr>
            <a:spLocks xmlns:a="http://schemas.openxmlformats.org/drawingml/2006/main" noGrp="1"/>
          </p:cNvSpPr>
          <p:nvPr/>
        </p:nvSpPr>
        <p:spPr>
          <a:xfrm xmlns:a="http://schemas.openxmlformats.org/drawingml/2006/main">
            <a:off x="5181600" y="5191125"/>
            <a:ext cx="6096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246"/>
          </a:bodyPr>
          <a:lstStyle xmlns:a="http://schemas.openxmlformats.org/drawingml/2006/main"/>
          <a:p xmlns:a="http://schemas.openxmlformats.org/drawingml/2006/main">
            <a:pPr algn="l">
              <a:defRPr sz="1050" b="0">
                <a:solidFill>
                  <a:srgbClr val="17334B"/>
                </a:solidFill>
                <a:latin typeface="Arial"/>
                <a:ea typeface="Arial"/>
                <a:cs typeface="Arial"/>
              </a:defRPr>
            </a:pPr>
            <a:r>
              <a:rPr sz="1050" b="0">
                <a:solidFill>
                  <a:srgbClr val="17334B"/>
                </a:solidFill>
                <a:latin typeface="Arial"/>
                <a:ea typeface="Arial"/>
                <a:cs typeface="Arial"/>
              </a:rPr>
              <a:t>Review action opens the tagged output and source traceability. Approval unlocks a local redacted-text download for that file.</a:t>
            </a:r>
          </a:p>
        </p:txBody>
      </p:sp>
      <p:sp>
        <p:nvSpPr>
          <p:cNvPr id="47" name="">
            <a:extLst xmlns:a="http://schemas.openxmlformats.org/drawingml/2006/main">
              <a:ext uri="{FF2B5EF4-FFF2-40B4-BE49-F238E27FC236}">
                <a16:creationId xmlns:a16="http://schemas.microsoft.com/office/drawing/2014/main" id="{3844014A-3F40-49D1-9474-D143749219F3}"/>
              </a:ext>
            </a:extLst>
          </p:cNvPr>
          <p:cNvSpPr>
            <a:spLocks xmlns:a="http://schemas.openxmlformats.org/drawingml/2006/main" noGrp="1"/>
          </p:cNvSpPr>
          <p:nvPr/>
        </p:nvSpPr>
        <p:spPr>
          <a:xfrm xmlns:a="http://schemas.openxmlformats.org/drawingml/2006/main">
            <a:off x="685800" y="5810250"/>
            <a:ext cx="10820400" cy="409575"/>
          </a:xfrm>
          <a:prstGeom xmlns:a="http://schemas.openxmlformats.org/drawingml/2006/main" prst="roundRect">
            <a:avLst>
              <a:gd name="adj" fmla="val 27907"/>
            </a:avLst>
          </a:prstGeom>
          <a:solidFill xmlns:a="http://schemas.openxmlformats.org/drawingml/2006/main">
            <a:srgbClr val="F9F1DF"/>
          </a:solidFill>
          <a:ln xmlns:a="http://schemas.openxmlformats.org/drawingml/2006/main" w="11430">
            <a:solidFill>
              <a:srgbClr val="F9F1DF"/>
            </a:solidFill>
            <a:prstDash val="solid"/>
          </a:ln>
        </p:spPr>
      </p:sp>
      <p:sp>
        <p:nvSpPr>
          <p:cNvPr id="48" name="">
            <a:extLst xmlns:a="http://schemas.openxmlformats.org/drawingml/2006/main">
              <a:ext uri="{FF2B5EF4-FFF2-40B4-BE49-F238E27FC236}">
                <a16:creationId xmlns:a16="http://schemas.microsoft.com/office/drawing/2014/main" id="{341270E5-432E-4C86-BCF1-CA23212D1A72}"/>
              </a:ext>
            </a:extLst>
          </p:cNvPr>
          <p:cNvSpPr>
            <a:spLocks xmlns:a="http://schemas.openxmlformats.org/drawingml/2006/main" noGrp="1"/>
          </p:cNvSpPr>
          <p:nvPr/>
        </p:nvSpPr>
        <p:spPr>
          <a:xfrm xmlns:a="http://schemas.openxmlformats.org/drawingml/2006/main">
            <a:off x="838200" y="5857875"/>
            <a:ext cx="10458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102C49"/>
                </a:solidFill>
                <a:latin typeface="Arial"/>
                <a:ea typeface="Arial"/>
                <a:cs typeface="Arial"/>
              </a:defRPr>
            </a:pPr>
            <a:r>
              <a:rPr sz="1125" b="1">
                <a:solidFill>
                  <a:srgbClr val="102C49"/>
                </a:solidFill>
                <a:latin typeface="Arial"/>
                <a:ea typeface="Arial"/>
                <a:cs typeface="Arial"/>
              </a:rPr>
              <a:t>Session-only dashboard: raw PII values stay out of summary charts; decisions are not saved as an audit log.</a:t>
            </a:r>
          </a:p>
        </p:txBody>
      </p:sp>
      <p:sp>
        <p:nvSpPr>
          <p:cNvPr id="49" name="">
            <a:extLst xmlns:a="http://schemas.openxmlformats.org/drawingml/2006/main">
              <a:ext uri="{FF2B5EF4-FFF2-40B4-BE49-F238E27FC236}">
                <a16:creationId xmlns:a16="http://schemas.microsoft.com/office/drawing/2014/main" id="{71DC2738-5803-4159-91EF-D3D965FBD00B}"/>
              </a:ext>
            </a:extLst>
          </p:cNvPr>
          <p:cNvSpPr>
            <a:spLocks xmlns:a="http://schemas.openxmlformats.org/drawingml/2006/main" noGrp="1"/>
          </p:cNvSpPr>
          <p:nvPr/>
        </p:nvSpPr>
        <p:spPr>
          <a:xfrm xmlns:a="http://schemas.openxmlformats.org/drawingml/2006/main">
            <a:off x="685800" y="655320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48485"/>
          </a:bodyPr>
          <a:lstStyle xmlns:a="http://schemas.openxmlformats.org/drawingml/2006/main"/>
          <a:p xmlns:a="http://schemas.openxmlformats.org/drawingml/2006/main">
            <a:pPr algn="l">
              <a:defRPr sz="825" b="0">
                <a:solidFill>
                  <a:srgbClr val="536D81"/>
                </a:solidFill>
                <a:latin typeface="Arial"/>
                <a:ea typeface="Arial"/>
                <a:cs typeface="Arial"/>
              </a:defRPr>
            </a:pPr>
            <a:r>
              <a:rPr sz="825" b="0">
                <a:solidFill>
                  <a:srgbClr val="536D81"/>
                </a:solidFill>
                <a:latin typeface="Arial"/>
                <a:ea typeface="Arial"/>
                <a:cs typeface="Arial"/>
              </a:rPr>
              <a:t>OPTIV  ·  VIT 2026  |  CASE STUDY 2  |  18</a:t>
            </a:r>
          </a:p>
        </p:txBody>
      </p:sp>
    </p:spTree>
    <p:extLst>
      <p:ext uri="{BB962C8B-B14F-4D97-AF65-F5344CB8AC3E}">
        <p14:creationId xmlns:p14="http://schemas.microsoft.com/office/powerpoint/2010/main" val="5153998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2026-10-07T14:10:39.4740000Z</dcterms:created>
  <dcterms:modified xsi:type="dcterms:W3CDTF">2026-10-07T14:10:39.4740000Z</dcterms:modified>
</coreProperties>
</file>